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2c327b959224d03" /><Relationship Type="http://schemas.openxmlformats.org/officeDocument/2006/relationships/extended-properties" Target="/docProps/app.xml" Id="R9062a4d1092241ba" /><Relationship Type="http://schemas.openxmlformats.org/officeDocument/2006/relationships/officeDocument" Target="/ppt/presentation.xml" Id="Rabadb6404f0b4b60" /></Relationships>
</file>

<file path=ppt/presentation.xml><?xml version="1.0" encoding="utf-8"?>
<p:presentation xmlns:p="http://schemas.openxmlformats.org/presentationml/2006/main">
  <p:sldMasterIdLst>
    <p:sldMasterId xmlns:r="http://schemas.openxmlformats.org/officeDocument/2006/relationships" id="2147483648" r:id="R2845be7112734b88"/>
  </p:sldMasterIdLst>
  <p:notesMasterIdLst>
    <p:notesMasterId xmlns:r="http://schemas.openxmlformats.org/officeDocument/2006/relationships" r:id="R66208786edb44240"/>
  </p:notesMasterIdLst>
  <p:sldIdLst>
    <p:sldId xmlns:r="http://schemas.openxmlformats.org/officeDocument/2006/relationships" id="256" r:id="Ra9a82fb5ee3a4be8"/>
    <p:sldId xmlns:r="http://schemas.openxmlformats.org/officeDocument/2006/relationships" id="257" r:id="Rbd26ed5ba6034a09"/>
    <p:sldId xmlns:r="http://schemas.openxmlformats.org/officeDocument/2006/relationships" id="258" r:id="R069d306177c546ee"/>
    <p:sldId xmlns:r="http://schemas.openxmlformats.org/officeDocument/2006/relationships" id="259" r:id="Ra59905d69a3e4135"/>
    <p:sldId xmlns:r="http://schemas.openxmlformats.org/officeDocument/2006/relationships" id="260" r:id="R3063e5cf40634813"/>
    <p:sldId xmlns:r="http://schemas.openxmlformats.org/officeDocument/2006/relationships" id="261" r:id="R33d206d9207845ba"/>
    <p:sldId xmlns:r="http://schemas.openxmlformats.org/officeDocument/2006/relationships" id="262" r:id="Rf53566d3c4234b2d"/>
    <p:sldId xmlns:r="http://schemas.openxmlformats.org/officeDocument/2006/relationships" id="263" r:id="R4760c7920fb948be"/>
    <p:sldId xmlns:r="http://schemas.openxmlformats.org/officeDocument/2006/relationships" id="264" r:id="R3c6bc54b78fd4a04"/>
    <p:sldId xmlns:r="http://schemas.openxmlformats.org/officeDocument/2006/relationships" id="265" r:id="Ra5bbc5b1692d4e53"/>
    <p:sldId xmlns:r="http://schemas.openxmlformats.org/officeDocument/2006/relationships" id="266" r:id="Ra5332c32d0394747"/>
    <p:sldId xmlns:r="http://schemas.openxmlformats.org/officeDocument/2006/relationships" id="267" r:id="Rb1020b0242184c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f5464d0d034e7d" /><Relationship Type="http://schemas.openxmlformats.org/officeDocument/2006/relationships/slideMaster" Target="/ppt/slideMasters/slideMaster1.xml" Id="R2845be7112734b88" /><Relationship Type="http://schemas.openxmlformats.org/officeDocument/2006/relationships/notesMaster" Target="/ppt/notesMasters/notesMaster1.xml" Id="R66208786edb44240" /><Relationship Type="http://schemas.openxmlformats.org/officeDocument/2006/relationships/presProps" Target="/ppt/presProps.xml" Id="R819691d2cc9540ce" /><Relationship Type="http://schemas.openxmlformats.org/officeDocument/2006/relationships/tableStyles" Target="/ppt/tableStyles.xml" Id="R20b0b29ec0e24f8c" /><Relationship Type="http://schemas.openxmlformats.org/officeDocument/2006/relationships/slide" Target="/ppt/slides/slide1.xml" Id="Ra9a82fb5ee3a4be8" /><Relationship Type="http://schemas.openxmlformats.org/officeDocument/2006/relationships/slide" Target="/ppt/slides/slide2.xml" Id="Rbd26ed5ba6034a09" /><Relationship Type="http://schemas.openxmlformats.org/officeDocument/2006/relationships/slide" Target="/ppt/slides/slide3.xml" Id="R069d306177c546ee" /><Relationship Type="http://schemas.openxmlformats.org/officeDocument/2006/relationships/slide" Target="/ppt/slides/slide4.xml" Id="Ra59905d69a3e4135" /><Relationship Type="http://schemas.openxmlformats.org/officeDocument/2006/relationships/slide" Target="/ppt/slides/slide5.xml" Id="R3063e5cf40634813" /><Relationship Type="http://schemas.openxmlformats.org/officeDocument/2006/relationships/slide" Target="/ppt/slides/slide6.xml" Id="R33d206d9207845ba" /><Relationship Type="http://schemas.openxmlformats.org/officeDocument/2006/relationships/slide" Target="/ppt/slides/slide7.xml" Id="Rf53566d3c4234b2d" /><Relationship Type="http://schemas.openxmlformats.org/officeDocument/2006/relationships/slide" Target="/ppt/slides/slide8.xml" Id="R4760c7920fb948be" /><Relationship Type="http://schemas.openxmlformats.org/officeDocument/2006/relationships/slide" Target="/ppt/slides/slide9.xml" Id="R3c6bc54b78fd4a04" /><Relationship Type="http://schemas.openxmlformats.org/officeDocument/2006/relationships/slide" Target="/ppt/slides/slide10.xml" Id="Ra5bbc5b1692d4e53" /><Relationship Type="http://schemas.openxmlformats.org/officeDocument/2006/relationships/slide" Target="/ppt/slides/slide11.xml" Id="Ra5332c32d0394747" /><Relationship Type="http://schemas.openxmlformats.org/officeDocument/2006/relationships/slide" Target="/ppt/slides/slide12.xml" Id="Rb1020b0242184c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b12c0ec05d46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5ca6b9087442c1" /><Relationship Type="http://schemas.openxmlformats.org/officeDocument/2006/relationships/notesMaster" Target="/ppt/notesMasters/notesMaster1.xml" Id="Rab0199a19ee24eb9"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276bc3dc6543cc" /><Relationship Type="http://schemas.openxmlformats.org/officeDocument/2006/relationships/notesMaster" Target="/ppt/notesMasters/notesMaster1.xml" Id="R8325a377d413419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c6c0b1321244d1e" /><Relationship Type="http://schemas.openxmlformats.org/officeDocument/2006/relationships/notesMaster" Target="/ppt/notesMasters/notesMaster1.xml" Id="R51f6aa1e5bd9439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974f99cfee4a83" /><Relationship Type="http://schemas.openxmlformats.org/officeDocument/2006/relationships/notesMaster" Target="/ppt/notesMasters/notesMaster1.xml" Id="R967e407466c049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6025c9594c4a71" /><Relationship Type="http://schemas.openxmlformats.org/officeDocument/2006/relationships/notesMaster" Target="/ppt/notesMasters/notesMaster1.xml" Id="R9b7e23f1740e41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26f8044844264d49" /><Relationship Type="http://schemas.openxmlformats.org/officeDocument/2006/relationships/notesMaster" Target="/ppt/notesMasters/notesMaster1.xml" Id="Re862aa32f4fd409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b2f543cb290477e" /><Relationship Type="http://schemas.openxmlformats.org/officeDocument/2006/relationships/notesMaster" Target="/ppt/notesMasters/notesMaster1.xml" Id="R1e68e1e40cd74b1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0a94fbc7f5e49d6" /><Relationship Type="http://schemas.openxmlformats.org/officeDocument/2006/relationships/notesMaster" Target="/ppt/notesMasters/notesMaster1.xml" Id="R28a0b8bb9fa54112" /></Relationships>
</file>

<file path=ppt/notesSlides/_rels/notesSlide9.xml.rels>&#65279;<?xml version="1.0" encoding="utf-8"?><Relationships xmlns="http://schemas.openxmlformats.org/package/2006/relationships"><Relationship Type="http://schemas.openxmlformats.org/officeDocument/2006/relationships/slide" Target="/ppt/slides/slide9.xml" Id="Rf7146fd79b9d462e" /><Relationship Type="http://schemas.openxmlformats.org/officeDocument/2006/relationships/notesMaster" Target="/ppt/notesMasters/notesMaster1.xml" Id="R53c759eca61548b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1d0b58d53344468" /><Relationship Type="http://schemas.openxmlformats.org/officeDocument/2006/relationships/notesMaster" Target="/ppt/notesMasters/notesMaster1.xml" Id="R688e33cbf75f4f7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4b986040da42f1" /><Relationship Type="http://schemas.openxmlformats.org/officeDocument/2006/relationships/notesMaster" Target="/ppt/notesMasters/notesMaster1.xml" Id="R8ab01080da47429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909d3b0f5840b1" /><Relationship Type="http://schemas.openxmlformats.org/officeDocument/2006/relationships/notesMaster" Target="/ppt/notesMasters/notesMaster1.xml" Id="R49a0f82c649d46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scope clearly: this deck reports a Python simulation study using a custom clipped PPO actor-critic, not a physical testbed.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faculty outline describes a wider transport, queue-management, and routing framework. This prototype implements custom PPO at single-flow simulator scale. Related motivation: DNCCQ-PPO, DOI 10.1016/j.jnca.2025.104371; AQM survey, DOI 10.1016/j.comnet.2025.111174.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simulator provides packet IDs, a finite FIFO queue, link service capacity, independent random losses, and retries. It is a teaching model, not a complete TCP or QUIC implementation.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custom clipped PPO actor-critic implemented with the Python standard library, not Stable-Baselines3. It uses a 12-unit tanh hidden layer, a categorical actor with three paired window/pacing multipliers, GAE, and minibatch updates. The hand-designed adaptive_controller.py remains as a separate non-learning baseline. See ppo_controller.py and study_report.md for the objective and training 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uses seeds 10000 through 10119 and 2000 packets per episode. Held-out evaluation uses seeds 200 through 209 and 5000 packets per run. Throughput is unique useful payload bits divided by simulated elapsed time; PDR is unique packets delivered divided by 5000; delay is the mean for unique delivered packets; retransmissions count extra transmission attempts.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summary_results.csv; ten held-out seeds per scenario. PPO goodput changes versus the rule heuristic are +5.6% clean, +3.3% wireless loss, +33.2% high delay, and +3.6% congested bottleneck. Results are specific to this simplified simulator. Related work: DNCCQ-PPO, https://doi.org/10.1016/j.jnca.2025.104371; QUIC Wave, https://doi.org/10.1016/j.comnet.2026.112185.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summary_results.csv. Relative to the rule heuristic, PPO mean delay changed +12.5% clean, +12.2% wireless loss, +5.6% high delay, and +5.1% congested bottleneck. This shows a throughput/latency trade-off. AQM and adaptive queue-control context: https://doi.org/10.1016/j.comnet.2026.112272.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summary_results.csv. PDR equals one in every run because retries continue until all unique packet IDs reach the receiver. Relative to the rule heuristic, PPO retry counts are unchanged on clean and wireless, 330.1% higher at high delay, and 19.4% higher in the congested bottleneck case.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custom PPO controller offers higher goodput in every configured scenario, but increases delay in all of them and retries substantially more under high delay. Report both sides. This custom standard-library implementation does not use Stable-Baselines3.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simulator assumptions and limitations are described in detail in study_report.md. No physical testbed was available for this deliverable.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Faculty-provided reference list. Links: https://doi.org/10.1016/j.jnca.2025.104371; https://doi.org/10.1016/j.comnet.2025.111975; https://doi.org/10.1016/j.comnet.2026.112272; https://doi.org/10.1016/j.comnet.2025.111174; https://doi.org/10.1016/j.comcom.2026.108523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Faculty-provided reference list. Links: https://doi.org/10.1016/j.comnet.2026.112185; https://doi.org/10.1016/j.comnet.2025.111371; https://doi.org/10.1016/j.jnca.2025.104272; https://doi.org/10.1016/j.knosys.2025.114243; https://doi.org/10.1016/j.comnet.2025.111645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337492ccbe148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5a40d6595e44f9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6fc42621b464d3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8163668cf0040f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0f84caf1be947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a7edb7614be455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B559682-0908-4485-B903-05C115578BF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55D731A-3979-4A85-ADD1-E17A89726D0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EDFE5E3-35B8-45E9-8C0D-4818AF7DC67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37BCA4D-B620-47D7-AF48-CD784E7A05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ABB3394-96B3-44C7-BD09-A231589321B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2E51C81-631D-410B-8571-69E34889339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235B6BA-70FB-4EDB-8E05-54A921EDAA9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8286B5D-AFBC-4257-8D79-FA3E09709293}"/>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1EA491-9433-4CDA-B2C5-07D91588695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0ABA9C-8607-4C31-8B9E-4EA141794A2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1e9ee97c3524690" /><Relationship Type="http://schemas.openxmlformats.org/officeDocument/2006/relationships/slideLayout" Target="/ppt/slideLayouts/slideLayout1.xml" Id="R3cb38fe2aabe49e6" /><Relationship Type="http://schemas.openxmlformats.org/officeDocument/2006/relationships/slideLayout" Target="/ppt/slideLayouts/slideLayout2.xml" Id="R78aba77601e345af" /><Relationship Type="http://schemas.openxmlformats.org/officeDocument/2006/relationships/slideLayout" Target="/ppt/slideLayouts/slideLayout3.xml" Id="Ra3a718b1cf334cb0" /><Relationship Type="http://schemas.openxmlformats.org/officeDocument/2006/relationships/slideLayout" Target="/ppt/slideLayouts/slideLayout4.xml" Id="R433423c82017472b" /><Relationship Type="http://schemas.openxmlformats.org/officeDocument/2006/relationships/slideLayout" Target="/ppt/slideLayouts/slideLayout5.xml" Id="R6ae610d2217e44b5" /><Relationship Type="http://schemas.openxmlformats.org/officeDocument/2006/relationships/slideLayout" Target="/ppt/slideLayouts/slideLayout6.xml" Id="R5b459ecf776e4f3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cb38fe2aabe49e6"/>
    <p:sldLayoutId xmlns:r="http://schemas.openxmlformats.org/officeDocument/2006/relationships" id="2147483650" r:id="R78aba77601e345af"/>
    <p:sldLayoutId xmlns:r="http://schemas.openxmlformats.org/officeDocument/2006/relationships" id="2147483651" r:id="Ra3a718b1cf334cb0"/>
    <p:sldLayoutId xmlns:r="http://schemas.openxmlformats.org/officeDocument/2006/relationships" id="2147483652" r:id="R433423c82017472b"/>
    <p:sldLayoutId xmlns:r="http://schemas.openxmlformats.org/officeDocument/2006/relationships" id="2147483653" r:id="R6ae610d2217e44b5"/>
    <p:sldLayoutId xmlns:r="http://schemas.openxmlformats.org/officeDocument/2006/relationships" id="2147483654" r:id="R5b459ecf776e4f3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7e6b39ca814456f" /><Relationship Type="http://schemas.openxmlformats.org/officeDocument/2006/relationships/notesSlide" Target="/ppt/notesSlides/notesSlide1.xml" Id="R34118f384efd4e7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3cf8ae720164158" /><Relationship Type="http://schemas.openxmlformats.org/officeDocument/2006/relationships/notesSlide" Target="/ppt/notesSlides/notesSlide2.xml" Id="R64cb98ed5aec4d0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6c63a32415141fd" /><Relationship Type="http://schemas.openxmlformats.org/officeDocument/2006/relationships/notesSlide" Target="/ppt/notesSlides/notesSlide3.xml" Id="Rd56494dd740e487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d9f510ccb854efd" /><Relationship Type="http://schemas.openxmlformats.org/officeDocument/2006/relationships/notesSlide" Target="/ppt/notesSlides/notesSlide4.xml" Id="R0e145a145ee0418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4f04f2779114ee2" /><Relationship Type="http://schemas.openxmlformats.org/officeDocument/2006/relationships/notesSlide" Target="/ppt/notesSlides/notesSlide5.xml" Id="R2510c63c3c5046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69b681dea6c4f60" /><Relationship Type="http://schemas.openxmlformats.org/officeDocument/2006/relationships/chart" Target="/ppt/slides/charts/chart1.xml" Id="Rbc3877830f8e4fbd" /><Relationship Type="http://schemas.openxmlformats.org/officeDocument/2006/relationships/notesSlide" Target="/ppt/notesSlides/notesSlide6.xml" Id="Re888a6acfb694c8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40e8ed7b19f46a7" /><Relationship Type="http://schemas.openxmlformats.org/officeDocument/2006/relationships/chart" Target="/ppt/slides/charts/chart2.xml" Id="Rc3946419d4fe4aa2" /><Relationship Type="http://schemas.openxmlformats.org/officeDocument/2006/relationships/notesSlide" Target="/ppt/notesSlides/notesSlide7.xml" Id="R87de4d3a855544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d0a6a5232544882" /><Relationship Type="http://schemas.openxmlformats.org/officeDocument/2006/relationships/chart" Target="/ppt/slides/charts/chart3.xml" Id="Ra3c61fa427e44ceb" /><Relationship Type="http://schemas.openxmlformats.org/officeDocument/2006/relationships/chart" Target="/ppt/slides/charts/chart4.xml" Id="R337f85e0dc974f61" /><Relationship Type="http://schemas.openxmlformats.org/officeDocument/2006/relationships/notesSlide" Target="/ppt/notesSlides/notesSlide8.xml" Id="R10da73a0430340f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323ac2bc6c84f54" /><Relationship Type="http://schemas.openxmlformats.org/officeDocument/2006/relationships/notesSlide" Target="/ppt/notesSlides/notesSlide9.xml" Id="R525ff3a4100842a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5ac7950505542be" /><Relationship Type="http://schemas.openxmlformats.org/officeDocument/2006/relationships/notesSlide" Target="/ppt/notesSlides/notesSlide10.xml" Id="R5111ef25ba084ad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dd36e4d334431f" /><Relationship Type="http://schemas.openxmlformats.org/officeDocument/2006/relationships/notesSlide" Target="/ppt/notesSlides/notesSlide11.xml" Id="R682b47ca34bc496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4f1643e4a3942a9" /><Relationship Type="http://schemas.openxmlformats.org/officeDocument/2006/relationships/notesSlide" Target="/ppt/notesSlides/notesSlide12.xml" Id="Red7247d95b804b5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t>Goodput (Mbps)</a:t>
            </a:r>
          </a:p>
        </c:rich>
      </c:tx>
    </c:title>
    <c:plotArea>
      <c:barChart>
        <c:barDir val="col"/>
        <c:grouping val="clustered"/>
        <c:varyColors val="0"/>
        <c:ser>
          <c:idx val="0"/>
          <c:order val="0"/>
          <c:tx>
            <c:v>Reno-style AIMD</c:v>
          </c:tx>
          <c:spPr>
            <a:solidFill xmlns:a="http://schemas.openxmlformats.org/drawingml/2006/main">
              <a:srgbClr val="8997A7"/>
            </a:solidFill>
          </c:spPr>
          <c:invertIfNegative val="0"/>
          <c:cat>
            <c:strRef>
              <c:f>'Chart Data'!$A$2:$A$5</c:f>
              <c:strCache>
                <c:ptCount val="4"/>
                <c:pt idx="0">
                  <c:v>Clean link</c:v>
                </c:pt>
                <c:pt idx="1">
                  <c:v>Wireless loss</c:v>
                </c:pt>
                <c:pt idx="2">
                  <c:v>High delay</c:v>
                </c:pt>
                <c:pt idx="3">
                  <c:v>Congested bottleneck</c:v>
                </c:pt>
              </c:strCache>
            </c:strRef>
          </c:cat>
          <c:val>
            <c:numRef>
              <c:f>'Chart Data'!$B$2:$B$5</c:f>
              <c:numCache>
                <c:formatCode>General</c:formatCode>
                <c:ptCount val="4"/>
                <c:pt idx="0">
                  <c:v>9.561753</c:v>
                </c:pt>
                <c:pt idx="1">
                  <c:v>1.893175</c:v>
                </c:pt>
                <c:pt idx="2">
                  <c:v>0.816827</c:v>
                </c:pt>
                <c:pt idx="3">
                  <c:v>1.222638</c:v>
                </c:pt>
              </c:numCache>
            </c:numRef>
          </c:val>
        </c:ser>
        <c:ser>
          <c:idx val="1"/>
          <c:order val="1"/>
          <c:tx>
            <c:v>Rule heuristic</c:v>
          </c:tx>
          <c:spPr>
            <a:solidFill xmlns:a="http://schemas.openxmlformats.org/drawingml/2006/main">
              <a:srgbClr val="0F9D8A"/>
            </a:solidFill>
          </c:spPr>
          <c:invertIfNegative val="0"/>
          <c:cat>
            <c:strRef>
              <c:f>'Chart Data'!$C$2:$C$5</c:f>
              <c:strCache>
                <c:ptCount val="4"/>
                <c:pt idx="0">
                  <c:v>Clean link</c:v>
                </c:pt>
                <c:pt idx="1">
                  <c:v>Wireless loss</c:v>
                </c:pt>
                <c:pt idx="2">
                  <c:v>High delay</c:v>
                </c:pt>
                <c:pt idx="3">
                  <c:v>Congested bottleneck</c:v>
                </c:pt>
              </c:strCache>
            </c:strRef>
          </c:cat>
          <c:val>
            <c:numRef>
              <c:f>'Chart Data'!$D$2:$D$5</c:f>
              <c:numCache>
                <c:formatCode>General</c:formatCode>
                <c:ptCount val="4"/>
                <c:pt idx="0">
                  <c:v>9.022556</c:v>
                </c:pt>
                <c:pt idx="1">
                  <c:v>8.430137</c:v>
                </c:pt>
                <c:pt idx="2">
                  <c:v>5.411917</c:v>
                </c:pt>
                <c:pt idx="3">
                  <c:v>4.366856</c:v>
                </c:pt>
              </c:numCache>
            </c:numRef>
          </c:val>
        </c:ser>
        <c:ser>
          <c:idx val="2"/>
          <c:order val="2"/>
          <c:tx>
            <c:v>PPO</c:v>
          </c:tx>
          <c:spPr>
            <a:solidFill xmlns:a="http://schemas.openxmlformats.org/drawingml/2006/main">
              <a:srgbClr val="D98132"/>
            </a:solidFill>
          </c:spPr>
          <c:invertIfNegative val="0"/>
          <c:cat>
            <c:strRef>
              <c:f>'Chart Data'!$E$2:$E$5</c:f>
              <c:strCache>
                <c:ptCount val="4"/>
                <c:pt idx="0">
                  <c:v>Clean link</c:v>
                </c:pt>
                <c:pt idx="1">
                  <c:v>Wireless loss</c:v>
                </c:pt>
                <c:pt idx="2">
                  <c:v>High delay</c:v>
                </c:pt>
                <c:pt idx="3">
                  <c:v>Congested bottleneck</c:v>
                </c:pt>
              </c:strCache>
            </c:strRef>
          </c:cat>
          <c:val>
            <c:numRef>
              <c:f>'Chart Data'!$F$2:$F$5</c:f>
              <c:numCache>
                <c:formatCode>General</c:formatCode>
                <c:ptCount val="4"/>
                <c:pt idx="0">
                  <c:v>9.52381</c:v>
                </c:pt>
                <c:pt idx="1">
                  <c:v>8.705299</c:v>
                </c:pt>
                <c:pt idx="2">
                  <c:v>7.207598</c:v>
                </c:pt>
                <c:pt idx="3">
                  <c:v>4.523208</c:v>
                </c:pt>
              </c:numCache>
            </c:numRef>
          </c:val>
        </c:ser>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prstDash val="solid"/>
          </a:ln>
        </c:spPr>
        <c:txPr>
          <a:bodyPr xmlns:a="http://schemas.openxmlformats.org/drawingml/2006/main" anchorCtr="1"/>
          <a:lstStyle xmlns:a="http://schemas.openxmlformats.org/drawingml/2006/main"/>
          <a:p xmlns:a="http://schemas.openxmlformats.org/drawingml/2006/main">
            <a:pPr>
              <a:defRPr sz="1350">
                <a:solidFill>
                  <a:srgbClr val="203449"/>
                </a:solidFill>
              </a:defRPr>
            </a:pPr>
          </a:p>
        </c:txPr>
        <c:crossAx val="48672768"/>
      </c:catAx>
      <c:valAx>
        <c:axId val="48672768"/>
        <c:scaling>
          <c:orientation val="minMax"/>
          <c:max val="11"/>
          <c:min val="0"/>
        </c:scaling>
        <c:delete val="0"/>
        <c:axPos val="l"/>
        <c:majorGridlines>
          <c:spPr>
            <a:ln xmlns:a="http://schemas.openxmlformats.org/drawingml/2006/main" w="9525">
              <a:solidFill>
                <a:srgbClr val="E6EB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C6B7A"/>
                </a:solidFill>
              </a:defRPr>
            </a:pPr>
          </a:p>
        </c:txPr>
        <c:crossAx val="48650112"/>
        <c:crossBetween val="between"/>
      </c:valAx>
      <c:spPr>
        <a:solidFill xmlns:a="http://schemas.openxmlformats.org/drawingml/2006/main">
          <a:srgbClr val="FFFFFF"/>
        </a:solidFill>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9525">
      <a:solidFill>
        <a:srgbClr val="D9E1E8"/>
      </a:solid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t>Mean delay (ms)</a:t>
            </a:r>
          </a:p>
        </c:rich>
      </c:tx>
    </c:title>
    <c:plotArea>
      <c:barChart>
        <c:barDir val="col"/>
        <c:grouping val="clustered"/>
        <c:varyColors val="0"/>
        <c:ser>
          <c:idx val="0"/>
          <c:order val="0"/>
          <c:tx>
            <c:v>Reno-style AIMD</c:v>
          </c:tx>
          <c:spPr>
            <a:solidFill xmlns:a="http://schemas.openxmlformats.org/drawingml/2006/main">
              <a:srgbClr val="8997A7"/>
            </a:solidFill>
          </c:spPr>
          <c:invertIfNegative val="0"/>
          <c:cat>
            <c:strRef>
              <c:f>'Chart Data'!$A$2:$A$5</c:f>
              <c:strCache>
                <c:ptCount val="4"/>
                <c:pt idx="0">
                  <c:v>Clean link</c:v>
                </c:pt>
                <c:pt idx="1">
                  <c:v>Wireless loss</c:v>
                </c:pt>
                <c:pt idx="2">
                  <c:v>High delay</c:v>
                </c:pt>
                <c:pt idx="3">
                  <c:v>Congested bottleneck</c:v>
                </c:pt>
              </c:strCache>
            </c:strRef>
          </c:cat>
          <c:val>
            <c:numRef>
              <c:f>'Chart Data'!$B$2:$B$5</c:f>
              <c:numCache>
                <c:formatCode>General</c:formatCode>
                <c:ptCount val="4"/>
                <c:pt idx="0">
                  <c:v>90.809</c:v>
                </c:pt>
                <c:pt idx="1">
                  <c:v>22.09988</c:v>
                </c:pt>
                <c:pt idx="2">
                  <c:v>104.74296</c:v>
                </c:pt>
                <c:pt idx="3">
                  <c:v>45.58056</c:v>
                </c:pt>
              </c:numCache>
            </c:numRef>
          </c:val>
        </c:ser>
        <c:ser>
          <c:idx val="1"/>
          <c:order val="1"/>
          <c:tx>
            <c:v>Rule heuristic</c:v>
          </c:tx>
          <c:spPr>
            <a:solidFill xmlns:a="http://schemas.openxmlformats.org/drawingml/2006/main">
              <a:srgbClr val="0F9D8A"/>
            </a:solidFill>
          </c:spPr>
          <c:invertIfNegative val="0"/>
          <c:cat>
            <c:strRef>
              <c:f>'Chart Data'!$C$2:$C$5</c:f>
              <c:strCache>
                <c:ptCount val="4"/>
                <c:pt idx="0">
                  <c:v>Clean link</c:v>
                </c:pt>
                <c:pt idx="1">
                  <c:v>Wireless loss</c:v>
                </c:pt>
                <c:pt idx="2">
                  <c:v>High delay</c:v>
                </c:pt>
                <c:pt idx="3">
                  <c:v>Congested bottleneck</c:v>
                </c:pt>
              </c:strCache>
            </c:strRef>
          </c:cat>
          <c:val>
            <c:numRef>
              <c:f>'Chart Data'!$D$2:$D$5</c:f>
              <c:numCache>
                <c:formatCode>General</c:formatCode>
                <c:ptCount val="4"/>
                <c:pt idx="0">
                  <c:v>32.7434</c:v>
                </c:pt>
                <c:pt idx="1">
                  <c:v>31.31264</c:v>
                </c:pt>
                <c:pt idx="2">
                  <c:v>136.60562</c:v>
                </c:pt>
                <c:pt idx="3">
                  <c:v>60.68908</c:v>
                </c:pt>
              </c:numCache>
            </c:numRef>
          </c:val>
        </c:ser>
        <c:ser>
          <c:idx val="2"/>
          <c:order val="2"/>
          <c:tx>
            <c:v>PPO</c:v>
          </c:tx>
          <c:spPr>
            <a:solidFill xmlns:a="http://schemas.openxmlformats.org/drawingml/2006/main">
              <a:srgbClr val="D98132"/>
            </a:solidFill>
          </c:spPr>
          <c:invertIfNegative val="0"/>
          <c:cat>
            <c:strRef>
              <c:f>'Chart Data'!$E$2:$E$5</c:f>
              <c:strCache>
                <c:ptCount val="4"/>
                <c:pt idx="0">
                  <c:v>Clean link</c:v>
                </c:pt>
                <c:pt idx="1">
                  <c:v>Wireless loss</c:v>
                </c:pt>
                <c:pt idx="2">
                  <c:v>High delay</c:v>
                </c:pt>
                <c:pt idx="3">
                  <c:v>Congested bottleneck</c:v>
                </c:pt>
              </c:strCache>
            </c:strRef>
          </c:cat>
          <c:val>
            <c:numRef>
              <c:f>'Chart Data'!$F$2:$F$5</c:f>
              <c:numCache>
                <c:formatCode>General</c:formatCode>
                <c:ptCount val="4"/>
                <c:pt idx="0">
                  <c:v>36.8406</c:v>
                </c:pt>
                <c:pt idx="1">
                  <c:v>35.13054</c:v>
                </c:pt>
                <c:pt idx="2">
                  <c:v>144.23038</c:v>
                </c:pt>
                <c:pt idx="3">
                  <c:v>63.79636</c:v>
                </c:pt>
              </c:numCache>
            </c:numRef>
          </c:val>
        </c:ser>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prstDash val="solid"/>
          </a:ln>
        </c:spPr>
        <c:txPr>
          <a:bodyPr xmlns:a="http://schemas.openxmlformats.org/drawingml/2006/main" anchorCtr="1"/>
          <a:lstStyle xmlns:a="http://schemas.openxmlformats.org/drawingml/2006/main"/>
          <a:p xmlns:a="http://schemas.openxmlformats.org/drawingml/2006/main">
            <a:pPr>
              <a:defRPr sz="1350">
                <a:solidFill>
                  <a:srgbClr val="203449"/>
                </a:solidFill>
              </a:defRPr>
            </a:pPr>
          </a:p>
        </c:txPr>
        <c:crossAx val="48672768"/>
      </c:catAx>
      <c:valAx>
        <c:axId val="48672768"/>
        <c:scaling>
          <c:orientation val="minMax"/>
          <c:max val="160"/>
          <c:min val="0"/>
        </c:scaling>
        <c:delete val="0"/>
        <c:axPos val="l"/>
        <c:majorGridlines>
          <c:spPr>
            <a:ln xmlns:a="http://schemas.openxmlformats.org/drawingml/2006/main" w="9525">
              <a:solidFill>
                <a:srgbClr val="E6EB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C6B7A"/>
                </a:solidFill>
              </a:defRPr>
            </a:pPr>
          </a:p>
        </c:txPr>
        <c:crossAx val="48650112"/>
        <c:crossBetween val="between"/>
      </c:valAx>
      <c:spPr>
        <a:solidFill xmlns:a="http://schemas.openxmlformats.org/drawingml/2006/main">
          <a:srgbClr val="FFFFFF"/>
        </a:solidFill>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9525">
      <a:solidFill>
        <a:srgbClr val="D9E1E8"/>
      </a:solid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t>Unique packet delivery ratio</a:t>
            </a:r>
          </a:p>
        </c:rich>
      </c:tx>
    </c:title>
    <c:plotArea>
      <c:barChart>
        <c:barDir val="col"/>
        <c:grouping val="clustered"/>
        <c:varyColors val="0"/>
        <c:ser>
          <c:idx val="0"/>
          <c:order val="0"/>
          <c:tx>
            <c:v>Reno-style AIMD</c:v>
          </c:tx>
          <c:spPr>
            <a:solidFill xmlns:a="http://schemas.openxmlformats.org/drawingml/2006/main">
              <a:srgbClr val="8997A7"/>
            </a:solidFill>
          </c:spPr>
          <c:invertIfNegative val="0"/>
          <c:cat>
            <c:strRef>
              <c:f>'Chart Data'!$A$2:$A$5</c:f>
              <c:strCache>
                <c:ptCount val="4"/>
                <c:pt idx="0">
                  <c:v>Clean link</c:v>
                </c:pt>
                <c:pt idx="1">
                  <c:v>Wireless loss</c:v>
                </c:pt>
                <c:pt idx="2">
                  <c:v>High delay</c:v>
                </c:pt>
                <c:pt idx="3">
                  <c:v>Congested bottleneck</c:v>
                </c:pt>
              </c:strCache>
            </c:strRef>
          </c:cat>
          <c:val>
            <c:numRef>
              <c:f>'Chart Data'!$B$2:$B$5</c:f>
              <c:numCache>
                <c:formatCode>0%</c:formatCode>
                <c:ptCount val="4"/>
                <c:pt idx="0">
                  <c:v>1</c:v>
                </c:pt>
                <c:pt idx="1">
                  <c:v>1</c:v>
                </c:pt>
                <c:pt idx="2">
                  <c:v>1</c:v>
                </c:pt>
                <c:pt idx="3">
                  <c:v>1</c:v>
                </c:pt>
              </c:numCache>
            </c:numRef>
          </c:val>
        </c:ser>
        <c:ser>
          <c:idx val="1"/>
          <c:order val="1"/>
          <c:tx>
            <c:v>Rule heuristic</c:v>
          </c:tx>
          <c:spPr>
            <a:solidFill xmlns:a="http://schemas.openxmlformats.org/drawingml/2006/main">
              <a:srgbClr val="0F9D8A"/>
            </a:solidFill>
          </c:spPr>
          <c:invertIfNegative val="0"/>
          <c:cat>
            <c:strRef>
              <c:f>'Chart Data'!$C$2:$C$5</c:f>
              <c:strCache>
                <c:ptCount val="4"/>
                <c:pt idx="0">
                  <c:v>Clean link</c:v>
                </c:pt>
                <c:pt idx="1">
                  <c:v>Wireless loss</c:v>
                </c:pt>
                <c:pt idx="2">
                  <c:v>High delay</c:v>
                </c:pt>
                <c:pt idx="3">
                  <c:v>Congested bottleneck</c:v>
                </c:pt>
              </c:strCache>
            </c:strRef>
          </c:cat>
          <c:val>
            <c:numRef>
              <c:f>'Chart Data'!$D$2:$D$5</c:f>
              <c:numCache>
                <c:formatCode>0%</c:formatCode>
                <c:ptCount val="4"/>
                <c:pt idx="0">
                  <c:v>1</c:v>
                </c:pt>
                <c:pt idx="1">
                  <c:v>1</c:v>
                </c:pt>
                <c:pt idx="2">
                  <c:v>1</c:v>
                </c:pt>
                <c:pt idx="3">
                  <c:v>1</c:v>
                </c:pt>
              </c:numCache>
            </c:numRef>
          </c:val>
        </c:ser>
        <c:ser>
          <c:idx val="2"/>
          <c:order val="2"/>
          <c:tx>
            <c:v>PPO</c:v>
          </c:tx>
          <c:spPr>
            <a:solidFill xmlns:a="http://schemas.openxmlformats.org/drawingml/2006/main">
              <a:srgbClr val="D98132"/>
            </a:solidFill>
          </c:spPr>
          <c:invertIfNegative val="0"/>
          <c:cat>
            <c:strRef>
              <c:f>'Chart Data'!$E$2:$E$5</c:f>
              <c:strCache>
                <c:ptCount val="4"/>
                <c:pt idx="0">
                  <c:v>Clean link</c:v>
                </c:pt>
                <c:pt idx="1">
                  <c:v>Wireless loss</c:v>
                </c:pt>
                <c:pt idx="2">
                  <c:v>High delay</c:v>
                </c:pt>
                <c:pt idx="3">
                  <c:v>Congested bottleneck</c:v>
                </c:pt>
              </c:strCache>
            </c:strRef>
          </c:cat>
          <c:val>
            <c:numRef>
              <c:f>'Chart Data'!$F$2:$F$5</c:f>
              <c:numCache>
                <c:formatCode>0%</c:formatCode>
                <c:ptCount val="4"/>
                <c:pt idx="0">
                  <c:v>1</c:v>
                </c:pt>
                <c:pt idx="1">
                  <c:v>1</c:v>
                </c:pt>
                <c:pt idx="2">
                  <c:v>1</c:v>
                </c:pt>
                <c:pt idx="3">
                  <c:v>1</c:v>
                </c:pt>
              </c:numCache>
            </c:numRef>
          </c:val>
        </c:ser>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prstDash val="solid"/>
          </a:ln>
        </c:spPr>
        <c:txPr>
          <a:bodyPr xmlns:a="http://schemas.openxmlformats.org/drawingml/2006/main" anchorCtr="1"/>
          <a:lstStyle xmlns:a="http://schemas.openxmlformats.org/drawingml/2006/main"/>
          <a:p xmlns:a="http://schemas.openxmlformats.org/drawingml/2006/main">
            <a:pPr>
              <a:defRPr sz="1350">
                <a:solidFill>
                  <a:srgbClr val="203449"/>
                </a:solidFill>
              </a:defRPr>
            </a:pPr>
          </a:p>
        </c:txPr>
        <c:crossAx val="48672768"/>
      </c:catAx>
      <c:valAx>
        <c:axId val="48672768"/>
        <c:scaling>
          <c:orientation val="minMax"/>
          <c:max val="1.08"/>
          <c:min val="0"/>
        </c:scaling>
        <c:delete val="0"/>
        <c:axPos val="l"/>
        <c:majorGridlines>
          <c:spPr>
            <a:ln xmlns:a="http://schemas.openxmlformats.org/drawingml/2006/main" w="9525">
              <a:solidFill>
                <a:srgbClr val="E6EBF0"/>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C6B7A"/>
                </a:solidFill>
              </a:defRPr>
            </a:pPr>
          </a:p>
        </c:txPr>
        <c:crossAx val="48650112"/>
        <c:crossBetween val="between"/>
      </c:valAx>
      <c:spPr>
        <a:solidFill xmlns:a="http://schemas.openxmlformats.org/drawingml/2006/main">
          <a:srgbClr val="FFFFFF"/>
        </a:solidFill>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9525">
      <a:solidFill>
        <a:srgbClr val="D9E1E8"/>
      </a:solid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t>Retransmissions (packets)</a:t>
            </a:r>
          </a:p>
        </c:rich>
      </c:tx>
    </c:title>
    <c:plotArea>
      <c:barChart>
        <c:barDir val="col"/>
        <c:grouping val="clustered"/>
        <c:varyColors val="0"/>
        <c:ser>
          <c:idx val="0"/>
          <c:order val="0"/>
          <c:tx>
            <c:v>Reno-style AIMD</c:v>
          </c:tx>
          <c:spPr>
            <a:solidFill xmlns:a="http://schemas.openxmlformats.org/drawingml/2006/main">
              <a:srgbClr val="8997A7"/>
            </a:solidFill>
          </c:spPr>
          <c:invertIfNegative val="0"/>
          <c:cat>
            <c:strRef>
              <c:f>'Chart Data'!$A$2:$A$5</c:f>
              <c:strCache>
                <c:ptCount val="4"/>
                <c:pt idx="0">
                  <c:v>Clean link</c:v>
                </c:pt>
                <c:pt idx="1">
                  <c:v>Wireless loss</c:v>
                </c:pt>
                <c:pt idx="2">
                  <c:v>High delay</c:v>
                </c:pt>
                <c:pt idx="3">
                  <c:v>Congested bottleneck</c:v>
                </c:pt>
              </c:strCache>
            </c:strRef>
          </c:cat>
          <c:val>
            <c:numRef>
              <c:f>'Chart Data'!$B$2:$B$5</c:f>
              <c:numCache>
                <c:formatCode>General</c:formatCode>
                <c:ptCount val="4"/>
                <c:pt idx="0">
                  <c:v>122</c:v>
                </c:pt>
                <c:pt idx="1">
                  <c:v>436.7</c:v>
                </c:pt>
                <c:pt idx="2">
                  <c:v>101.6</c:v>
                </c:pt>
                <c:pt idx="3">
                  <c:v>263.7</c:v>
                </c:pt>
              </c:numCache>
            </c:numRef>
          </c:val>
        </c:ser>
        <c:ser>
          <c:idx val="1"/>
          <c:order val="1"/>
          <c:tx>
            <c:v>Rule heuristic</c:v>
          </c:tx>
          <c:spPr>
            <a:solidFill xmlns:a="http://schemas.openxmlformats.org/drawingml/2006/main">
              <a:srgbClr val="0F9D8A"/>
            </a:solidFill>
          </c:spPr>
          <c:invertIfNegative val="0"/>
          <c:cat>
            <c:strRef>
              <c:f>'Chart Data'!$C$2:$C$5</c:f>
              <c:strCache>
                <c:ptCount val="4"/>
                <c:pt idx="0">
                  <c:v>Clean link</c:v>
                </c:pt>
                <c:pt idx="1">
                  <c:v>Wireless loss</c:v>
                </c:pt>
                <c:pt idx="2">
                  <c:v>High delay</c:v>
                </c:pt>
                <c:pt idx="3">
                  <c:v>Congested bottleneck</c:v>
                </c:pt>
              </c:strCache>
            </c:strRef>
          </c:cat>
          <c:val>
            <c:numRef>
              <c:f>'Chart Data'!$D$2:$D$5</c:f>
              <c:numCache>
                <c:formatCode>General</c:formatCode>
                <c:ptCount val="4"/>
                <c:pt idx="0">
                  <c:v>0</c:v>
                </c:pt>
                <c:pt idx="1">
                  <c:v>436.7</c:v>
                </c:pt>
                <c:pt idx="2">
                  <c:v>416.6</c:v>
                </c:pt>
                <c:pt idx="3">
                  <c:v>271.1</c:v>
                </c:pt>
              </c:numCache>
            </c:numRef>
          </c:val>
        </c:ser>
        <c:ser>
          <c:idx val="2"/>
          <c:order val="2"/>
          <c:tx>
            <c:v>PPO</c:v>
          </c:tx>
          <c:spPr>
            <a:solidFill xmlns:a="http://schemas.openxmlformats.org/drawingml/2006/main">
              <a:srgbClr val="D98132"/>
            </a:solidFill>
          </c:spPr>
          <c:invertIfNegative val="0"/>
          <c:cat>
            <c:strRef>
              <c:f>'Chart Data'!$E$2:$E$5</c:f>
              <c:strCache>
                <c:ptCount val="4"/>
                <c:pt idx="0">
                  <c:v>Clean link</c:v>
                </c:pt>
                <c:pt idx="1">
                  <c:v>Wireless loss</c:v>
                </c:pt>
                <c:pt idx="2">
                  <c:v>High delay</c:v>
                </c:pt>
                <c:pt idx="3">
                  <c:v>Congested bottleneck</c:v>
                </c:pt>
              </c:strCache>
            </c:strRef>
          </c:cat>
          <c:val>
            <c:numRef>
              <c:f>'Chart Data'!$F$2:$F$5</c:f>
              <c:numCache>
                <c:formatCode>General</c:formatCode>
                <c:ptCount val="4"/>
                <c:pt idx="0">
                  <c:v>0</c:v>
                </c:pt>
                <c:pt idx="1">
                  <c:v>436.7</c:v>
                </c:pt>
                <c:pt idx="2">
                  <c:v>1791.5</c:v>
                </c:pt>
                <c:pt idx="3">
                  <c:v>323.8</c:v>
                </c:pt>
              </c:numCache>
            </c:numRef>
          </c:val>
        </c:ser>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prstDash val="solid"/>
          </a:ln>
        </c:spPr>
        <c:txPr>
          <a:bodyPr xmlns:a="http://schemas.openxmlformats.org/drawingml/2006/main" anchorCtr="1"/>
          <a:lstStyle xmlns:a="http://schemas.openxmlformats.org/drawingml/2006/main"/>
          <a:p xmlns:a="http://schemas.openxmlformats.org/drawingml/2006/main">
            <a:pPr>
              <a:defRPr sz="1350">
                <a:solidFill>
                  <a:srgbClr val="203449"/>
                </a:solidFill>
              </a:defRPr>
            </a:pPr>
          </a:p>
        </c:txPr>
        <c:crossAx val="48672768"/>
      </c:catAx>
      <c:valAx>
        <c:axId val="48672768"/>
        <c:scaling>
          <c:orientation val="minMax"/>
          <c:max val="2000"/>
          <c:min val="0"/>
        </c:scaling>
        <c:delete val="0"/>
        <c:axPos val="l"/>
        <c:majorGridlines>
          <c:spPr>
            <a:ln xmlns:a="http://schemas.openxmlformats.org/drawingml/2006/main" w="9525">
              <a:solidFill>
                <a:srgbClr val="E6EB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75">
                <a:solidFill>
                  <a:srgbClr val="5C6B7A"/>
                </a:solidFill>
              </a:defRPr>
            </a:pPr>
          </a:p>
        </c:txPr>
        <c:crossAx val="48650112"/>
        <c:crossBetween val="between"/>
      </c:valAx>
      <c:spPr>
        <a:solidFill xmlns:a="http://schemas.openxmlformats.org/drawingml/2006/main">
          <a:srgbClr val="FFFFFF"/>
        </a:solidFill>
        <a:ln xmlns:a="http://schemas.openxmlformats.org/drawingml/2006/main" w="0">
          <a:solidFill>
            <a:srgbClr val="FFFFFF"/>
          </a:solidFill>
          <a:prstDash val="solid"/>
        </a:ln>
      </c:spPr>
    </c:plotArea>
    <c:legend>
      <c:legendPos val="b"/>
      <c:overlay val="0"/>
    </c:legend>
    <c:plotVisOnly val="1"/>
  </c:chart>
  <c:spPr>
    <a:solidFill xmlns:a="http://schemas.openxmlformats.org/drawingml/2006/main">
      <a:srgbClr val="FFFFFF"/>
    </a:solidFill>
    <a:ln xmlns:a="http://schemas.openxmlformats.org/drawingml/2006/main" w="9525">
      <a:solidFill>
        <a:srgbClr val="D9E1E8"/>
      </a:solid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24D"/>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F2D9D93-3856-43C6-A4B6-C4E7F03B1DB4}"/>
              </a:ext>
            </a:extLst>
          </p:cNvPr>
          <p:cNvSpPr>
            <a:spLocks xmlns:a="http://schemas.openxmlformats.org/drawingml/2006/main" noGrp="1"/>
          </p:cNvSpPr>
          <p:nvPr/>
        </p:nvSpPr>
        <p:spPr>
          <a:xfrm xmlns:a="http://schemas.openxmlformats.org/drawingml/2006/main">
            <a:off x="742950" y="1181100"/>
            <a:ext cx="76200" cy="39528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prstDash val="solid"/>
          </a:ln>
        </p:spPr>
      </p:sp>
      <p:sp>
        <p:nvSpPr>
          <p:cNvPr id="2" name="">
            <a:extLst xmlns:a="http://schemas.openxmlformats.org/drawingml/2006/main">
              <a:ext uri="{FF2B5EF4-FFF2-40B4-BE49-F238E27FC236}">
                <a16:creationId xmlns:a16="http://schemas.microsoft.com/office/drawing/2014/main" id="{98266DB0-FBAC-4EAB-BF9E-7DEC498641F3}"/>
              </a:ext>
            </a:extLst>
          </p:cNvPr>
          <p:cNvSpPr>
            <a:spLocks xmlns:a="http://schemas.openxmlformats.org/drawingml/2006/main" noGrp="1"/>
          </p:cNvSpPr>
          <p:nvPr/>
        </p:nvSpPr>
        <p:spPr>
          <a:xfrm xmlns:a="http://schemas.openxmlformats.org/drawingml/2006/main">
            <a:off x="1143000" y="1314450"/>
            <a:ext cx="9906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1">
                <a:solidFill>
                  <a:srgbClr val="FFFFFF"/>
                </a:solidFill>
              </a:defRPr>
            </a:defPPr>
            <a:lvl1pPr algn="l">
              <a:defRPr sz="4650" b="1">
                <a:solidFill>
                  <a:srgbClr val="FFFFFF"/>
                </a:solidFill>
              </a:defRPr>
            </a:lvl1pPr>
            <a:lvl2pPr algn="l">
              <a:defRPr sz="4650" b="1">
                <a:solidFill>
                  <a:srgbClr val="FFFFFF"/>
                </a:solidFill>
              </a:defRPr>
            </a:lvl2pPr>
            <a:lvl3pPr algn="l">
              <a:defRPr sz="4650" b="1">
                <a:solidFill>
                  <a:srgbClr val="FFFFFF"/>
                </a:solidFill>
              </a:defRPr>
            </a:lvl3pPr>
            <a:lvl4pPr algn="l">
              <a:defRPr sz="4650" b="1">
                <a:solidFill>
                  <a:srgbClr val="FFFFFF"/>
                </a:solidFill>
              </a:defRPr>
            </a:lvl4pPr>
            <a:lvl5pPr algn="l">
              <a:defRPr sz="4650" b="1">
                <a:solidFill>
                  <a:srgbClr val="FFFFFF"/>
                </a:solidFill>
              </a:defRPr>
            </a:lvl5pPr>
            <a:lvl6pPr algn="l">
              <a:defRPr sz="4650" b="1">
                <a:solidFill>
                  <a:srgbClr val="FFFFFF"/>
                </a:solidFill>
              </a:defRPr>
            </a:lvl6pPr>
            <a:lvl7pPr algn="l">
              <a:defRPr sz="4650" b="1">
                <a:solidFill>
                  <a:srgbClr val="FFFFFF"/>
                </a:solidFill>
              </a:defRPr>
            </a:lvl7pPr>
            <a:lvl8pPr algn="l">
              <a:defRPr sz="4650" b="1">
                <a:solidFill>
                  <a:srgbClr val="FFFFFF"/>
                </a:solidFill>
              </a:defRPr>
            </a:lvl8pPr>
            <a:lvl9pPr algn="l">
              <a:defRPr sz="4650" b="1">
                <a:solidFill>
                  <a:srgbClr val="FFFFFF"/>
                </a:solidFill>
              </a:defRPr>
            </a:lvl9pPr>
          </a:lstStyle>
          <a:p xmlns:a="http://schemas.openxmlformats.org/drawingml/2006/main">
            <a:pPr algn="l">
              <a:defRPr sz="4650" b="1">
                <a:solidFill>
                  <a:srgbClr val="FFFFFF"/>
                </a:solidFill>
              </a:defRPr>
            </a:pPr>
            <a:r>
              <a:rPr sz="4650" b="1">
                <a:solidFill>
                  <a:srgbClr val="FFFFFF"/>
                </a:solidFill>
              </a:rPr>
              <a:t>AI-Driven Adaptive</a:t>
            </a:r>
          </a:p>
          <a:p xmlns:a="http://schemas.openxmlformats.org/drawingml/2006/main">
            <a:pPr algn="l">
              <a:defRPr sz="4650" b="1">
                <a:solidFill>
                  <a:srgbClr val="FFFFFF"/>
                </a:solidFill>
              </a:defRPr>
            </a:pPr>
            <a:r>
              <a:rPr sz="4650" b="1">
                <a:solidFill>
                  <a:srgbClr val="FFFFFF"/>
                </a:solidFill>
              </a:rPr>
              <a:t>Reliable Transmission</a:t>
            </a:r>
          </a:p>
        </p:txBody>
      </p:sp>
      <p:sp>
        <p:nvSpPr>
          <p:cNvPr id="3" name="">
            <a:extLst xmlns:a="http://schemas.openxmlformats.org/drawingml/2006/main">
              <a:ext uri="{FF2B5EF4-FFF2-40B4-BE49-F238E27FC236}">
                <a16:creationId xmlns:a16="http://schemas.microsoft.com/office/drawing/2014/main" id="{0FC1693C-1D69-4C2B-9A93-B73404D4E0D2}"/>
              </a:ext>
            </a:extLst>
          </p:cNvPr>
          <p:cNvSpPr>
            <a:spLocks xmlns:a="http://schemas.openxmlformats.org/drawingml/2006/main" noGrp="1"/>
          </p:cNvSpPr>
          <p:nvPr/>
        </p:nvSpPr>
        <p:spPr>
          <a:xfrm xmlns:a="http://schemas.openxmlformats.org/drawingml/2006/main">
            <a:off x="1171575" y="3657600"/>
            <a:ext cx="895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75" b="0">
                <a:solidFill>
                  <a:srgbClr val="DCE7EF"/>
                </a:solidFill>
              </a:defRPr>
            </a:defPPr>
            <a:lvl1pPr algn="l">
              <a:defRPr sz="2175" b="0">
                <a:solidFill>
                  <a:srgbClr val="DCE7EF"/>
                </a:solidFill>
              </a:defRPr>
            </a:lvl1pPr>
            <a:lvl2pPr algn="l">
              <a:defRPr sz="2175" b="0">
                <a:solidFill>
                  <a:srgbClr val="DCE7EF"/>
                </a:solidFill>
              </a:defRPr>
            </a:lvl2pPr>
            <a:lvl3pPr algn="l">
              <a:defRPr sz="2175" b="0">
                <a:solidFill>
                  <a:srgbClr val="DCE7EF"/>
                </a:solidFill>
              </a:defRPr>
            </a:lvl3pPr>
            <a:lvl4pPr algn="l">
              <a:defRPr sz="2175" b="0">
                <a:solidFill>
                  <a:srgbClr val="DCE7EF"/>
                </a:solidFill>
              </a:defRPr>
            </a:lvl4pPr>
            <a:lvl5pPr algn="l">
              <a:defRPr sz="2175" b="0">
                <a:solidFill>
                  <a:srgbClr val="DCE7EF"/>
                </a:solidFill>
              </a:defRPr>
            </a:lvl5pPr>
            <a:lvl6pPr algn="l">
              <a:defRPr sz="2175" b="0">
                <a:solidFill>
                  <a:srgbClr val="DCE7EF"/>
                </a:solidFill>
              </a:defRPr>
            </a:lvl6pPr>
            <a:lvl7pPr algn="l">
              <a:defRPr sz="2175" b="0">
                <a:solidFill>
                  <a:srgbClr val="DCE7EF"/>
                </a:solidFill>
              </a:defRPr>
            </a:lvl7pPr>
            <a:lvl8pPr algn="l">
              <a:defRPr sz="2175" b="0">
                <a:solidFill>
                  <a:srgbClr val="DCE7EF"/>
                </a:solidFill>
              </a:defRPr>
            </a:lvl8pPr>
            <a:lvl9pPr algn="l">
              <a:defRPr sz="2175" b="0">
                <a:solidFill>
                  <a:srgbClr val="DCE7EF"/>
                </a:solidFill>
              </a:defRPr>
            </a:lvl9pPr>
          </a:lstStyle>
          <a:p xmlns:a="http://schemas.openxmlformats.org/drawingml/2006/main">
            <a:pPr algn="l">
              <a:defRPr sz="2175" b="0">
                <a:solidFill>
                  <a:srgbClr val="DCE7EF"/>
                </a:solidFill>
              </a:defRPr>
            </a:pPr>
            <a:r>
              <a:rPr sz="2175" b="0">
                <a:solidFill>
                  <a:srgbClr val="DCE7EF"/>
                </a:solidFill>
              </a:rPr>
              <a:t>A controlled Python simulation study for lossy networks</a:t>
            </a:r>
          </a:p>
        </p:txBody>
      </p:sp>
      <p:sp>
        <p:nvSpPr>
          <p:cNvPr id="4" name="">
            <a:extLst xmlns:a="http://schemas.openxmlformats.org/drawingml/2006/main">
              <a:ext uri="{FF2B5EF4-FFF2-40B4-BE49-F238E27FC236}">
                <a16:creationId xmlns:a16="http://schemas.microsoft.com/office/drawing/2014/main" id="{DB2EEFD7-E7AB-440D-A35B-B6C7928E3BB4}"/>
              </a:ext>
            </a:extLst>
          </p:cNvPr>
          <p:cNvSpPr>
            <a:spLocks xmlns:a="http://schemas.openxmlformats.org/drawingml/2006/main" noGrp="1"/>
          </p:cNvSpPr>
          <p:nvPr/>
        </p:nvSpPr>
        <p:spPr>
          <a:xfrm xmlns:a="http://schemas.openxmlformats.org/drawingml/2006/main">
            <a:off x="1171575" y="4629150"/>
            <a:ext cx="857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AFC3D2"/>
                </a:solidFill>
              </a:defRPr>
            </a:defPPr>
            <a:lvl1pPr algn="l">
              <a:defRPr sz="1725" b="0">
                <a:solidFill>
                  <a:srgbClr val="AFC3D2"/>
                </a:solidFill>
              </a:defRPr>
            </a:lvl1pPr>
            <a:lvl2pPr algn="l">
              <a:defRPr sz="1725" b="0">
                <a:solidFill>
                  <a:srgbClr val="AFC3D2"/>
                </a:solidFill>
              </a:defRPr>
            </a:lvl2pPr>
            <a:lvl3pPr algn="l">
              <a:defRPr sz="1725" b="0">
                <a:solidFill>
                  <a:srgbClr val="AFC3D2"/>
                </a:solidFill>
              </a:defRPr>
            </a:lvl3pPr>
            <a:lvl4pPr algn="l">
              <a:defRPr sz="1725" b="0">
                <a:solidFill>
                  <a:srgbClr val="AFC3D2"/>
                </a:solidFill>
              </a:defRPr>
            </a:lvl4pPr>
            <a:lvl5pPr algn="l">
              <a:defRPr sz="1725" b="0">
                <a:solidFill>
                  <a:srgbClr val="AFC3D2"/>
                </a:solidFill>
              </a:defRPr>
            </a:lvl5pPr>
            <a:lvl6pPr algn="l">
              <a:defRPr sz="1725" b="0">
                <a:solidFill>
                  <a:srgbClr val="AFC3D2"/>
                </a:solidFill>
              </a:defRPr>
            </a:lvl6pPr>
            <a:lvl7pPr algn="l">
              <a:defRPr sz="1725" b="0">
                <a:solidFill>
                  <a:srgbClr val="AFC3D2"/>
                </a:solidFill>
              </a:defRPr>
            </a:lvl7pPr>
            <a:lvl8pPr algn="l">
              <a:defRPr sz="1725" b="0">
                <a:solidFill>
                  <a:srgbClr val="AFC3D2"/>
                </a:solidFill>
              </a:defRPr>
            </a:lvl8pPr>
            <a:lvl9pPr algn="l">
              <a:defRPr sz="1725" b="0">
                <a:solidFill>
                  <a:srgbClr val="AFC3D2"/>
                </a:solidFill>
              </a:defRPr>
            </a:lvl9pPr>
          </a:lstStyle>
          <a:p xmlns:a="http://schemas.openxmlformats.org/drawingml/2006/main">
            <a:pPr algn="l">
              <a:defRPr sz="1725" b="0">
                <a:solidFill>
                  <a:srgbClr val="AFC3D2"/>
                </a:solidFill>
              </a:defRPr>
            </a:pPr>
            <a:r>
              <a:rPr sz="1725" b="0">
                <a:solidFill>
                  <a:srgbClr val="AFC3D2"/>
                </a:solidFill>
              </a:rPr>
              <a:t>Computer Networks · Semester Project</a:t>
            </a:r>
          </a:p>
        </p:txBody>
      </p:sp>
      <p:sp>
        <p:nvSpPr>
          <p:cNvPr id="5" name="">
            <a:extLst xmlns:a="http://schemas.openxmlformats.org/drawingml/2006/main">
              <a:ext uri="{FF2B5EF4-FFF2-40B4-BE49-F238E27FC236}">
                <a16:creationId xmlns:a16="http://schemas.microsoft.com/office/drawing/2014/main" id="{765800C2-AC98-486E-8D62-8FB7061DB089}"/>
              </a:ext>
            </a:extLst>
          </p:cNvPr>
          <p:cNvSpPr>
            <a:spLocks xmlns:a="http://schemas.openxmlformats.org/drawingml/2006/main" noGrp="1"/>
          </p:cNvSpPr>
          <p:nvPr/>
        </p:nvSpPr>
        <p:spPr>
          <a:xfrm xmlns:a="http://schemas.openxmlformats.org/drawingml/2006/main">
            <a:off x="1171575" y="5105400"/>
            <a:ext cx="6858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AFC3D2"/>
                </a:solidFill>
              </a:defRPr>
            </a:defPPr>
            <a:lvl1pPr algn="l">
              <a:defRPr sz="1425" b="0">
                <a:solidFill>
                  <a:srgbClr val="AFC3D2"/>
                </a:solidFill>
              </a:defRPr>
            </a:lvl1pPr>
            <a:lvl2pPr algn="l">
              <a:defRPr sz="1425" b="0">
                <a:solidFill>
                  <a:srgbClr val="AFC3D2"/>
                </a:solidFill>
              </a:defRPr>
            </a:lvl2pPr>
            <a:lvl3pPr algn="l">
              <a:defRPr sz="1425" b="0">
                <a:solidFill>
                  <a:srgbClr val="AFC3D2"/>
                </a:solidFill>
              </a:defRPr>
            </a:lvl3pPr>
            <a:lvl4pPr algn="l">
              <a:defRPr sz="1425" b="0">
                <a:solidFill>
                  <a:srgbClr val="AFC3D2"/>
                </a:solidFill>
              </a:defRPr>
            </a:lvl4pPr>
            <a:lvl5pPr algn="l">
              <a:defRPr sz="1425" b="0">
                <a:solidFill>
                  <a:srgbClr val="AFC3D2"/>
                </a:solidFill>
              </a:defRPr>
            </a:lvl5pPr>
            <a:lvl6pPr algn="l">
              <a:defRPr sz="1425" b="0">
                <a:solidFill>
                  <a:srgbClr val="AFC3D2"/>
                </a:solidFill>
              </a:defRPr>
            </a:lvl6pPr>
            <a:lvl7pPr algn="l">
              <a:defRPr sz="1425" b="0">
                <a:solidFill>
                  <a:srgbClr val="AFC3D2"/>
                </a:solidFill>
              </a:defRPr>
            </a:lvl7pPr>
            <a:lvl8pPr algn="l">
              <a:defRPr sz="1425" b="0">
                <a:solidFill>
                  <a:srgbClr val="AFC3D2"/>
                </a:solidFill>
              </a:defRPr>
            </a:lvl8pPr>
            <a:lvl9pPr algn="l">
              <a:defRPr sz="1425" b="0">
                <a:solidFill>
                  <a:srgbClr val="AFC3D2"/>
                </a:solidFill>
              </a:defRPr>
            </a:lvl9pPr>
          </a:lstStyle>
          <a:p xmlns:a="http://schemas.openxmlformats.org/drawingml/2006/main">
            <a:pPr algn="l">
              <a:defRPr sz="1425" b="0">
                <a:solidFill>
                  <a:srgbClr val="AFC3D2"/>
                </a:solidFill>
              </a:defRPr>
            </a:pPr>
            <a:r>
              <a:rPr sz="1425" b="0">
                <a:solidFill>
                  <a:srgbClr val="AFC3D2"/>
                </a:solidFill>
              </a:rPr>
              <a:t>Team project prototype</a:t>
            </a:r>
          </a:p>
        </p:txBody>
      </p:sp>
    </p:spTree>
    <p:extLst>
      <p:ext uri="{BB962C8B-B14F-4D97-AF65-F5344CB8AC3E}">
        <p14:creationId xmlns:p14="http://schemas.microsoft.com/office/powerpoint/2010/main" val="1081475749"/>
      </p:ext>
    </p:extLst>
  </p:cSld>
</p:sld>
</file>

<file path=ppt/slides/slide2.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2999783-AC81-40A9-A932-9F266FBEA30B}"/>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prstDash val="solid"/>
          </a:ln>
        </p:spPr>
      </p:sp>
      <p:sp>
        <p:nvSpPr>
          <p:cNvPr id="2" name="">
            <a:extLst xmlns:a="http://schemas.openxmlformats.org/drawingml/2006/main">
              <a:ext uri="{FF2B5EF4-FFF2-40B4-BE49-F238E27FC236}">
                <a16:creationId xmlns:a16="http://schemas.microsoft.com/office/drawing/2014/main" id="{D20D2253-32E7-40F5-BB7C-0EFFA9E4DD4F}"/>
              </a:ext>
            </a:extLst>
          </p:cNvPr>
          <p:cNvSpPr>
            <a:spLocks xmlns:a="http://schemas.openxmlformats.org/drawingml/2006/main" noGrp="1"/>
          </p:cNvSpPr>
          <p:nvPr/>
        </p:nvSpPr>
        <p:spPr>
          <a:xfrm xmlns:a="http://schemas.openxmlformats.org/drawingml/2006/main">
            <a:off x="685800" y="3810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7324D"/>
                </a:solidFill>
              </a:defRPr>
            </a:defPPr>
            <a:lvl1pPr algn="l">
              <a:defRPr sz="3300" b="1">
                <a:solidFill>
                  <a:srgbClr val="17324D"/>
                </a:solidFill>
              </a:defRPr>
            </a:lvl1pPr>
            <a:lvl2pPr algn="l">
              <a:defRPr sz="3300" b="1">
                <a:solidFill>
                  <a:srgbClr val="17324D"/>
                </a:solidFill>
              </a:defRPr>
            </a:lvl2pPr>
            <a:lvl3pPr algn="l">
              <a:defRPr sz="3300" b="1">
                <a:solidFill>
                  <a:srgbClr val="17324D"/>
                </a:solidFill>
              </a:defRPr>
            </a:lvl3pPr>
            <a:lvl4pPr algn="l">
              <a:defRPr sz="3300" b="1">
                <a:solidFill>
                  <a:srgbClr val="17324D"/>
                </a:solidFill>
              </a:defRPr>
            </a:lvl4pPr>
            <a:lvl5pPr algn="l">
              <a:defRPr sz="3300" b="1">
                <a:solidFill>
                  <a:srgbClr val="17324D"/>
                </a:solidFill>
              </a:defRPr>
            </a:lvl5pPr>
            <a:lvl6pPr algn="l">
              <a:defRPr sz="3300" b="1">
                <a:solidFill>
                  <a:srgbClr val="17324D"/>
                </a:solidFill>
              </a:defRPr>
            </a:lvl6pPr>
            <a:lvl7pPr algn="l">
              <a:defRPr sz="3300" b="1">
                <a:solidFill>
                  <a:srgbClr val="17324D"/>
                </a:solidFill>
              </a:defRPr>
            </a:lvl7pPr>
            <a:lvl8pPr algn="l">
              <a:defRPr sz="3300" b="1">
                <a:solidFill>
                  <a:srgbClr val="17324D"/>
                </a:solidFill>
              </a:defRPr>
            </a:lvl8pPr>
            <a:lvl9pPr algn="l">
              <a:defRPr sz="3300" b="1">
                <a:solidFill>
                  <a:srgbClr val="17324D"/>
                </a:solidFill>
              </a:defRPr>
            </a:lvl9pPr>
          </a:lstStyle>
          <a:p xmlns:a="http://schemas.openxmlformats.org/drawingml/2006/main">
            <a:pPr algn="l">
              <a:defRPr sz="3300" b="1">
                <a:solidFill>
                  <a:srgbClr val="17324D"/>
                </a:solidFill>
              </a:defRPr>
            </a:pPr>
            <a:r>
              <a:rPr sz="3300" b="1">
                <a:solidFill>
                  <a:srgbClr val="17324D"/>
                </a:solidFill>
              </a:rPr>
              <a:t>Research question and project scope</a:t>
            </a:r>
          </a:p>
        </p:txBody>
      </p:sp>
      <p:sp>
        <p:nvSpPr>
          <p:cNvPr id="3" name="">
            <a:extLst xmlns:a="http://schemas.openxmlformats.org/drawingml/2006/main">
              <a:ext uri="{FF2B5EF4-FFF2-40B4-BE49-F238E27FC236}">
                <a16:creationId xmlns:a16="http://schemas.microsoft.com/office/drawing/2014/main" id="{65E43011-90B3-403A-AF56-11DFD2D9C0D8}"/>
              </a:ext>
            </a:extLst>
          </p:cNvPr>
          <p:cNvSpPr>
            <a:spLocks xmlns:a="http://schemas.openxmlformats.org/drawingml/2006/main" noGrp="1"/>
          </p:cNvSpPr>
          <p:nvPr/>
        </p:nvSpPr>
        <p:spPr>
          <a:xfrm xmlns:a="http://schemas.openxmlformats.org/drawingml/2006/main">
            <a:off x="723900" y="1428750"/>
            <a:ext cx="103822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550" b="1">
                <a:solidFill>
                  <a:srgbClr val="17324D"/>
                </a:solidFill>
              </a:defRPr>
            </a:defPPr>
            <a:lvl1pPr algn="l">
              <a:defRPr sz="2550" b="1">
                <a:solidFill>
                  <a:srgbClr val="17324D"/>
                </a:solidFill>
              </a:defRPr>
            </a:lvl1pPr>
            <a:lvl2pPr algn="l">
              <a:defRPr sz="2550" b="1">
                <a:solidFill>
                  <a:srgbClr val="17324D"/>
                </a:solidFill>
              </a:defRPr>
            </a:lvl2pPr>
            <a:lvl3pPr algn="l">
              <a:defRPr sz="2550" b="1">
                <a:solidFill>
                  <a:srgbClr val="17324D"/>
                </a:solidFill>
              </a:defRPr>
            </a:lvl3pPr>
            <a:lvl4pPr algn="l">
              <a:defRPr sz="2550" b="1">
                <a:solidFill>
                  <a:srgbClr val="17324D"/>
                </a:solidFill>
              </a:defRPr>
            </a:lvl4pPr>
            <a:lvl5pPr algn="l">
              <a:defRPr sz="2550" b="1">
                <a:solidFill>
                  <a:srgbClr val="17324D"/>
                </a:solidFill>
              </a:defRPr>
            </a:lvl5pPr>
            <a:lvl6pPr algn="l">
              <a:defRPr sz="2550" b="1">
                <a:solidFill>
                  <a:srgbClr val="17324D"/>
                </a:solidFill>
              </a:defRPr>
            </a:lvl6pPr>
            <a:lvl7pPr algn="l">
              <a:defRPr sz="2550" b="1">
                <a:solidFill>
                  <a:srgbClr val="17324D"/>
                </a:solidFill>
              </a:defRPr>
            </a:lvl7pPr>
            <a:lvl8pPr algn="l">
              <a:defRPr sz="2550" b="1">
                <a:solidFill>
                  <a:srgbClr val="17324D"/>
                </a:solidFill>
              </a:defRPr>
            </a:lvl8pPr>
            <a:lvl9pPr algn="l">
              <a:defRPr sz="2550" b="1">
                <a:solidFill>
                  <a:srgbClr val="17324D"/>
                </a:solidFill>
              </a:defRPr>
            </a:lvl9pPr>
          </a:lstStyle>
          <a:p xmlns:a="http://schemas.openxmlformats.org/drawingml/2006/main">
            <a:pPr algn="l">
              <a:defRPr sz="2550" b="1">
                <a:solidFill>
                  <a:srgbClr val="17324D"/>
                </a:solidFill>
              </a:defRPr>
            </a:pPr>
            <a:r>
              <a:rPr sz="2550" b="1">
                <a:solidFill>
                  <a:srgbClr val="17324D"/>
                </a:solidFill>
              </a:rPr>
              <a:t>Can a sender adapt to loss and congestion without sacrificing reliable delivery?</a:t>
            </a:r>
          </a:p>
        </p:txBody>
      </p:sp>
      <p:sp>
        <p:nvSpPr>
          <p:cNvPr id="4" name="">
            <a:extLst xmlns:a="http://schemas.openxmlformats.org/drawingml/2006/main">
              <a:ext uri="{FF2B5EF4-FFF2-40B4-BE49-F238E27FC236}">
                <a16:creationId xmlns:a16="http://schemas.microsoft.com/office/drawing/2014/main" id="{9089BCFA-6F6B-4F25-A670-050C1B0F4491}"/>
              </a:ext>
            </a:extLst>
          </p:cNvPr>
          <p:cNvSpPr>
            <a:spLocks xmlns:a="http://schemas.openxmlformats.org/drawingml/2006/main" noGrp="1"/>
          </p:cNvSpPr>
          <p:nvPr/>
        </p:nvSpPr>
        <p:spPr>
          <a:xfrm xmlns:a="http://schemas.openxmlformats.org/drawingml/2006/main">
            <a:off x="838200" y="26193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0F9D8A"/>
                </a:solidFill>
              </a:defRPr>
            </a:defPPr>
            <a:lvl1pPr algn="l">
              <a:defRPr sz="1950" b="1">
                <a:solidFill>
                  <a:srgbClr val="0F9D8A"/>
                </a:solidFill>
              </a:defRPr>
            </a:lvl1pPr>
            <a:lvl2pPr algn="l">
              <a:defRPr sz="1950" b="1">
                <a:solidFill>
                  <a:srgbClr val="0F9D8A"/>
                </a:solidFill>
              </a:defRPr>
            </a:lvl2pPr>
            <a:lvl3pPr algn="l">
              <a:defRPr sz="1950" b="1">
                <a:solidFill>
                  <a:srgbClr val="0F9D8A"/>
                </a:solidFill>
              </a:defRPr>
            </a:lvl3pPr>
            <a:lvl4pPr algn="l">
              <a:defRPr sz="1950" b="1">
                <a:solidFill>
                  <a:srgbClr val="0F9D8A"/>
                </a:solidFill>
              </a:defRPr>
            </a:lvl4pPr>
            <a:lvl5pPr algn="l">
              <a:defRPr sz="1950" b="1">
                <a:solidFill>
                  <a:srgbClr val="0F9D8A"/>
                </a:solidFill>
              </a:defRPr>
            </a:lvl5pPr>
            <a:lvl6pPr algn="l">
              <a:defRPr sz="1950" b="1">
                <a:solidFill>
                  <a:srgbClr val="0F9D8A"/>
                </a:solidFill>
              </a:defRPr>
            </a:lvl6pPr>
            <a:lvl7pPr algn="l">
              <a:defRPr sz="1950" b="1">
                <a:solidFill>
                  <a:srgbClr val="0F9D8A"/>
                </a:solidFill>
              </a:defRPr>
            </a:lvl7pPr>
            <a:lvl8pPr algn="l">
              <a:defRPr sz="1950" b="1">
                <a:solidFill>
                  <a:srgbClr val="0F9D8A"/>
                </a:solidFill>
              </a:defRPr>
            </a:lvl8pPr>
            <a:lvl9pPr algn="l">
              <a:defRPr sz="1950" b="1">
                <a:solidFill>
                  <a:srgbClr val="0F9D8A"/>
                </a:solidFill>
              </a:defRPr>
            </a:lvl9pPr>
          </a:lstStyle>
          <a:p xmlns:a="http://schemas.openxmlformats.org/drawingml/2006/main">
            <a:pPr algn="l">
              <a:defRPr sz="1950" b="1">
                <a:solidFill>
                  <a:srgbClr val="0F9D8A"/>
                </a:solidFill>
              </a:defRPr>
            </a:pPr>
            <a:r>
              <a:rPr sz="1950" b="1">
                <a:solidFill>
                  <a:srgbClr val="0F9D8A"/>
                </a:solidFill>
              </a:rPr>
              <a:t>•</a:t>
            </a:r>
          </a:p>
        </p:txBody>
      </p:sp>
      <p:sp>
        <p:nvSpPr>
          <p:cNvPr id="5" name="">
            <a:extLst xmlns:a="http://schemas.openxmlformats.org/drawingml/2006/main">
              <a:ext uri="{FF2B5EF4-FFF2-40B4-BE49-F238E27FC236}">
                <a16:creationId xmlns:a16="http://schemas.microsoft.com/office/drawing/2014/main" id="{2098F95B-9609-40C1-9689-6D91AD8E74E2}"/>
              </a:ext>
            </a:extLst>
          </p:cNvPr>
          <p:cNvSpPr>
            <a:spLocks xmlns:a="http://schemas.openxmlformats.org/drawingml/2006/main" noGrp="1"/>
          </p:cNvSpPr>
          <p:nvPr/>
        </p:nvSpPr>
        <p:spPr>
          <a:xfrm xmlns:a="http://schemas.openxmlformats.org/drawingml/2006/main">
            <a:off x="1162050" y="2619375"/>
            <a:ext cx="99631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03449"/>
                </a:solidFill>
              </a:defRPr>
            </a:defPPr>
            <a:lvl1pPr algn="l">
              <a:defRPr sz="1800" b="0">
                <a:solidFill>
                  <a:srgbClr val="203449"/>
                </a:solidFill>
              </a:defRPr>
            </a:lvl1pPr>
            <a:lvl2pPr algn="l">
              <a:defRPr sz="1800" b="0">
                <a:solidFill>
                  <a:srgbClr val="203449"/>
                </a:solidFill>
              </a:defRPr>
            </a:lvl2pPr>
            <a:lvl3pPr algn="l">
              <a:defRPr sz="1800" b="0">
                <a:solidFill>
                  <a:srgbClr val="203449"/>
                </a:solidFill>
              </a:defRPr>
            </a:lvl3pPr>
            <a:lvl4pPr algn="l">
              <a:defRPr sz="1800" b="0">
                <a:solidFill>
                  <a:srgbClr val="203449"/>
                </a:solidFill>
              </a:defRPr>
            </a:lvl4pPr>
            <a:lvl5pPr algn="l">
              <a:defRPr sz="1800" b="0">
                <a:solidFill>
                  <a:srgbClr val="203449"/>
                </a:solidFill>
              </a:defRPr>
            </a:lvl5pPr>
            <a:lvl6pPr algn="l">
              <a:defRPr sz="1800" b="0">
                <a:solidFill>
                  <a:srgbClr val="203449"/>
                </a:solidFill>
              </a:defRPr>
            </a:lvl6pPr>
            <a:lvl7pPr algn="l">
              <a:defRPr sz="1800" b="0">
                <a:solidFill>
                  <a:srgbClr val="203449"/>
                </a:solidFill>
              </a:defRPr>
            </a:lvl7pPr>
            <a:lvl8pPr algn="l">
              <a:defRPr sz="1800" b="0">
                <a:solidFill>
                  <a:srgbClr val="203449"/>
                </a:solidFill>
              </a:defRPr>
            </a:lvl8pPr>
            <a:lvl9pPr algn="l">
              <a:defRPr sz="1800" b="0">
                <a:solidFill>
                  <a:srgbClr val="203449"/>
                </a:solidFill>
              </a:defRPr>
            </a:lvl9pPr>
          </a:lstStyle>
          <a:p xmlns:a="http://schemas.openxmlformats.org/drawingml/2006/main">
            <a:pPr algn="l">
              <a:defRPr sz="1800" b="0">
                <a:solidFill>
                  <a:srgbClr val="203449"/>
                </a:solidFill>
              </a:defRPr>
            </a:pPr>
            <a:r>
              <a:rPr sz="1800" b="0">
                <a:solidFill>
                  <a:srgbClr val="203449"/>
                </a:solidFill>
              </a:rPr>
              <a:t>Inputs: packet loss rate, measured RTT relative to unloaded RTT, and queue occupancy.</a:t>
            </a:r>
          </a:p>
        </p:txBody>
      </p:sp>
      <p:sp>
        <p:nvSpPr>
          <p:cNvPr id="6" name="">
            <a:extLst xmlns:a="http://schemas.openxmlformats.org/drawingml/2006/main">
              <a:ext uri="{FF2B5EF4-FFF2-40B4-BE49-F238E27FC236}">
                <a16:creationId xmlns:a16="http://schemas.microsoft.com/office/drawing/2014/main" id="{656A365C-2E19-4BD8-9CD5-C2B5A4B72B00}"/>
              </a:ext>
            </a:extLst>
          </p:cNvPr>
          <p:cNvSpPr>
            <a:spLocks xmlns:a="http://schemas.openxmlformats.org/drawingml/2006/main" noGrp="1"/>
          </p:cNvSpPr>
          <p:nvPr/>
        </p:nvSpPr>
        <p:spPr>
          <a:xfrm xmlns:a="http://schemas.openxmlformats.org/drawingml/2006/main">
            <a:off x="838200" y="3314700"/>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0F9D8A"/>
                </a:solidFill>
              </a:defRPr>
            </a:defPPr>
            <a:lvl1pPr algn="l">
              <a:defRPr sz="1950" b="1">
                <a:solidFill>
                  <a:srgbClr val="0F9D8A"/>
                </a:solidFill>
              </a:defRPr>
            </a:lvl1pPr>
            <a:lvl2pPr algn="l">
              <a:defRPr sz="1950" b="1">
                <a:solidFill>
                  <a:srgbClr val="0F9D8A"/>
                </a:solidFill>
              </a:defRPr>
            </a:lvl2pPr>
            <a:lvl3pPr algn="l">
              <a:defRPr sz="1950" b="1">
                <a:solidFill>
                  <a:srgbClr val="0F9D8A"/>
                </a:solidFill>
              </a:defRPr>
            </a:lvl3pPr>
            <a:lvl4pPr algn="l">
              <a:defRPr sz="1950" b="1">
                <a:solidFill>
                  <a:srgbClr val="0F9D8A"/>
                </a:solidFill>
              </a:defRPr>
            </a:lvl4pPr>
            <a:lvl5pPr algn="l">
              <a:defRPr sz="1950" b="1">
                <a:solidFill>
                  <a:srgbClr val="0F9D8A"/>
                </a:solidFill>
              </a:defRPr>
            </a:lvl5pPr>
            <a:lvl6pPr algn="l">
              <a:defRPr sz="1950" b="1">
                <a:solidFill>
                  <a:srgbClr val="0F9D8A"/>
                </a:solidFill>
              </a:defRPr>
            </a:lvl6pPr>
            <a:lvl7pPr algn="l">
              <a:defRPr sz="1950" b="1">
                <a:solidFill>
                  <a:srgbClr val="0F9D8A"/>
                </a:solidFill>
              </a:defRPr>
            </a:lvl7pPr>
            <a:lvl8pPr algn="l">
              <a:defRPr sz="1950" b="1">
                <a:solidFill>
                  <a:srgbClr val="0F9D8A"/>
                </a:solidFill>
              </a:defRPr>
            </a:lvl8pPr>
            <a:lvl9pPr algn="l">
              <a:defRPr sz="1950" b="1">
                <a:solidFill>
                  <a:srgbClr val="0F9D8A"/>
                </a:solidFill>
              </a:defRPr>
            </a:lvl9pPr>
          </a:lstStyle>
          <a:p xmlns:a="http://schemas.openxmlformats.org/drawingml/2006/main">
            <a:pPr algn="l">
              <a:defRPr sz="1950" b="1">
                <a:solidFill>
                  <a:srgbClr val="0F9D8A"/>
                </a:solidFill>
              </a:defRPr>
            </a:pPr>
            <a:r>
              <a:rPr sz="1950" b="1">
                <a:solidFill>
                  <a:srgbClr val="0F9D8A"/>
                </a:solidFill>
              </a:rPr>
              <a:t>•</a:t>
            </a:r>
          </a:p>
        </p:txBody>
      </p:sp>
      <p:sp>
        <p:nvSpPr>
          <p:cNvPr id="7" name="">
            <a:extLst xmlns:a="http://schemas.openxmlformats.org/drawingml/2006/main">
              <a:ext uri="{FF2B5EF4-FFF2-40B4-BE49-F238E27FC236}">
                <a16:creationId xmlns:a16="http://schemas.microsoft.com/office/drawing/2014/main" id="{90841929-BFA9-4C51-ADF0-CA94EC08725A}"/>
              </a:ext>
            </a:extLst>
          </p:cNvPr>
          <p:cNvSpPr>
            <a:spLocks xmlns:a="http://schemas.openxmlformats.org/drawingml/2006/main" noGrp="1"/>
          </p:cNvSpPr>
          <p:nvPr/>
        </p:nvSpPr>
        <p:spPr>
          <a:xfrm xmlns:a="http://schemas.openxmlformats.org/drawingml/2006/main">
            <a:off x="1162050" y="3314700"/>
            <a:ext cx="99631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03449"/>
                </a:solidFill>
              </a:defRPr>
            </a:defPPr>
            <a:lvl1pPr algn="l">
              <a:defRPr sz="1800" b="0">
                <a:solidFill>
                  <a:srgbClr val="203449"/>
                </a:solidFill>
              </a:defRPr>
            </a:lvl1pPr>
            <a:lvl2pPr algn="l">
              <a:defRPr sz="1800" b="0">
                <a:solidFill>
                  <a:srgbClr val="203449"/>
                </a:solidFill>
              </a:defRPr>
            </a:lvl2pPr>
            <a:lvl3pPr algn="l">
              <a:defRPr sz="1800" b="0">
                <a:solidFill>
                  <a:srgbClr val="203449"/>
                </a:solidFill>
              </a:defRPr>
            </a:lvl3pPr>
            <a:lvl4pPr algn="l">
              <a:defRPr sz="1800" b="0">
                <a:solidFill>
                  <a:srgbClr val="203449"/>
                </a:solidFill>
              </a:defRPr>
            </a:lvl4pPr>
            <a:lvl5pPr algn="l">
              <a:defRPr sz="1800" b="0">
                <a:solidFill>
                  <a:srgbClr val="203449"/>
                </a:solidFill>
              </a:defRPr>
            </a:lvl5pPr>
            <a:lvl6pPr algn="l">
              <a:defRPr sz="1800" b="0">
                <a:solidFill>
                  <a:srgbClr val="203449"/>
                </a:solidFill>
              </a:defRPr>
            </a:lvl6pPr>
            <a:lvl7pPr algn="l">
              <a:defRPr sz="1800" b="0">
                <a:solidFill>
                  <a:srgbClr val="203449"/>
                </a:solidFill>
              </a:defRPr>
            </a:lvl7pPr>
            <a:lvl8pPr algn="l">
              <a:defRPr sz="1800" b="0">
                <a:solidFill>
                  <a:srgbClr val="203449"/>
                </a:solidFill>
              </a:defRPr>
            </a:lvl8pPr>
            <a:lvl9pPr algn="l">
              <a:defRPr sz="1800" b="0">
                <a:solidFill>
                  <a:srgbClr val="203449"/>
                </a:solidFill>
              </a:defRPr>
            </a:lvl9pPr>
          </a:lstStyle>
          <a:p xmlns:a="http://schemas.openxmlformats.org/drawingml/2006/main">
            <a:pPr algn="l">
              <a:defRPr sz="1800" b="0">
                <a:solidFill>
                  <a:srgbClr val="203449"/>
                </a:solidFill>
              </a:defRPr>
            </a:pPr>
            <a:r>
              <a:rPr sz="1800" b="0">
                <a:solidFill>
                  <a:srgbClr val="203449"/>
                </a:solidFill>
              </a:rPr>
              <a:t>AI controller: custom PPO maps loss, delay inflation, and queue state to sender-rate actions.</a:t>
            </a:r>
          </a:p>
        </p:txBody>
      </p:sp>
      <p:sp>
        <p:nvSpPr>
          <p:cNvPr id="8" name="">
            <a:extLst xmlns:a="http://schemas.openxmlformats.org/drawingml/2006/main">
              <a:ext uri="{FF2B5EF4-FFF2-40B4-BE49-F238E27FC236}">
                <a16:creationId xmlns:a16="http://schemas.microsoft.com/office/drawing/2014/main" id="{A55B4C28-BEBA-4F8B-93C1-7B056F1FEAFB}"/>
              </a:ext>
            </a:extLst>
          </p:cNvPr>
          <p:cNvSpPr>
            <a:spLocks xmlns:a="http://schemas.openxmlformats.org/drawingml/2006/main" noGrp="1"/>
          </p:cNvSpPr>
          <p:nvPr/>
        </p:nvSpPr>
        <p:spPr>
          <a:xfrm xmlns:a="http://schemas.openxmlformats.org/drawingml/2006/main">
            <a:off x="838200" y="401002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0F9D8A"/>
                </a:solidFill>
              </a:defRPr>
            </a:defPPr>
            <a:lvl1pPr algn="l">
              <a:defRPr sz="1950" b="1">
                <a:solidFill>
                  <a:srgbClr val="0F9D8A"/>
                </a:solidFill>
              </a:defRPr>
            </a:lvl1pPr>
            <a:lvl2pPr algn="l">
              <a:defRPr sz="1950" b="1">
                <a:solidFill>
                  <a:srgbClr val="0F9D8A"/>
                </a:solidFill>
              </a:defRPr>
            </a:lvl2pPr>
            <a:lvl3pPr algn="l">
              <a:defRPr sz="1950" b="1">
                <a:solidFill>
                  <a:srgbClr val="0F9D8A"/>
                </a:solidFill>
              </a:defRPr>
            </a:lvl3pPr>
            <a:lvl4pPr algn="l">
              <a:defRPr sz="1950" b="1">
                <a:solidFill>
                  <a:srgbClr val="0F9D8A"/>
                </a:solidFill>
              </a:defRPr>
            </a:lvl4pPr>
            <a:lvl5pPr algn="l">
              <a:defRPr sz="1950" b="1">
                <a:solidFill>
                  <a:srgbClr val="0F9D8A"/>
                </a:solidFill>
              </a:defRPr>
            </a:lvl5pPr>
            <a:lvl6pPr algn="l">
              <a:defRPr sz="1950" b="1">
                <a:solidFill>
                  <a:srgbClr val="0F9D8A"/>
                </a:solidFill>
              </a:defRPr>
            </a:lvl6pPr>
            <a:lvl7pPr algn="l">
              <a:defRPr sz="1950" b="1">
                <a:solidFill>
                  <a:srgbClr val="0F9D8A"/>
                </a:solidFill>
              </a:defRPr>
            </a:lvl7pPr>
            <a:lvl8pPr algn="l">
              <a:defRPr sz="1950" b="1">
                <a:solidFill>
                  <a:srgbClr val="0F9D8A"/>
                </a:solidFill>
              </a:defRPr>
            </a:lvl8pPr>
            <a:lvl9pPr algn="l">
              <a:defRPr sz="1950" b="1">
                <a:solidFill>
                  <a:srgbClr val="0F9D8A"/>
                </a:solidFill>
              </a:defRPr>
            </a:lvl9pPr>
          </a:lstStyle>
          <a:p xmlns:a="http://schemas.openxmlformats.org/drawingml/2006/main">
            <a:pPr algn="l">
              <a:defRPr sz="1950" b="1">
                <a:solidFill>
                  <a:srgbClr val="0F9D8A"/>
                </a:solidFill>
              </a:defRPr>
            </a:pPr>
            <a:r>
              <a:rPr sz="1950" b="1">
                <a:solidFill>
                  <a:srgbClr val="0F9D8A"/>
                </a:solidFill>
              </a:rPr>
              <a:t>•</a:t>
            </a:r>
          </a:p>
        </p:txBody>
      </p:sp>
      <p:sp>
        <p:nvSpPr>
          <p:cNvPr id="9" name="">
            <a:extLst xmlns:a="http://schemas.openxmlformats.org/drawingml/2006/main">
              <a:ext uri="{FF2B5EF4-FFF2-40B4-BE49-F238E27FC236}">
                <a16:creationId xmlns:a16="http://schemas.microsoft.com/office/drawing/2014/main" id="{B77DEAF9-00CF-4608-8F0E-07EB359CF9BA}"/>
              </a:ext>
            </a:extLst>
          </p:cNvPr>
          <p:cNvSpPr>
            <a:spLocks xmlns:a="http://schemas.openxmlformats.org/drawingml/2006/main" noGrp="1"/>
          </p:cNvSpPr>
          <p:nvPr/>
        </p:nvSpPr>
        <p:spPr>
          <a:xfrm xmlns:a="http://schemas.openxmlformats.org/drawingml/2006/main">
            <a:off x="1162050" y="4010025"/>
            <a:ext cx="99631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03449"/>
                </a:solidFill>
              </a:defRPr>
            </a:defPPr>
            <a:lvl1pPr algn="l">
              <a:defRPr sz="1800" b="0">
                <a:solidFill>
                  <a:srgbClr val="203449"/>
                </a:solidFill>
              </a:defRPr>
            </a:lvl1pPr>
            <a:lvl2pPr algn="l">
              <a:defRPr sz="1800" b="0">
                <a:solidFill>
                  <a:srgbClr val="203449"/>
                </a:solidFill>
              </a:defRPr>
            </a:lvl2pPr>
            <a:lvl3pPr algn="l">
              <a:defRPr sz="1800" b="0">
                <a:solidFill>
                  <a:srgbClr val="203449"/>
                </a:solidFill>
              </a:defRPr>
            </a:lvl3pPr>
            <a:lvl4pPr algn="l">
              <a:defRPr sz="1800" b="0">
                <a:solidFill>
                  <a:srgbClr val="203449"/>
                </a:solidFill>
              </a:defRPr>
            </a:lvl4pPr>
            <a:lvl5pPr algn="l">
              <a:defRPr sz="1800" b="0">
                <a:solidFill>
                  <a:srgbClr val="203449"/>
                </a:solidFill>
              </a:defRPr>
            </a:lvl5pPr>
            <a:lvl6pPr algn="l">
              <a:defRPr sz="1800" b="0">
                <a:solidFill>
                  <a:srgbClr val="203449"/>
                </a:solidFill>
              </a:defRPr>
            </a:lvl6pPr>
            <a:lvl7pPr algn="l">
              <a:defRPr sz="1800" b="0">
                <a:solidFill>
                  <a:srgbClr val="203449"/>
                </a:solidFill>
              </a:defRPr>
            </a:lvl7pPr>
            <a:lvl8pPr algn="l">
              <a:defRPr sz="1800" b="0">
                <a:solidFill>
                  <a:srgbClr val="203449"/>
                </a:solidFill>
              </a:defRPr>
            </a:lvl8pPr>
            <a:lvl9pPr algn="l">
              <a:defRPr sz="1800" b="0">
                <a:solidFill>
                  <a:srgbClr val="203449"/>
                </a:solidFill>
              </a:defRPr>
            </a:lvl9pPr>
          </a:lstStyle>
          <a:p xmlns:a="http://schemas.openxmlformats.org/drawingml/2006/main">
            <a:pPr algn="l">
              <a:defRPr sz="1800" b="0">
                <a:solidFill>
                  <a:srgbClr val="203449"/>
                </a:solidFill>
              </a:defRPr>
            </a:pPr>
            <a:r>
              <a:rPr sz="1800" b="0">
                <a:solidFill>
                  <a:srgbClr val="203449"/>
                </a:solidFill>
              </a:rPr>
              <a:t>Comparison: learned policy, hand-designed rule heuristic, and simplified Reno-style AIMD share retransmission logic.</a:t>
            </a:r>
          </a:p>
        </p:txBody>
      </p:sp>
      <p:sp>
        <p:nvSpPr>
          <p:cNvPr id="10" name="">
            <a:extLst xmlns:a="http://schemas.openxmlformats.org/drawingml/2006/main">
              <a:ext uri="{FF2B5EF4-FFF2-40B4-BE49-F238E27FC236}">
                <a16:creationId xmlns:a16="http://schemas.microsoft.com/office/drawing/2014/main" id="{6E88499C-7382-4DB7-9128-23A08927F967}"/>
              </a:ext>
            </a:extLst>
          </p:cNvPr>
          <p:cNvSpPr>
            <a:spLocks xmlns:a="http://schemas.openxmlformats.org/drawingml/2006/main" noGrp="1"/>
          </p:cNvSpPr>
          <p:nvPr/>
        </p:nvSpPr>
        <p:spPr>
          <a:xfrm xmlns:a="http://schemas.openxmlformats.org/drawingml/2006/main">
            <a:off x="838200" y="4705350"/>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0F9D8A"/>
                </a:solidFill>
              </a:defRPr>
            </a:defPPr>
            <a:lvl1pPr algn="l">
              <a:defRPr sz="1950" b="1">
                <a:solidFill>
                  <a:srgbClr val="0F9D8A"/>
                </a:solidFill>
              </a:defRPr>
            </a:lvl1pPr>
            <a:lvl2pPr algn="l">
              <a:defRPr sz="1950" b="1">
                <a:solidFill>
                  <a:srgbClr val="0F9D8A"/>
                </a:solidFill>
              </a:defRPr>
            </a:lvl2pPr>
            <a:lvl3pPr algn="l">
              <a:defRPr sz="1950" b="1">
                <a:solidFill>
                  <a:srgbClr val="0F9D8A"/>
                </a:solidFill>
              </a:defRPr>
            </a:lvl3pPr>
            <a:lvl4pPr algn="l">
              <a:defRPr sz="1950" b="1">
                <a:solidFill>
                  <a:srgbClr val="0F9D8A"/>
                </a:solidFill>
              </a:defRPr>
            </a:lvl4pPr>
            <a:lvl5pPr algn="l">
              <a:defRPr sz="1950" b="1">
                <a:solidFill>
                  <a:srgbClr val="0F9D8A"/>
                </a:solidFill>
              </a:defRPr>
            </a:lvl5pPr>
            <a:lvl6pPr algn="l">
              <a:defRPr sz="1950" b="1">
                <a:solidFill>
                  <a:srgbClr val="0F9D8A"/>
                </a:solidFill>
              </a:defRPr>
            </a:lvl6pPr>
            <a:lvl7pPr algn="l">
              <a:defRPr sz="1950" b="1">
                <a:solidFill>
                  <a:srgbClr val="0F9D8A"/>
                </a:solidFill>
              </a:defRPr>
            </a:lvl7pPr>
            <a:lvl8pPr algn="l">
              <a:defRPr sz="1950" b="1">
                <a:solidFill>
                  <a:srgbClr val="0F9D8A"/>
                </a:solidFill>
              </a:defRPr>
            </a:lvl8pPr>
            <a:lvl9pPr algn="l">
              <a:defRPr sz="1950" b="1">
                <a:solidFill>
                  <a:srgbClr val="0F9D8A"/>
                </a:solidFill>
              </a:defRPr>
            </a:lvl9pPr>
          </a:lstStyle>
          <a:p xmlns:a="http://schemas.openxmlformats.org/drawingml/2006/main">
            <a:pPr algn="l">
              <a:defRPr sz="1950" b="1">
                <a:solidFill>
                  <a:srgbClr val="0F9D8A"/>
                </a:solidFill>
              </a:defRPr>
            </a:pPr>
            <a:r>
              <a:rPr sz="1950" b="1">
                <a:solidFill>
                  <a:srgbClr val="0F9D8A"/>
                </a:solidFill>
              </a:rPr>
              <a:t>•</a:t>
            </a:r>
          </a:p>
        </p:txBody>
      </p:sp>
      <p:sp>
        <p:nvSpPr>
          <p:cNvPr id="11" name="">
            <a:extLst xmlns:a="http://schemas.openxmlformats.org/drawingml/2006/main">
              <a:ext uri="{FF2B5EF4-FFF2-40B4-BE49-F238E27FC236}">
                <a16:creationId xmlns:a16="http://schemas.microsoft.com/office/drawing/2014/main" id="{E80117C1-4340-4892-8A42-58C60B6B31CB}"/>
              </a:ext>
            </a:extLst>
          </p:cNvPr>
          <p:cNvSpPr>
            <a:spLocks xmlns:a="http://schemas.openxmlformats.org/drawingml/2006/main" noGrp="1"/>
          </p:cNvSpPr>
          <p:nvPr/>
        </p:nvSpPr>
        <p:spPr>
          <a:xfrm xmlns:a="http://schemas.openxmlformats.org/drawingml/2006/main">
            <a:off x="1162050" y="4705350"/>
            <a:ext cx="99631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03449"/>
                </a:solidFill>
              </a:defRPr>
            </a:defPPr>
            <a:lvl1pPr algn="l">
              <a:defRPr sz="1800" b="0">
                <a:solidFill>
                  <a:srgbClr val="203449"/>
                </a:solidFill>
              </a:defRPr>
            </a:lvl1pPr>
            <a:lvl2pPr algn="l">
              <a:defRPr sz="1800" b="0">
                <a:solidFill>
                  <a:srgbClr val="203449"/>
                </a:solidFill>
              </a:defRPr>
            </a:lvl2pPr>
            <a:lvl3pPr algn="l">
              <a:defRPr sz="1800" b="0">
                <a:solidFill>
                  <a:srgbClr val="203449"/>
                </a:solidFill>
              </a:defRPr>
            </a:lvl3pPr>
            <a:lvl4pPr algn="l">
              <a:defRPr sz="1800" b="0">
                <a:solidFill>
                  <a:srgbClr val="203449"/>
                </a:solidFill>
              </a:defRPr>
            </a:lvl4pPr>
            <a:lvl5pPr algn="l">
              <a:defRPr sz="1800" b="0">
                <a:solidFill>
                  <a:srgbClr val="203449"/>
                </a:solidFill>
              </a:defRPr>
            </a:lvl5pPr>
            <a:lvl6pPr algn="l">
              <a:defRPr sz="1800" b="0">
                <a:solidFill>
                  <a:srgbClr val="203449"/>
                </a:solidFill>
              </a:defRPr>
            </a:lvl6pPr>
            <a:lvl7pPr algn="l">
              <a:defRPr sz="1800" b="0">
                <a:solidFill>
                  <a:srgbClr val="203449"/>
                </a:solidFill>
              </a:defRPr>
            </a:lvl7pPr>
            <a:lvl8pPr algn="l">
              <a:defRPr sz="1800" b="0">
                <a:solidFill>
                  <a:srgbClr val="203449"/>
                </a:solidFill>
              </a:defRPr>
            </a:lvl8pPr>
            <a:lvl9pPr algn="l">
              <a:defRPr sz="1800" b="0">
                <a:solidFill>
                  <a:srgbClr val="203449"/>
                </a:solidFill>
              </a:defRPr>
            </a:lvl9pPr>
          </a:lstStyle>
          <a:p xmlns:a="http://schemas.openxmlformats.org/drawingml/2006/main">
            <a:pPr algn="l">
              <a:defRPr sz="1800" b="0">
                <a:solidFill>
                  <a:srgbClr val="203449"/>
                </a:solidFill>
              </a:defRPr>
            </a:pPr>
            <a:r>
              <a:rPr sz="1800" b="0">
                <a:solidFill>
                  <a:srgbClr val="203449"/>
                </a:solidFill>
              </a:rPr>
              <a:t>Boundary: one flow and one FIFO bottleneck in a discrete-time Python simulator; no physical-network claim.</a:t>
            </a:r>
          </a:p>
        </p:txBody>
      </p:sp>
    </p:spTree>
    <p:extLst>
      <p:ext uri="{BB962C8B-B14F-4D97-AF65-F5344CB8AC3E}">
        <p14:creationId xmlns:p14="http://schemas.microsoft.com/office/powerpoint/2010/main" val="981066394"/>
      </p:ext>
    </p:extLst>
  </p:cSld>
</p:sld>
</file>

<file path=ppt/slides/slide3.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F9A9F3E-1E48-483B-A6B6-8E541DB4590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prstDash val="solid"/>
          </a:ln>
        </p:spPr>
      </p:sp>
      <p:sp>
        <p:nvSpPr>
          <p:cNvPr id="2" name="">
            <a:extLst xmlns:a="http://schemas.openxmlformats.org/drawingml/2006/main">
              <a:ext uri="{FF2B5EF4-FFF2-40B4-BE49-F238E27FC236}">
                <a16:creationId xmlns:a16="http://schemas.microsoft.com/office/drawing/2014/main" id="{81BBA772-8BA5-48D5-AB86-60C6BF6F8FFD}"/>
              </a:ext>
            </a:extLst>
          </p:cNvPr>
          <p:cNvSpPr>
            <a:spLocks xmlns:a="http://schemas.openxmlformats.org/drawingml/2006/main" noGrp="1"/>
          </p:cNvSpPr>
          <p:nvPr/>
        </p:nvSpPr>
        <p:spPr>
          <a:xfrm xmlns:a="http://schemas.openxmlformats.org/drawingml/2006/main">
            <a:off x="685800" y="3810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7324D"/>
                </a:solidFill>
              </a:defRPr>
            </a:defPPr>
            <a:lvl1pPr algn="l">
              <a:defRPr sz="3300" b="1">
                <a:solidFill>
                  <a:srgbClr val="17324D"/>
                </a:solidFill>
              </a:defRPr>
            </a:lvl1pPr>
            <a:lvl2pPr algn="l">
              <a:defRPr sz="3300" b="1">
                <a:solidFill>
                  <a:srgbClr val="17324D"/>
                </a:solidFill>
              </a:defRPr>
            </a:lvl2pPr>
            <a:lvl3pPr algn="l">
              <a:defRPr sz="3300" b="1">
                <a:solidFill>
                  <a:srgbClr val="17324D"/>
                </a:solidFill>
              </a:defRPr>
            </a:lvl3pPr>
            <a:lvl4pPr algn="l">
              <a:defRPr sz="3300" b="1">
                <a:solidFill>
                  <a:srgbClr val="17324D"/>
                </a:solidFill>
              </a:defRPr>
            </a:lvl4pPr>
            <a:lvl5pPr algn="l">
              <a:defRPr sz="3300" b="1">
                <a:solidFill>
                  <a:srgbClr val="17324D"/>
                </a:solidFill>
              </a:defRPr>
            </a:lvl5pPr>
            <a:lvl6pPr algn="l">
              <a:defRPr sz="3300" b="1">
                <a:solidFill>
                  <a:srgbClr val="17324D"/>
                </a:solidFill>
              </a:defRPr>
            </a:lvl6pPr>
            <a:lvl7pPr algn="l">
              <a:defRPr sz="3300" b="1">
                <a:solidFill>
                  <a:srgbClr val="17324D"/>
                </a:solidFill>
              </a:defRPr>
            </a:lvl7pPr>
            <a:lvl8pPr algn="l">
              <a:defRPr sz="3300" b="1">
                <a:solidFill>
                  <a:srgbClr val="17324D"/>
                </a:solidFill>
              </a:defRPr>
            </a:lvl8pPr>
            <a:lvl9pPr algn="l">
              <a:defRPr sz="3300" b="1">
                <a:solidFill>
                  <a:srgbClr val="17324D"/>
                </a:solidFill>
              </a:defRPr>
            </a:lvl9pPr>
          </a:lstStyle>
          <a:p xmlns:a="http://schemas.openxmlformats.org/drawingml/2006/main">
            <a:pPr algn="l">
              <a:defRPr sz="3300" b="1">
                <a:solidFill>
                  <a:srgbClr val="17324D"/>
                </a:solidFill>
              </a:defRPr>
            </a:pPr>
            <a:r>
              <a:rPr sz="3300" b="1">
                <a:solidFill>
                  <a:srgbClr val="17324D"/>
                </a:solidFill>
              </a:rPr>
              <a:t>Simulation architecture</a:t>
            </a:r>
          </a:p>
        </p:txBody>
      </p:sp>
      <p:sp>
        <p:nvSpPr>
          <p:cNvPr id="3" name="">
            <a:extLst xmlns:a="http://schemas.openxmlformats.org/drawingml/2006/main">
              <a:ext uri="{FF2B5EF4-FFF2-40B4-BE49-F238E27FC236}">
                <a16:creationId xmlns:a16="http://schemas.microsoft.com/office/drawing/2014/main" id="{D598CF21-5F7D-4B1B-A7C7-D5B51EEB8697}"/>
              </a:ext>
            </a:extLst>
          </p:cNvPr>
          <p:cNvSpPr>
            <a:spLocks xmlns:a="http://schemas.openxmlformats.org/drawingml/2006/main" noGrp="1"/>
          </p:cNvSpPr>
          <p:nvPr/>
        </p:nvSpPr>
        <p:spPr>
          <a:xfrm xmlns:a="http://schemas.openxmlformats.org/drawingml/2006/main">
            <a:off x="704850" y="10096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C6B7A"/>
                </a:solidFill>
              </a:defRPr>
            </a:defPPr>
            <a:lvl1pPr algn="l">
              <a:defRPr sz="1575" b="0">
                <a:solidFill>
                  <a:srgbClr val="5C6B7A"/>
                </a:solidFill>
              </a:defRPr>
            </a:lvl1pPr>
            <a:lvl2pPr algn="l">
              <a:defRPr sz="1575" b="0">
                <a:solidFill>
                  <a:srgbClr val="5C6B7A"/>
                </a:solidFill>
              </a:defRPr>
            </a:lvl2pPr>
            <a:lvl3pPr algn="l">
              <a:defRPr sz="1575" b="0">
                <a:solidFill>
                  <a:srgbClr val="5C6B7A"/>
                </a:solidFill>
              </a:defRPr>
            </a:lvl3pPr>
            <a:lvl4pPr algn="l">
              <a:defRPr sz="1575" b="0">
                <a:solidFill>
                  <a:srgbClr val="5C6B7A"/>
                </a:solidFill>
              </a:defRPr>
            </a:lvl4pPr>
            <a:lvl5pPr algn="l">
              <a:defRPr sz="1575" b="0">
                <a:solidFill>
                  <a:srgbClr val="5C6B7A"/>
                </a:solidFill>
              </a:defRPr>
            </a:lvl5pPr>
            <a:lvl6pPr algn="l">
              <a:defRPr sz="1575" b="0">
                <a:solidFill>
                  <a:srgbClr val="5C6B7A"/>
                </a:solidFill>
              </a:defRPr>
            </a:lvl6pPr>
            <a:lvl7pPr algn="l">
              <a:defRPr sz="1575" b="0">
                <a:solidFill>
                  <a:srgbClr val="5C6B7A"/>
                </a:solidFill>
              </a:defRPr>
            </a:lvl7pPr>
            <a:lvl8pPr algn="l">
              <a:defRPr sz="1575" b="0">
                <a:solidFill>
                  <a:srgbClr val="5C6B7A"/>
                </a:solidFill>
              </a:defRPr>
            </a:lvl8pPr>
            <a:lvl9pPr algn="l">
              <a:defRPr sz="1575" b="0">
                <a:solidFill>
                  <a:srgbClr val="5C6B7A"/>
                </a:solidFill>
              </a:defRPr>
            </a:lvl9pPr>
          </a:lstStyle>
          <a:p xmlns:a="http://schemas.openxmlformats.org/drawingml/2006/main">
            <a:pPr algn="l">
              <a:defRPr sz="1575" b="0">
                <a:solidFill>
                  <a:srgbClr val="5C6B7A"/>
                </a:solidFill>
              </a:defRPr>
            </a:pPr>
            <a:r>
              <a:rPr sz="1575" b="0">
                <a:solidFill>
                  <a:srgbClr val="5C6B7A"/>
                </a:solidFill>
              </a:rPr>
              <a:t>One end-to-end transfer loop shared by both sender modes</a:t>
            </a:r>
          </a:p>
        </p:txBody>
      </p:sp>
      <p:sp>
        <p:nvSpPr>
          <p:cNvPr id="4" name="">
            <a:extLst xmlns:a="http://schemas.openxmlformats.org/drawingml/2006/main">
              <a:ext uri="{FF2B5EF4-FFF2-40B4-BE49-F238E27FC236}">
                <a16:creationId xmlns:a16="http://schemas.microsoft.com/office/drawing/2014/main" id="{26D381D5-DADA-4ED1-B029-5E7F266202A4}"/>
              </a:ext>
            </a:extLst>
          </p:cNvPr>
          <p:cNvSpPr>
            <a:spLocks xmlns:a="http://schemas.openxmlformats.org/drawingml/2006/main" noGrp="1"/>
          </p:cNvSpPr>
          <p:nvPr/>
        </p:nvSpPr>
        <p:spPr>
          <a:xfrm xmlns:a="http://schemas.openxmlformats.org/drawingml/2006/main">
            <a:off x="685800" y="2209800"/>
            <a:ext cx="2190750" cy="15811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8"/>
            </a:solidFill>
            <a:prstDash val="solid"/>
          </a:ln>
        </p:spPr>
      </p:sp>
      <p:sp>
        <p:nvSpPr>
          <p:cNvPr id="5" name="">
            <a:extLst xmlns:a="http://schemas.openxmlformats.org/drawingml/2006/main">
              <a:ext uri="{FF2B5EF4-FFF2-40B4-BE49-F238E27FC236}">
                <a16:creationId xmlns:a16="http://schemas.microsoft.com/office/drawing/2014/main" id="{7BBAC5BE-77BB-4B46-A317-CC2B6C2F982C}"/>
              </a:ext>
            </a:extLst>
          </p:cNvPr>
          <p:cNvSpPr>
            <a:spLocks xmlns:a="http://schemas.openxmlformats.org/drawingml/2006/main" noGrp="1"/>
          </p:cNvSpPr>
          <p:nvPr/>
        </p:nvSpPr>
        <p:spPr>
          <a:xfrm xmlns:a="http://schemas.openxmlformats.org/drawingml/2006/main">
            <a:off x="857250" y="2400300"/>
            <a:ext cx="184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17324D"/>
                </a:solidFill>
              </a:defRPr>
            </a:defPPr>
            <a:lvl1pPr algn="ctr">
              <a:defRPr sz="1950" b="1">
                <a:solidFill>
                  <a:srgbClr val="17324D"/>
                </a:solidFill>
              </a:defRPr>
            </a:lvl1pPr>
            <a:lvl2pPr algn="ctr">
              <a:defRPr sz="1950" b="1">
                <a:solidFill>
                  <a:srgbClr val="17324D"/>
                </a:solidFill>
              </a:defRPr>
            </a:lvl2pPr>
            <a:lvl3pPr algn="ctr">
              <a:defRPr sz="1950" b="1">
                <a:solidFill>
                  <a:srgbClr val="17324D"/>
                </a:solidFill>
              </a:defRPr>
            </a:lvl3pPr>
            <a:lvl4pPr algn="ctr">
              <a:defRPr sz="1950" b="1">
                <a:solidFill>
                  <a:srgbClr val="17324D"/>
                </a:solidFill>
              </a:defRPr>
            </a:lvl4pPr>
            <a:lvl5pPr algn="ctr">
              <a:defRPr sz="1950" b="1">
                <a:solidFill>
                  <a:srgbClr val="17324D"/>
                </a:solidFill>
              </a:defRPr>
            </a:lvl5pPr>
            <a:lvl6pPr algn="ctr">
              <a:defRPr sz="1950" b="1">
                <a:solidFill>
                  <a:srgbClr val="17324D"/>
                </a:solidFill>
              </a:defRPr>
            </a:lvl6pPr>
            <a:lvl7pPr algn="ctr">
              <a:defRPr sz="1950" b="1">
                <a:solidFill>
                  <a:srgbClr val="17324D"/>
                </a:solidFill>
              </a:defRPr>
            </a:lvl7pPr>
            <a:lvl8pPr algn="ctr">
              <a:defRPr sz="1950" b="1">
                <a:solidFill>
                  <a:srgbClr val="17324D"/>
                </a:solidFill>
              </a:defRPr>
            </a:lvl8pPr>
            <a:lvl9pPr algn="ctr">
              <a:defRPr sz="1950" b="1">
                <a:solidFill>
                  <a:srgbClr val="17324D"/>
                </a:solidFill>
              </a:defRPr>
            </a:lvl9pPr>
          </a:lstStyle>
          <a:p xmlns:a="http://schemas.openxmlformats.org/drawingml/2006/main">
            <a:pPr algn="ctr">
              <a:defRPr sz="1950" b="1">
                <a:solidFill>
                  <a:srgbClr val="17324D"/>
                </a:solidFill>
              </a:defRPr>
            </a:pPr>
            <a:r>
              <a:rPr sz="1950" b="1">
                <a:solidFill>
                  <a:srgbClr val="17324D"/>
                </a:solidFill>
              </a:rPr>
              <a:t>Sender</a:t>
            </a:r>
          </a:p>
        </p:txBody>
      </p:sp>
      <p:sp>
        <p:nvSpPr>
          <p:cNvPr id="6" name="">
            <a:extLst xmlns:a="http://schemas.openxmlformats.org/drawingml/2006/main">
              <a:ext uri="{FF2B5EF4-FFF2-40B4-BE49-F238E27FC236}">
                <a16:creationId xmlns:a16="http://schemas.microsoft.com/office/drawing/2014/main" id="{8ECAD3AB-D8C0-4D57-A473-D0FD83271581}"/>
              </a:ext>
            </a:extLst>
          </p:cNvPr>
          <p:cNvSpPr>
            <a:spLocks xmlns:a="http://schemas.openxmlformats.org/drawingml/2006/main" noGrp="1"/>
          </p:cNvSpPr>
          <p:nvPr/>
        </p:nvSpPr>
        <p:spPr>
          <a:xfrm xmlns:a="http://schemas.openxmlformats.org/drawingml/2006/main">
            <a:off x="838200" y="291465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0">
                <a:solidFill>
                  <a:srgbClr val="203449"/>
                </a:solidFill>
              </a:defRPr>
            </a:defPPr>
            <a:lvl1pPr algn="ctr">
              <a:defRPr sz="1575" b="0">
                <a:solidFill>
                  <a:srgbClr val="203449"/>
                </a:solidFill>
              </a:defRPr>
            </a:lvl1pPr>
            <a:lvl2pPr algn="ctr">
              <a:defRPr sz="1575" b="0">
                <a:solidFill>
                  <a:srgbClr val="203449"/>
                </a:solidFill>
              </a:defRPr>
            </a:lvl2pPr>
            <a:lvl3pPr algn="ctr">
              <a:defRPr sz="1575" b="0">
                <a:solidFill>
                  <a:srgbClr val="203449"/>
                </a:solidFill>
              </a:defRPr>
            </a:lvl3pPr>
            <a:lvl4pPr algn="ctr">
              <a:defRPr sz="1575" b="0">
                <a:solidFill>
                  <a:srgbClr val="203449"/>
                </a:solidFill>
              </a:defRPr>
            </a:lvl4pPr>
            <a:lvl5pPr algn="ctr">
              <a:defRPr sz="1575" b="0">
                <a:solidFill>
                  <a:srgbClr val="203449"/>
                </a:solidFill>
              </a:defRPr>
            </a:lvl5pPr>
            <a:lvl6pPr algn="ctr">
              <a:defRPr sz="1575" b="0">
                <a:solidFill>
                  <a:srgbClr val="203449"/>
                </a:solidFill>
              </a:defRPr>
            </a:lvl6pPr>
            <a:lvl7pPr algn="ctr">
              <a:defRPr sz="1575" b="0">
                <a:solidFill>
                  <a:srgbClr val="203449"/>
                </a:solidFill>
              </a:defRPr>
            </a:lvl7pPr>
            <a:lvl8pPr algn="ctr">
              <a:defRPr sz="1575" b="0">
                <a:solidFill>
                  <a:srgbClr val="203449"/>
                </a:solidFill>
              </a:defRPr>
            </a:lvl8pPr>
            <a:lvl9pPr algn="ctr">
              <a:defRPr sz="1575" b="0">
                <a:solidFill>
                  <a:srgbClr val="203449"/>
                </a:solidFill>
              </a:defRPr>
            </a:lvl9pPr>
          </a:lstStyle>
          <a:p xmlns:a="http://schemas.openxmlformats.org/drawingml/2006/main">
            <a:pPr algn="ctr">
              <a:defRPr sz="1575" b="0">
                <a:solidFill>
                  <a:srgbClr val="203449"/>
                </a:solidFill>
              </a:defRPr>
            </a:pPr>
            <a:r>
              <a:rPr sz="1575" b="0">
                <a:solidFill>
                  <a:srgbClr val="203449"/>
                </a:solidFill>
              </a:rPr>
              <a:t>New packets</a:t>
            </a:r>
          </a:p>
          <a:p xmlns:a="http://schemas.openxmlformats.org/drawingml/2006/main">
            <a:pPr algn="ctr">
              <a:defRPr sz="1575" b="0">
                <a:solidFill>
                  <a:srgbClr val="203449"/>
                </a:solidFill>
              </a:defRPr>
            </a:pPr>
            <a:r>
              <a:rPr sz="1575" b="0">
                <a:solidFill>
                  <a:srgbClr val="203449"/>
                </a:solidFill>
              </a:rPr>
              <a:t>+ retry queue</a:t>
            </a:r>
          </a:p>
        </p:txBody>
      </p:sp>
      <p:sp>
        <p:nvSpPr>
          <p:cNvPr id="7" name="">
            <a:extLst xmlns:a="http://schemas.openxmlformats.org/drawingml/2006/main">
              <a:ext uri="{FF2B5EF4-FFF2-40B4-BE49-F238E27FC236}">
                <a16:creationId xmlns:a16="http://schemas.microsoft.com/office/drawing/2014/main" id="{95A34390-CD84-471D-AABB-22297066801E}"/>
              </a:ext>
            </a:extLst>
          </p:cNvPr>
          <p:cNvSpPr>
            <a:spLocks xmlns:a="http://schemas.openxmlformats.org/drawingml/2006/main" noGrp="1"/>
          </p:cNvSpPr>
          <p:nvPr/>
        </p:nvSpPr>
        <p:spPr>
          <a:xfrm xmlns:a="http://schemas.openxmlformats.org/drawingml/2006/main">
            <a:off x="3390900" y="2209800"/>
            <a:ext cx="2343150" cy="15811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1C525C66-A041-42FB-A411-1233EEE82C5F}"/>
              </a:ext>
            </a:extLst>
          </p:cNvPr>
          <p:cNvSpPr>
            <a:spLocks xmlns:a="http://schemas.openxmlformats.org/drawingml/2006/main" noGrp="1"/>
          </p:cNvSpPr>
          <p:nvPr/>
        </p:nvSpPr>
        <p:spPr>
          <a:xfrm xmlns:a="http://schemas.openxmlformats.org/drawingml/2006/main">
            <a:off x="3562350" y="2400300"/>
            <a:ext cx="200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17324D"/>
                </a:solidFill>
              </a:defRPr>
            </a:defPPr>
            <a:lvl1pPr algn="ctr">
              <a:defRPr sz="1950" b="1">
                <a:solidFill>
                  <a:srgbClr val="17324D"/>
                </a:solidFill>
              </a:defRPr>
            </a:lvl1pPr>
            <a:lvl2pPr algn="ctr">
              <a:defRPr sz="1950" b="1">
                <a:solidFill>
                  <a:srgbClr val="17324D"/>
                </a:solidFill>
              </a:defRPr>
            </a:lvl2pPr>
            <a:lvl3pPr algn="ctr">
              <a:defRPr sz="1950" b="1">
                <a:solidFill>
                  <a:srgbClr val="17324D"/>
                </a:solidFill>
              </a:defRPr>
            </a:lvl3pPr>
            <a:lvl4pPr algn="ctr">
              <a:defRPr sz="1950" b="1">
                <a:solidFill>
                  <a:srgbClr val="17324D"/>
                </a:solidFill>
              </a:defRPr>
            </a:lvl4pPr>
            <a:lvl5pPr algn="ctr">
              <a:defRPr sz="1950" b="1">
                <a:solidFill>
                  <a:srgbClr val="17324D"/>
                </a:solidFill>
              </a:defRPr>
            </a:lvl5pPr>
            <a:lvl6pPr algn="ctr">
              <a:defRPr sz="1950" b="1">
                <a:solidFill>
                  <a:srgbClr val="17324D"/>
                </a:solidFill>
              </a:defRPr>
            </a:lvl6pPr>
            <a:lvl7pPr algn="ctr">
              <a:defRPr sz="1950" b="1">
                <a:solidFill>
                  <a:srgbClr val="17324D"/>
                </a:solidFill>
              </a:defRPr>
            </a:lvl7pPr>
            <a:lvl8pPr algn="ctr">
              <a:defRPr sz="1950" b="1">
                <a:solidFill>
                  <a:srgbClr val="17324D"/>
                </a:solidFill>
              </a:defRPr>
            </a:lvl8pPr>
            <a:lvl9pPr algn="ctr">
              <a:defRPr sz="1950" b="1">
                <a:solidFill>
                  <a:srgbClr val="17324D"/>
                </a:solidFill>
              </a:defRPr>
            </a:lvl9pPr>
          </a:lstStyle>
          <a:p xmlns:a="http://schemas.openxmlformats.org/drawingml/2006/main">
            <a:pPr algn="ctr">
              <a:defRPr sz="1950" b="1">
                <a:solidFill>
                  <a:srgbClr val="17324D"/>
                </a:solidFill>
              </a:defRPr>
            </a:pPr>
            <a:r>
              <a:rPr sz="1950" b="1">
                <a:solidFill>
                  <a:srgbClr val="17324D"/>
                </a:solidFill>
              </a:rPr>
              <a:t>Sender policy</a:t>
            </a:r>
          </a:p>
        </p:txBody>
      </p:sp>
      <p:sp>
        <p:nvSpPr>
          <p:cNvPr id="9" name="">
            <a:extLst xmlns:a="http://schemas.openxmlformats.org/drawingml/2006/main">
              <a:ext uri="{FF2B5EF4-FFF2-40B4-BE49-F238E27FC236}">
                <a16:creationId xmlns:a16="http://schemas.microsoft.com/office/drawing/2014/main" id="{CBBCD16D-D3BD-4986-9074-F386AEE9A5AA}"/>
              </a:ext>
            </a:extLst>
          </p:cNvPr>
          <p:cNvSpPr>
            <a:spLocks xmlns:a="http://schemas.openxmlformats.org/drawingml/2006/main" noGrp="1"/>
          </p:cNvSpPr>
          <p:nvPr/>
        </p:nvSpPr>
        <p:spPr>
          <a:xfrm xmlns:a="http://schemas.openxmlformats.org/drawingml/2006/main">
            <a:off x="3543300" y="2914650"/>
            <a:ext cx="20383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2593"/>
          </a:bodyPr>
          <a:lstStyle xmlns:a="http://schemas.openxmlformats.org/drawingml/2006/main">
            <a:defPPr algn="ctr">
              <a:defRPr sz="1575" b="0">
                <a:solidFill>
                  <a:srgbClr val="203449"/>
                </a:solidFill>
              </a:defRPr>
            </a:defPPr>
            <a:lvl1pPr algn="ctr">
              <a:defRPr sz="1575" b="0">
                <a:solidFill>
                  <a:srgbClr val="203449"/>
                </a:solidFill>
              </a:defRPr>
            </a:lvl1pPr>
            <a:lvl2pPr algn="ctr">
              <a:defRPr sz="1575" b="0">
                <a:solidFill>
                  <a:srgbClr val="203449"/>
                </a:solidFill>
              </a:defRPr>
            </a:lvl2pPr>
            <a:lvl3pPr algn="ctr">
              <a:defRPr sz="1575" b="0">
                <a:solidFill>
                  <a:srgbClr val="203449"/>
                </a:solidFill>
              </a:defRPr>
            </a:lvl3pPr>
            <a:lvl4pPr algn="ctr">
              <a:defRPr sz="1575" b="0">
                <a:solidFill>
                  <a:srgbClr val="203449"/>
                </a:solidFill>
              </a:defRPr>
            </a:lvl4pPr>
            <a:lvl5pPr algn="ctr">
              <a:defRPr sz="1575" b="0">
                <a:solidFill>
                  <a:srgbClr val="203449"/>
                </a:solidFill>
              </a:defRPr>
            </a:lvl5pPr>
            <a:lvl6pPr algn="ctr">
              <a:defRPr sz="1575" b="0">
                <a:solidFill>
                  <a:srgbClr val="203449"/>
                </a:solidFill>
              </a:defRPr>
            </a:lvl6pPr>
            <a:lvl7pPr algn="ctr">
              <a:defRPr sz="1575" b="0">
                <a:solidFill>
                  <a:srgbClr val="203449"/>
                </a:solidFill>
              </a:defRPr>
            </a:lvl7pPr>
            <a:lvl8pPr algn="ctr">
              <a:defRPr sz="1575" b="0">
                <a:solidFill>
                  <a:srgbClr val="203449"/>
                </a:solidFill>
              </a:defRPr>
            </a:lvl8pPr>
            <a:lvl9pPr algn="ctr">
              <a:defRPr sz="1575" b="0">
                <a:solidFill>
                  <a:srgbClr val="203449"/>
                </a:solidFill>
              </a:defRPr>
            </a:lvl9pPr>
          </a:lstStyle>
          <a:p xmlns:a="http://schemas.openxmlformats.org/drawingml/2006/main">
            <a:pPr algn="ctr">
              <a:defRPr sz="1575" b="0">
                <a:solidFill>
                  <a:srgbClr val="203449"/>
                </a:solidFill>
              </a:defRPr>
            </a:pPr>
            <a:r>
              <a:rPr sz="1575" b="0">
                <a:solidFill>
                  <a:srgbClr val="203449"/>
                </a:solidFill>
              </a:rPr>
              <a:t>Reno-style AIMD</a:t>
            </a:r>
          </a:p>
          <a:p xmlns:a="http://schemas.openxmlformats.org/drawingml/2006/main">
            <a:pPr algn="ctr">
              <a:defRPr sz="1575" b="0">
                <a:solidFill>
                  <a:srgbClr val="203449"/>
                </a:solidFill>
              </a:defRPr>
            </a:pPr>
            <a:r>
              <a:rPr sz="1575" b="0">
                <a:solidFill>
                  <a:srgbClr val="203449"/>
                </a:solidFill>
              </a:rPr>
              <a:t>rule heuristic</a:t>
            </a:r>
          </a:p>
          <a:p xmlns:a="http://schemas.openxmlformats.org/drawingml/2006/main">
            <a:pPr algn="ctr">
              <a:defRPr sz="1575" b="0">
                <a:solidFill>
                  <a:srgbClr val="203449"/>
                </a:solidFill>
              </a:defRPr>
            </a:pPr>
            <a:r>
              <a:rPr sz="1575" b="0">
                <a:solidFill>
                  <a:srgbClr val="203449"/>
                </a:solidFill>
              </a:rPr>
              <a:t>PPO actor-critic</a:t>
            </a:r>
          </a:p>
        </p:txBody>
      </p:sp>
      <p:sp>
        <p:nvSpPr>
          <p:cNvPr id="10" name="">
            <a:extLst xmlns:a="http://schemas.openxmlformats.org/drawingml/2006/main">
              <a:ext uri="{FF2B5EF4-FFF2-40B4-BE49-F238E27FC236}">
                <a16:creationId xmlns:a16="http://schemas.microsoft.com/office/drawing/2014/main" id="{678BFDC1-0C33-4344-B680-09141ECBA4C5}"/>
              </a:ext>
            </a:extLst>
          </p:cNvPr>
          <p:cNvSpPr>
            <a:spLocks xmlns:a="http://schemas.openxmlformats.org/drawingml/2006/main" noGrp="1"/>
          </p:cNvSpPr>
          <p:nvPr/>
        </p:nvSpPr>
        <p:spPr>
          <a:xfrm xmlns:a="http://schemas.openxmlformats.org/drawingml/2006/main">
            <a:off x="6286500" y="2209800"/>
            <a:ext cx="2428875" cy="15811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8"/>
            </a:solidFill>
            <a:prstDash val="solid"/>
          </a:ln>
        </p:spPr>
      </p:sp>
      <p:sp>
        <p:nvSpPr>
          <p:cNvPr id="11" name="">
            <a:extLst xmlns:a="http://schemas.openxmlformats.org/drawingml/2006/main">
              <a:ext uri="{FF2B5EF4-FFF2-40B4-BE49-F238E27FC236}">
                <a16:creationId xmlns:a16="http://schemas.microsoft.com/office/drawing/2014/main" id="{FC71907A-47DA-46FC-A85A-EA2F8B9C3123}"/>
              </a:ext>
            </a:extLst>
          </p:cNvPr>
          <p:cNvSpPr>
            <a:spLocks xmlns:a="http://schemas.openxmlformats.org/drawingml/2006/main" noGrp="1"/>
          </p:cNvSpPr>
          <p:nvPr/>
        </p:nvSpPr>
        <p:spPr>
          <a:xfrm xmlns:a="http://schemas.openxmlformats.org/drawingml/2006/main">
            <a:off x="6457950" y="2400300"/>
            <a:ext cx="208597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17324D"/>
                </a:solidFill>
              </a:defRPr>
            </a:defPPr>
            <a:lvl1pPr algn="ctr">
              <a:defRPr sz="1950" b="1">
                <a:solidFill>
                  <a:srgbClr val="17324D"/>
                </a:solidFill>
              </a:defRPr>
            </a:lvl1pPr>
            <a:lvl2pPr algn="ctr">
              <a:defRPr sz="1950" b="1">
                <a:solidFill>
                  <a:srgbClr val="17324D"/>
                </a:solidFill>
              </a:defRPr>
            </a:lvl2pPr>
            <a:lvl3pPr algn="ctr">
              <a:defRPr sz="1950" b="1">
                <a:solidFill>
                  <a:srgbClr val="17324D"/>
                </a:solidFill>
              </a:defRPr>
            </a:lvl3pPr>
            <a:lvl4pPr algn="ctr">
              <a:defRPr sz="1950" b="1">
                <a:solidFill>
                  <a:srgbClr val="17324D"/>
                </a:solidFill>
              </a:defRPr>
            </a:lvl4pPr>
            <a:lvl5pPr algn="ctr">
              <a:defRPr sz="1950" b="1">
                <a:solidFill>
                  <a:srgbClr val="17324D"/>
                </a:solidFill>
              </a:defRPr>
            </a:lvl5pPr>
            <a:lvl6pPr algn="ctr">
              <a:defRPr sz="1950" b="1">
                <a:solidFill>
                  <a:srgbClr val="17324D"/>
                </a:solidFill>
              </a:defRPr>
            </a:lvl6pPr>
            <a:lvl7pPr algn="ctr">
              <a:defRPr sz="1950" b="1">
                <a:solidFill>
                  <a:srgbClr val="17324D"/>
                </a:solidFill>
              </a:defRPr>
            </a:lvl7pPr>
            <a:lvl8pPr algn="ctr">
              <a:defRPr sz="1950" b="1">
                <a:solidFill>
                  <a:srgbClr val="17324D"/>
                </a:solidFill>
              </a:defRPr>
            </a:lvl8pPr>
            <a:lvl9pPr algn="ctr">
              <a:defRPr sz="1950" b="1">
                <a:solidFill>
                  <a:srgbClr val="17324D"/>
                </a:solidFill>
              </a:defRPr>
            </a:lvl9pPr>
          </a:lstStyle>
          <a:p xmlns:a="http://schemas.openxmlformats.org/drawingml/2006/main">
            <a:pPr algn="ctr">
              <a:defRPr sz="1950" b="1">
                <a:solidFill>
                  <a:srgbClr val="17324D"/>
                </a:solidFill>
              </a:defRPr>
            </a:pPr>
            <a:r>
              <a:rPr sz="1950" b="1">
                <a:solidFill>
                  <a:srgbClr val="17324D"/>
                </a:solidFill>
              </a:rPr>
              <a:t>FIFO bottleneck</a:t>
            </a:r>
          </a:p>
        </p:txBody>
      </p:sp>
      <p:sp>
        <p:nvSpPr>
          <p:cNvPr id="12" name="">
            <a:extLst xmlns:a="http://schemas.openxmlformats.org/drawingml/2006/main">
              <a:ext uri="{FF2B5EF4-FFF2-40B4-BE49-F238E27FC236}">
                <a16:creationId xmlns:a16="http://schemas.microsoft.com/office/drawing/2014/main" id="{E118B9AB-381C-42B1-BC19-6902C9C8F9CC}"/>
              </a:ext>
            </a:extLst>
          </p:cNvPr>
          <p:cNvSpPr>
            <a:spLocks xmlns:a="http://schemas.openxmlformats.org/drawingml/2006/main" noGrp="1"/>
          </p:cNvSpPr>
          <p:nvPr/>
        </p:nvSpPr>
        <p:spPr>
          <a:xfrm xmlns:a="http://schemas.openxmlformats.org/drawingml/2006/main">
            <a:off x="6438900" y="2914650"/>
            <a:ext cx="21240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260"/>
          </a:bodyPr>
          <a:lstStyle xmlns:a="http://schemas.openxmlformats.org/drawingml/2006/main">
            <a:defPPr algn="ctr">
              <a:defRPr sz="1575" b="0">
                <a:solidFill>
                  <a:srgbClr val="203449"/>
                </a:solidFill>
              </a:defRPr>
            </a:defPPr>
            <a:lvl1pPr algn="ctr">
              <a:defRPr sz="1575" b="0">
                <a:solidFill>
                  <a:srgbClr val="203449"/>
                </a:solidFill>
              </a:defRPr>
            </a:lvl1pPr>
            <a:lvl2pPr algn="ctr">
              <a:defRPr sz="1575" b="0">
                <a:solidFill>
                  <a:srgbClr val="203449"/>
                </a:solidFill>
              </a:defRPr>
            </a:lvl2pPr>
            <a:lvl3pPr algn="ctr">
              <a:defRPr sz="1575" b="0">
                <a:solidFill>
                  <a:srgbClr val="203449"/>
                </a:solidFill>
              </a:defRPr>
            </a:lvl3pPr>
            <a:lvl4pPr algn="ctr">
              <a:defRPr sz="1575" b="0">
                <a:solidFill>
                  <a:srgbClr val="203449"/>
                </a:solidFill>
              </a:defRPr>
            </a:lvl4pPr>
            <a:lvl5pPr algn="ctr">
              <a:defRPr sz="1575" b="0">
                <a:solidFill>
                  <a:srgbClr val="203449"/>
                </a:solidFill>
              </a:defRPr>
            </a:lvl5pPr>
            <a:lvl6pPr algn="ctr">
              <a:defRPr sz="1575" b="0">
                <a:solidFill>
                  <a:srgbClr val="203449"/>
                </a:solidFill>
              </a:defRPr>
            </a:lvl6pPr>
            <a:lvl7pPr algn="ctr">
              <a:defRPr sz="1575" b="0">
                <a:solidFill>
                  <a:srgbClr val="203449"/>
                </a:solidFill>
              </a:defRPr>
            </a:lvl7pPr>
            <a:lvl8pPr algn="ctr">
              <a:defRPr sz="1575" b="0">
                <a:solidFill>
                  <a:srgbClr val="203449"/>
                </a:solidFill>
              </a:defRPr>
            </a:lvl8pPr>
            <a:lvl9pPr algn="ctr">
              <a:defRPr sz="1575" b="0">
                <a:solidFill>
                  <a:srgbClr val="203449"/>
                </a:solidFill>
              </a:defRPr>
            </a:lvl9pPr>
          </a:lstStyle>
          <a:p xmlns:a="http://schemas.openxmlformats.org/drawingml/2006/main">
            <a:pPr algn="ctr">
              <a:defRPr sz="1575" b="0">
                <a:solidFill>
                  <a:srgbClr val="203449"/>
                </a:solidFill>
              </a:defRPr>
            </a:pPr>
            <a:r>
              <a:rPr sz="1575" b="0">
                <a:solidFill>
                  <a:srgbClr val="203449"/>
                </a:solidFill>
              </a:rPr>
              <a:t>Finite queue</a:t>
            </a:r>
          </a:p>
          <a:p xmlns:a="http://schemas.openxmlformats.org/drawingml/2006/main">
            <a:pPr algn="ctr">
              <a:defRPr sz="1575" b="0">
                <a:solidFill>
                  <a:srgbClr val="203449"/>
                </a:solidFill>
              </a:defRPr>
            </a:pPr>
            <a:r>
              <a:rPr sz="1575" b="0">
                <a:solidFill>
                  <a:srgbClr val="203449"/>
                </a:solidFill>
              </a:rPr>
              <a:t>link capacity + random loss</a:t>
            </a:r>
          </a:p>
        </p:txBody>
      </p:sp>
      <p:sp>
        <p:nvSpPr>
          <p:cNvPr id="13" name="">
            <a:extLst xmlns:a="http://schemas.openxmlformats.org/drawingml/2006/main">
              <a:ext uri="{FF2B5EF4-FFF2-40B4-BE49-F238E27FC236}">
                <a16:creationId xmlns:a16="http://schemas.microsoft.com/office/drawing/2014/main" id="{931F311E-C20B-43F6-BAB1-607B9CD98142}"/>
              </a:ext>
            </a:extLst>
          </p:cNvPr>
          <p:cNvSpPr>
            <a:spLocks xmlns:a="http://schemas.openxmlformats.org/drawingml/2006/main" noGrp="1"/>
          </p:cNvSpPr>
          <p:nvPr/>
        </p:nvSpPr>
        <p:spPr>
          <a:xfrm xmlns:a="http://schemas.openxmlformats.org/drawingml/2006/main">
            <a:off x="9277350" y="2209800"/>
            <a:ext cx="2190750" cy="1581150"/>
          </a:xfrm>
          <a:prstGeom xmlns:a="http://schemas.openxmlformats.org/drawingml/2006/main" prst="rect">
            <a:avLst/>
          </a:prstGeom>
          <a:solidFill xmlns:a="http://schemas.openxmlformats.org/drawingml/2006/main">
            <a:srgbClr val="FFFFFF"/>
          </a:solidFill>
          <a:ln xmlns:a="http://schemas.openxmlformats.org/drawingml/2006/main" w="9525">
            <a:solidFill>
              <a:srgbClr val="D9E1E8"/>
            </a:solidFill>
            <a:prstDash val="solid"/>
          </a:ln>
        </p:spPr>
      </p:sp>
      <p:sp>
        <p:nvSpPr>
          <p:cNvPr id="14" name="">
            <a:extLst xmlns:a="http://schemas.openxmlformats.org/drawingml/2006/main">
              <a:ext uri="{FF2B5EF4-FFF2-40B4-BE49-F238E27FC236}">
                <a16:creationId xmlns:a16="http://schemas.microsoft.com/office/drawing/2014/main" id="{6382E4CA-74FF-4E15-BAEF-4EE588B80E7B}"/>
              </a:ext>
            </a:extLst>
          </p:cNvPr>
          <p:cNvSpPr>
            <a:spLocks xmlns:a="http://schemas.openxmlformats.org/drawingml/2006/main" noGrp="1"/>
          </p:cNvSpPr>
          <p:nvPr/>
        </p:nvSpPr>
        <p:spPr>
          <a:xfrm xmlns:a="http://schemas.openxmlformats.org/drawingml/2006/main">
            <a:off x="9448800" y="2400300"/>
            <a:ext cx="1847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950" b="1">
                <a:solidFill>
                  <a:srgbClr val="17324D"/>
                </a:solidFill>
              </a:defRPr>
            </a:defPPr>
            <a:lvl1pPr algn="ctr">
              <a:defRPr sz="1950" b="1">
                <a:solidFill>
                  <a:srgbClr val="17324D"/>
                </a:solidFill>
              </a:defRPr>
            </a:lvl1pPr>
            <a:lvl2pPr algn="ctr">
              <a:defRPr sz="1950" b="1">
                <a:solidFill>
                  <a:srgbClr val="17324D"/>
                </a:solidFill>
              </a:defRPr>
            </a:lvl2pPr>
            <a:lvl3pPr algn="ctr">
              <a:defRPr sz="1950" b="1">
                <a:solidFill>
                  <a:srgbClr val="17324D"/>
                </a:solidFill>
              </a:defRPr>
            </a:lvl3pPr>
            <a:lvl4pPr algn="ctr">
              <a:defRPr sz="1950" b="1">
                <a:solidFill>
                  <a:srgbClr val="17324D"/>
                </a:solidFill>
              </a:defRPr>
            </a:lvl4pPr>
            <a:lvl5pPr algn="ctr">
              <a:defRPr sz="1950" b="1">
                <a:solidFill>
                  <a:srgbClr val="17324D"/>
                </a:solidFill>
              </a:defRPr>
            </a:lvl5pPr>
            <a:lvl6pPr algn="ctr">
              <a:defRPr sz="1950" b="1">
                <a:solidFill>
                  <a:srgbClr val="17324D"/>
                </a:solidFill>
              </a:defRPr>
            </a:lvl6pPr>
            <a:lvl7pPr algn="ctr">
              <a:defRPr sz="1950" b="1">
                <a:solidFill>
                  <a:srgbClr val="17324D"/>
                </a:solidFill>
              </a:defRPr>
            </a:lvl7pPr>
            <a:lvl8pPr algn="ctr">
              <a:defRPr sz="1950" b="1">
                <a:solidFill>
                  <a:srgbClr val="17324D"/>
                </a:solidFill>
              </a:defRPr>
            </a:lvl8pPr>
            <a:lvl9pPr algn="ctr">
              <a:defRPr sz="1950" b="1">
                <a:solidFill>
                  <a:srgbClr val="17324D"/>
                </a:solidFill>
              </a:defRPr>
            </a:lvl9pPr>
          </a:lstStyle>
          <a:p xmlns:a="http://schemas.openxmlformats.org/drawingml/2006/main">
            <a:pPr algn="ctr">
              <a:defRPr sz="1950" b="1">
                <a:solidFill>
                  <a:srgbClr val="17324D"/>
                </a:solidFill>
              </a:defRPr>
            </a:pPr>
            <a:r>
              <a:rPr sz="1950" b="1">
                <a:solidFill>
                  <a:srgbClr val="17324D"/>
                </a:solidFill>
              </a:rPr>
              <a:t>Receiver</a:t>
            </a:r>
          </a:p>
        </p:txBody>
      </p:sp>
      <p:sp>
        <p:nvSpPr>
          <p:cNvPr id="15" name="">
            <a:extLst xmlns:a="http://schemas.openxmlformats.org/drawingml/2006/main">
              <a:ext uri="{FF2B5EF4-FFF2-40B4-BE49-F238E27FC236}">
                <a16:creationId xmlns:a16="http://schemas.microsoft.com/office/drawing/2014/main" id="{0138CA12-67FB-4AA2-973F-583CBB80F8D3}"/>
              </a:ext>
            </a:extLst>
          </p:cNvPr>
          <p:cNvSpPr>
            <a:spLocks xmlns:a="http://schemas.openxmlformats.org/drawingml/2006/main" noGrp="1"/>
          </p:cNvSpPr>
          <p:nvPr/>
        </p:nvSpPr>
        <p:spPr>
          <a:xfrm xmlns:a="http://schemas.openxmlformats.org/drawingml/2006/main">
            <a:off x="9429750" y="2914650"/>
            <a:ext cx="1885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75" b="0">
                <a:solidFill>
                  <a:srgbClr val="203449"/>
                </a:solidFill>
              </a:defRPr>
            </a:defPPr>
            <a:lvl1pPr algn="ctr">
              <a:defRPr sz="1575" b="0">
                <a:solidFill>
                  <a:srgbClr val="203449"/>
                </a:solidFill>
              </a:defRPr>
            </a:lvl1pPr>
            <a:lvl2pPr algn="ctr">
              <a:defRPr sz="1575" b="0">
                <a:solidFill>
                  <a:srgbClr val="203449"/>
                </a:solidFill>
              </a:defRPr>
            </a:lvl2pPr>
            <a:lvl3pPr algn="ctr">
              <a:defRPr sz="1575" b="0">
                <a:solidFill>
                  <a:srgbClr val="203449"/>
                </a:solidFill>
              </a:defRPr>
            </a:lvl3pPr>
            <a:lvl4pPr algn="ctr">
              <a:defRPr sz="1575" b="0">
                <a:solidFill>
                  <a:srgbClr val="203449"/>
                </a:solidFill>
              </a:defRPr>
            </a:lvl4pPr>
            <a:lvl5pPr algn="ctr">
              <a:defRPr sz="1575" b="0">
                <a:solidFill>
                  <a:srgbClr val="203449"/>
                </a:solidFill>
              </a:defRPr>
            </a:lvl5pPr>
            <a:lvl6pPr algn="ctr">
              <a:defRPr sz="1575" b="0">
                <a:solidFill>
                  <a:srgbClr val="203449"/>
                </a:solidFill>
              </a:defRPr>
            </a:lvl6pPr>
            <a:lvl7pPr algn="ctr">
              <a:defRPr sz="1575" b="0">
                <a:solidFill>
                  <a:srgbClr val="203449"/>
                </a:solidFill>
              </a:defRPr>
            </a:lvl7pPr>
            <a:lvl8pPr algn="ctr">
              <a:defRPr sz="1575" b="0">
                <a:solidFill>
                  <a:srgbClr val="203449"/>
                </a:solidFill>
              </a:defRPr>
            </a:lvl8pPr>
            <a:lvl9pPr algn="ctr">
              <a:defRPr sz="1575" b="0">
                <a:solidFill>
                  <a:srgbClr val="203449"/>
                </a:solidFill>
              </a:defRPr>
            </a:lvl9pPr>
          </a:lstStyle>
          <a:p xmlns:a="http://schemas.openxmlformats.org/drawingml/2006/main">
            <a:pPr algn="ctr">
              <a:defRPr sz="1575" b="0">
                <a:solidFill>
                  <a:srgbClr val="203449"/>
                </a:solidFill>
              </a:defRPr>
            </a:pPr>
            <a:r>
              <a:rPr sz="1575" b="0">
                <a:solidFill>
                  <a:srgbClr val="203449"/>
                </a:solidFill>
              </a:rPr>
              <a:t>Unique delivery</a:t>
            </a:r>
          </a:p>
          <a:p xmlns:a="http://schemas.openxmlformats.org/drawingml/2006/main">
            <a:pPr algn="ctr">
              <a:defRPr sz="1575" b="0">
                <a:solidFill>
                  <a:srgbClr val="203449"/>
                </a:solidFill>
              </a:defRPr>
            </a:pPr>
            <a:r>
              <a:rPr sz="1575" b="0">
                <a:solidFill>
                  <a:srgbClr val="203449"/>
                </a:solidFill>
              </a:rPr>
              <a:t>ACK / feedback</a:t>
            </a:r>
          </a:p>
        </p:txBody>
      </p:sp>
      <p:sp>
        <p:nvSpPr>
          <p:cNvPr id="16" name="">
            <a:extLst xmlns:a="http://schemas.openxmlformats.org/drawingml/2006/main">
              <a:ext uri="{FF2B5EF4-FFF2-40B4-BE49-F238E27FC236}">
                <a16:creationId xmlns:a16="http://schemas.microsoft.com/office/drawing/2014/main" id="{9369A238-5791-4AC4-B6C2-91BDB46E7E6E}"/>
              </a:ext>
            </a:extLst>
          </p:cNvPr>
          <p:cNvSpPr>
            <a:spLocks xmlns:a="http://schemas.openxmlformats.org/drawingml/2006/main" noGrp="1"/>
          </p:cNvSpPr>
          <p:nvPr/>
        </p:nvSpPr>
        <p:spPr>
          <a:xfrm xmlns:a="http://schemas.openxmlformats.org/drawingml/2006/main">
            <a:off x="2905125" y="27432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850" b="1">
                <a:solidFill>
                  <a:srgbClr val="0F9D8A"/>
                </a:solidFill>
              </a:defRPr>
            </a:defPPr>
            <a:lvl1pPr algn="ctr">
              <a:defRPr sz="2850" b="1">
                <a:solidFill>
                  <a:srgbClr val="0F9D8A"/>
                </a:solidFill>
              </a:defRPr>
            </a:lvl1pPr>
            <a:lvl2pPr algn="ctr">
              <a:defRPr sz="2850" b="1">
                <a:solidFill>
                  <a:srgbClr val="0F9D8A"/>
                </a:solidFill>
              </a:defRPr>
            </a:lvl2pPr>
            <a:lvl3pPr algn="ctr">
              <a:defRPr sz="2850" b="1">
                <a:solidFill>
                  <a:srgbClr val="0F9D8A"/>
                </a:solidFill>
              </a:defRPr>
            </a:lvl3pPr>
            <a:lvl4pPr algn="ctr">
              <a:defRPr sz="2850" b="1">
                <a:solidFill>
                  <a:srgbClr val="0F9D8A"/>
                </a:solidFill>
              </a:defRPr>
            </a:lvl4pPr>
            <a:lvl5pPr algn="ctr">
              <a:defRPr sz="2850" b="1">
                <a:solidFill>
                  <a:srgbClr val="0F9D8A"/>
                </a:solidFill>
              </a:defRPr>
            </a:lvl5pPr>
            <a:lvl6pPr algn="ctr">
              <a:defRPr sz="2850" b="1">
                <a:solidFill>
                  <a:srgbClr val="0F9D8A"/>
                </a:solidFill>
              </a:defRPr>
            </a:lvl6pPr>
            <a:lvl7pPr algn="ctr">
              <a:defRPr sz="2850" b="1">
                <a:solidFill>
                  <a:srgbClr val="0F9D8A"/>
                </a:solidFill>
              </a:defRPr>
            </a:lvl7pPr>
            <a:lvl8pPr algn="ctr">
              <a:defRPr sz="2850" b="1">
                <a:solidFill>
                  <a:srgbClr val="0F9D8A"/>
                </a:solidFill>
              </a:defRPr>
            </a:lvl8pPr>
            <a:lvl9pPr algn="ctr">
              <a:defRPr sz="2850" b="1">
                <a:solidFill>
                  <a:srgbClr val="0F9D8A"/>
                </a:solidFill>
              </a:defRPr>
            </a:lvl9pPr>
          </a:lstStyle>
          <a:p xmlns:a="http://schemas.openxmlformats.org/drawingml/2006/main">
            <a:pPr algn="ctr">
              <a:defRPr sz="2850" b="1">
                <a:solidFill>
                  <a:srgbClr val="0F9D8A"/>
                </a:solidFill>
              </a:defRPr>
            </a:pPr>
            <a:r>
              <a:rPr sz="2850" b="1">
                <a:solidFill>
                  <a:srgbClr val="0F9D8A"/>
                </a:solidFill>
              </a:rPr>
              <a:t>→</a:t>
            </a:r>
          </a:p>
        </p:txBody>
      </p:sp>
      <p:sp>
        <p:nvSpPr>
          <p:cNvPr id="17" name="">
            <a:extLst xmlns:a="http://schemas.openxmlformats.org/drawingml/2006/main">
              <a:ext uri="{FF2B5EF4-FFF2-40B4-BE49-F238E27FC236}">
                <a16:creationId xmlns:a16="http://schemas.microsoft.com/office/drawing/2014/main" id="{AC4C69EE-4E81-45F5-92B8-51B88623D6FE}"/>
              </a:ext>
            </a:extLst>
          </p:cNvPr>
          <p:cNvSpPr>
            <a:spLocks xmlns:a="http://schemas.openxmlformats.org/drawingml/2006/main" noGrp="1"/>
          </p:cNvSpPr>
          <p:nvPr/>
        </p:nvSpPr>
        <p:spPr>
          <a:xfrm xmlns:a="http://schemas.openxmlformats.org/drawingml/2006/main">
            <a:off x="5762625" y="27432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850" b="1">
                <a:solidFill>
                  <a:srgbClr val="0F9D8A"/>
                </a:solidFill>
              </a:defRPr>
            </a:defPPr>
            <a:lvl1pPr algn="ctr">
              <a:defRPr sz="2850" b="1">
                <a:solidFill>
                  <a:srgbClr val="0F9D8A"/>
                </a:solidFill>
              </a:defRPr>
            </a:lvl1pPr>
            <a:lvl2pPr algn="ctr">
              <a:defRPr sz="2850" b="1">
                <a:solidFill>
                  <a:srgbClr val="0F9D8A"/>
                </a:solidFill>
              </a:defRPr>
            </a:lvl2pPr>
            <a:lvl3pPr algn="ctr">
              <a:defRPr sz="2850" b="1">
                <a:solidFill>
                  <a:srgbClr val="0F9D8A"/>
                </a:solidFill>
              </a:defRPr>
            </a:lvl3pPr>
            <a:lvl4pPr algn="ctr">
              <a:defRPr sz="2850" b="1">
                <a:solidFill>
                  <a:srgbClr val="0F9D8A"/>
                </a:solidFill>
              </a:defRPr>
            </a:lvl4pPr>
            <a:lvl5pPr algn="ctr">
              <a:defRPr sz="2850" b="1">
                <a:solidFill>
                  <a:srgbClr val="0F9D8A"/>
                </a:solidFill>
              </a:defRPr>
            </a:lvl5pPr>
            <a:lvl6pPr algn="ctr">
              <a:defRPr sz="2850" b="1">
                <a:solidFill>
                  <a:srgbClr val="0F9D8A"/>
                </a:solidFill>
              </a:defRPr>
            </a:lvl6pPr>
            <a:lvl7pPr algn="ctr">
              <a:defRPr sz="2850" b="1">
                <a:solidFill>
                  <a:srgbClr val="0F9D8A"/>
                </a:solidFill>
              </a:defRPr>
            </a:lvl7pPr>
            <a:lvl8pPr algn="ctr">
              <a:defRPr sz="2850" b="1">
                <a:solidFill>
                  <a:srgbClr val="0F9D8A"/>
                </a:solidFill>
              </a:defRPr>
            </a:lvl8pPr>
            <a:lvl9pPr algn="ctr">
              <a:defRPr sz="2850" b="1">
                <a:solidFill>
                  <a:srgbClr val="0F9D8A"/>
                </a:solidFill>
              </a:defRPr>
            </a:lvl9pPr>
          </a:lstStyle>
          <a:p xmlns:a="http://schemas.openxmlformats.org/drawingml/2006/main">
            <a:pPr algn="ctr">
              <a:defRPr sz="2850" b="1">
                <a:solidFill>
                  <a:srgbClr val="0F9D8A"/>
                </a:solidFill>
              </a:defRPr>
            </a:pPr>
            <a:r>
              <a:rPr sz="2850" b="1">
                <a:solidFill>
                  <a:srgbClr val="0F9D8A"/>
                </a:solidFill>
              </a:rPr>
              <a:t>→</a:t>
            </a:r>
          </a:p>
        </p:txBody>
      </p:sp>
      <p:sp>
        <p:nvSpPr>
          <p:cNvPr id="18" name="">
            <a:extLst xmlns:a="http://schemas.openxmlformats.org/drawingml/2006/main">
              <a:ext uri="{FF2B5EF4-FFF2-40B4-BE49-F238E27FC236}">
                <a16:creationId xmlns:a16="http://schemas.microsoft.com/office/drawing/2014/main" id="{620D2C15-A0A6-4BD5-BC02-0E1C6F1B5DDA}"/>
              </a:ext>
            </a:extLst>
          </p:cNvPr>
          <p:cNvSpPr>
            <a:spLocks xmlns:a="http://schemas.openxmlformats.org/drawingml/2006/main" noGrp="1"/>
          </p:cNvSpPr>
          <p:nvPr/>
        </p:nvSpPr>
        <p:spPr>
          <a:xfrm xmlns:a="http://schemas.openxmlformats.org/drawingml/2006/main">
            <a:off x="8734425" y="2743200"/>
            <a:ext cx="457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850" b="1">
                <a:solidFill>
                  <a:srgbClr val="0F9D8A"/>
                </a:solidFill>
              </a:defRPr>
            </a:defPPr>
            <a:lvl1pPr algn="ctr">
              <a:defRPr sz="2850" b="1">
                <a:solidFill>
                  <a:srgbClr val="0F9D8A"/>
                </a:solidFill>
              </a:defRPr>
            </a:lvl1pPr>
            <a:lvl2pPr algn="ctr">
              <a:defRPr sz="2850" b="1">
                <a:solidFill>
                  <a:srgbClr val="0F9D8A"/>
                </a:solidFill>
              </a:defRPr>
            </a:lvl2pPr>
            <a:lvl3pPr algn="ctr">
              <a:defRPr sz="2850" b="1">
                <a:solidFill>
                  <a:srgbClr val="0F9D8A"/>
                </a:solidFill>
              </a:defRPr>
            </a:lvl3pPr>
            <a:lvl4pPr algn="ctr">
              <a:defRPr sz="2850" b="1">
                <a:solidFill>
                  <a:srgbClr val="0F9D8A"/>
                </a:solidFill>
              </a:defRPr>
            </a:lvl4pPr>
            <a:lvl5pPr algn="ctr">
              <a:defRPr sz="2850" b="1">
                <a:solidFill>
                  <a:srgbClr val="0F9D8A"/>
                </a:solidFill>
              </a:defRPr>
            </a:lvl5pPr>
            <a:lvl6pPr algn="ctr">
              <a:defRPr sz="2850" b="1">
                <a:solidFill>
                  <a:srgbClr val="0F9D8A"/>
                </a:solidFill>
              </a:defRPr>
            </a:lvl6pPr>
            <a:lvl7pPr algn="ctr">
              <a:defRPr sz="2850" b="1">
                <a:solidFill>
                  <a:srgbClr val="0F9D8A"/>
                </a:solidFill>
              </a:defRPr>
            </a:lvl7pPr>
            <a:lvl8pPr algn="ctr">
              <a:defRPr sz="2850" b="1">
                <a:solidFill>
                  <a:srgbClr val="0F9D8A"/>
                </a:solidFill>
              </a:defRPr>
            </a:lvl8pPr>
            <a:lvl9pPr algn="ctr">
              <a:defRPr sz="2850" b="1">
                <a:solidFill>
                  <a:srgbClr val="0F9D8A"/>
                </a:solidFill>
              </a:defRPr>
            </a:lvl9pPr>
          </a:lstStyle>
          <a:p xmlns:a="http://schemas.openxmlformats.org/drawingml/2006/main">
            <a:pPr algn="ctr">
              <a:defRPr sz="2850" b="1">
                <a:solidFill>
                  <a:srgbClr val="0F9D8A"/>
                </a:solidFill>
              </a:defRPr>
            </a:pPr>
            <a:r>
              <a:rPr sz="2850" b="1">
                <a:solidFill>
                  <a:srgbClr val="0F9D8A"/>
                </a:solidFill>
              </a:rPr>
              <a:t>→</a:t>
            </a:r>
          </a:p>
        </p:txBody>
      </p:sp>
      <p:sp>
        <p:nvSpPr>
          <p:cNvPr id="19" name="">
            <a:extLst xmlns:a="http://schemas.openxmlformats.org/drawingml/2006/main">
              <a:ext uri="{FF2B5EF4-FFF2-40B4-BE49-F238E27FC236}">
                <a16:creationId xmlns:a16="http://schemas.microsoft.com/office/drawing/2014/main" id="{C65A4AD1-3906-4BF8-A8EC-ED9AE114CCFA}"/>
              </a:ext>
            </a:extLst>
          </p:cNvPr>
          <p:cNvSpPr>
            <a:spLocks xmlns:a="http://schemas.openxmlformats.org/drawingml/2006/main" noGrp="1"/>
          </p:cNvSpPr>
          <p:nvPr/>
        </p:nvSpPr>
        <p:spPr>
          <a:xfrm xmlns:a="http://schemas.openxmlformats.org/drawingml/2006/main">
            <a:off x="1924050" y="4419600"/>
            <a:ext cx="8334375" cy="19050"/>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prstDash val="solid"/>
          </a:ln>
        </p:spPr>
      </p:sp>
      <p:sp>
        <p:nvSpPr>
          <p:cNvPr id="20" name="">
            <a:extLst xmlns:a="http://schemas.openxmlformats.org/drawingml/2006/main">
              <a:ext uri="{FF2B5EF4-FFF2-40B4-BE49-F238E27FC236}">
                <a16:creationId xmlns:a16="http://schemas.microsoft.com/office/drawing/2014/main" id="{5ECFD4A4-D0A3-4CA3-91A2-26B0A9FF90AB}"/>
              </a:ext>
            </a:extLst>
          </p:cNvPr>
          <p:cNvSpPr>
            <a:spLocks xmlns:a="http://schemas.openxmlformats.org/drawingml/2006/main" noGrp="1"/>
          </p:cNvSpPr>
          <p:nvPr/>
        </p:nvSpPr>
        <p:spPr>
          <a:xfrm xmlns:a="http://schemas.openxmlformats.org/drawingml/2006/main">
            <a:off x="1952625" y="4581525"/>
            <a:ext cx="828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17324D"/>
                </a:solidFill>
              </a:defRPr>
            </a:defPPr>
            <a:lvl1pPr algn="ctr">
              <a:defRPr sz="1725" b="1">
                <a:solidFill>
                  <a:srgbClr val="17324D"/>
                </a:solidFill>
              </a:defRPr>
            </a:lvl1pPr>
            <a:lvl2pPr algn="ctr">
              <a:defRPr sz="1725" b="1">
                <a:solidFill>
                  <a:srgbClr val="17324D"/>
                </a:solidFill>
              </a:defRPr>
            </a:lvl2pPr>
            <a:lvl3pPr algn="ctr">
              <a:defRPr sz="1725" b="1">
                <a:solidFill>
                  <a:srgbClr val="17324D"/>
                </a:solidFill>
              </a:defRPr>
            </a:lvl3pPr>
            <a:lvl4pPr algn="ctr">
              <a:defRPr sz="1725" b="1">
                <a:solidFill>
                  <a:srgbClr val="17324D"/>
                </a:solidFill>
              </a:defRPr>
            </a:lvl4pPr>
            <a:lvl5pPr algn="ctr">
              <a:defRPr sz="1725" b="1">
                <a:solidFill>
                  <a:srgbClr val="17324D"/>
                </a:solidFill>
              </a:defRPr>
            </a:lvl5pPr>
            <a:lvl6pPr algn="ctr">
              <a:defRPr sz="1725" b="1">
                <a:solidFill>
                  <a:srgbClr val="17324D"/>
                </a:solidFill>
              </a:defRPr>
            </a:lvl6pPr>
            <a:lvl7pPr algn="ctr">
              <a:defRPr sz="1725" b="1">
                <a:solidFill>
                  <a:srgbClr val="17324D"/>
                </a:solidFill>
              </a:defRPr>
            </a:lvl7pPr>
            <a:lvl8pPr algn="ctr">
              <a:defRPr sz="1725" b="1">
                <a:solidFill>
                  <a:srgbClr val="17324D"/>
                </a:solidFill>
              </a:defRPr>
            </a:lvl8pPr>
            <a:lvl9pPr algn="ctr">
              <a:defRPr sz="1725" b="1">
                <a:solidFill>
                  <a:srgbClr val="17324D"/>
                </a:solidFill>
              </a:defRPr>
            </a:lvl9pPr>
          </a:lstStyle>
          <a:p xmlns:a="http://schemas.openxmlformats.org/drawingml/2006/main">
            <a:pPr algn="ctr">
              <a:defRPr sz="1725" b="1">
                <a:solidFill>
                  <a:srgbClr val="17324D"/>
                </a:solidFill>
              </a:defRPr>
            </a:pPr>
            <a:r>
              <a:rPr sz="1725" b="1">
                <a:solidFill>
                  <a:srgbClr val="17324D"/>
                </a:solidFill>
              </a:rPr>
              <a:t>Feedback each RTT: loss fraction · RTT / baseline RTT · queue occupancy</a:t>
            </a:r>
          </a:p>
        </p:txBody>
      </p:sp>
      <p:sp>
        <p:nvSpPr>
          <p:cNvPr id="21" name="">
            <a:extLst xmlns:a="http://schemas.openxmlformats.org/drawingml/2006/main">
              <a:ext uri="{FF2B5EF4-FFF2-40B4-BE49-F238E27FC236}">
                <a16:creationId xmlns:a16="http://schemas.microsoft.com/office/drawing/2014/main" id="{05E65F35-C9B2-4F59-AEC9-8647DCC9EFED}"/>
              </a:ext>
            </a:extLst>
          </p:cNvPr>
          <p:cNvSpPr>
            <a:spLocks xmlns:a="http://schemas.openxmlformats.org/drawingml/2006/main" noGrp="1"/>
          </p:cNvSpPr>
          <p:nvPr/>
        </p:nvSpPr>
        <p:spPr>
          <a:xfrm xmlns:a="http://schemas.openxmlformats.org/drawingml/2006/main">
            <a:off x="1952625" y="5276850"/>
            <a:ext cx="828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5C6B7A"/>
                </a:solidFill>
              </a:defRPr>
            </a:defPPr>
            <a:lvl1pPr algn="ctr">
              <a:defRPr sz="1500" b="0">
                <a:solidFill>
                  <a:srgbClr val="5C6B7A"/>
                </a:solidFill>
              </a:defRPr>
            </a:lvl1pPr>
            <a:lvl2pPr algn="ctr">
              <a:defRPr sz="1500" b="0">
                <a:solidFill>
                  <a:srgbClr val="5C6B7A"/>
                </a:solidFill>
              </a:defRPr>
            </a:lvl2pPr>
            <a:lvl3pPr algn="ctr">
              <a:defRPr sz="1500" b="0">
                <a:solidFill>
                  <a:srgbClr val="5C6B7A"/>
                </a:solidFill>
              </a:defRPr>
            </a:lvl3pPr>
            <a:lvl4pPr algn="ctr">
              <a:defRPr sz="1500" b="0">
                <a:solidFill>
                  <a:srgbClr val="5C6B7A"/>
                </a:solidFill>
              </a:defRPr>
            </a:lvl4pPr>
            <a:lvl5pPr algn="ctr">
              <a:defRPr sz="1500" b="0">
                <a:solidFill>
                  <a:srgbClr val="5C6B7A"/>
                </a:solidFill>
              </a:defRPr>
            </a:lvl5pPr>
            <a:lvl6pPr algn="ctr">
              <a:defRPr sz="1500" b="0">
                <a:solidFill>
                  <a:srgbClr val="5C6B7A"/>
                </a:solidFill>
              </a:defRPr>
            </a:lvl6pPr>
            <a:lvl7pPr algn="ctr">
              <a:defRPr sz="1500" b="0">
                <a:solidFill>
                  <a:srgbClr val="5C6B7A"/>
                </a:solidFill>
              </a:defRPr>
            </a:lvl7pPr>
            <a:lvl8pPr algn="ctr">
              <a:defRPr sz="1500" b="0">
                <a:solidFill>
                  <a:srgbClr val="5C6B7A"/>
                </a:solidFill>
              </a:defRPr>
            </a:lvl8pPr>
            <a:lvl9pPr algn="ctr">
              <a:defRPr sz="1500" b="0">
                <a:solidFill>
                  <a:srgbClr val="5C6B7A"/>
                </a:solidFill>
              </a:defRPr>
            </a:lvl9pPr>
          </a:lstStyle>
          <a:p xmlns:a="http://schemas.openxmlformats.org/drawingml/2006/main">
            <a:pPr algn="ctr">
              <a:defRPr sz="1500" b="0">
                <a:solidFill>
                  <a:srgbClr val="5C6B7A"/>
                </a:solidFill>
              </a:defRPr>
            </a:pPr>
            <a:r>
              <a:rPr sz="1500" b="0">
                <a:solidFill>
                  <a:srgbClr val="5C6B7A"/>
                </a:solidFill>
              </a:rPr>
              <a:t>Dropped packets are retried in a later epoch; the same mechanism is used in both modes.</a:t>
            </a:r>
          </a:p>
        </p:txBody>
      </p:sp>
    </p:spTree>
    <p:extLst>
      <p:ext uri="{BB962C8B-B14F-4D97-AF65-F5344CB8AC3E}">
        <p14:creationId xmlns:p14="http://schemas.microsoft.com/office/powerpoint/2010/main" val="1344407379"/>
      </p:ext>
    </p:extLst>
  </p:cSld>
</p:sld>
</file>

<file path=ppt/slides/slide4.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ED159D9A-0AEE-4A7C-A231-C836419FF80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prstDash val="solid"/>
          </a:ln>
        </p:spPr>
      </p:sp>
      <p:sp>
        <p:nvSpPr>
          <p:cNvPr id="2" name="">
            <a:extLst xmlns:a="http://schemas.openxmlformats.org/drawingml/2006/main">
              <a:ext uri="{FF2B5EF4-FFF2-40B4-BE49-F238E27FC236}">
                <a16:creationId xmlns:a16="http://schemas.microsoft.com/office/drawing/2014/main" id="{4B7A2AE6-DC6A-4C36-BA0C-20FB0DAA1660}"/>
              </a:ext>
            </a:extLst>
          </p:cNvPr>
          <p:cNvSpPr>
            <a:spLocks xmlns:a="http://schemas.openxmlformats.org/drawingml/2006/main" noGrp="1"/>
          </p:cNvSpPr>
          <p:nvPr/>
        </p:nvSpPr>
        <p:spPr>
          <a:xfrm xmlns:a="http://schemas.openxmlformats.org/drawingml/2006/main">
            <a:off x="685800" y="3810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7324D"/>
                </a:solidFill>
              </a:defRPr>
            </a:defPPr>
            <a:lvl1pPr algn="l">
              <a:defRPr sz="3300" b="1">
                <a:solidFill>
                  <a:srgbClr val="17324D"/>
                </a:solidFill>
              </a:defRPr>
            </a:lvl1pPr>
            <a:lvl2pPr algn="l">
              <a:defRPr sz="3300" b="1">
                <a:solidFill>
                  <a:srgbClr val="17324D"/>
                </a:solidFill>
              </a:defRPr>
            </a:lvl2pPr>
            <a:lvl3pPr algn="l">
              <a:defRPr sz="3300" b="1">
                <a:solidFill>
                  <a:srgbClr val="17324D"/>
                </a:solidFill>
              </a:defRPr>
            </a:lvl3pPr>
            <a:lvl4pPr algn="l">
              <a:defRPr sz="3300" b="1">
                <a:solidFill>
                  <a:srgbClr val="17324D"/>
                </a:solidFill>
              </a:defRPr>
            </a:lvl4pPr>
            <a:lvl5pPr algn="l">
              <a:defRPr sz="3300" b="1">
                <a:solidFill>
                  <a:srgbClr val="17324D"/>
                </a:solidFill>
              </a:defRPr>
            </a:lvl5pPr>
            <a:lvl6pPr algn="l">
              <a:defRPr sz="3300" b="1">
                <a:solidFill>
                  <a:srgbClr val="17324D"/>
                </a:solidFill>
              </a:defRPr>
            </a:lvl6pPr>
            <a:lvl7pPr algn="l">
              <a:defRPr sz="3300" b="1">
                <a:solidFill>
                  <a:srgbClr val="17324D"/>
                </a:solidFill>
              </a:defRPr>
            </a:lvl7pPr>
            <a:lvl8pPr algn="l">
              <a:defRPr sz="3300" b="1">
                <a:solidFill>
                  <a:srgbClr val="17324D"/>
                </a:solidFill>
              </a:defRPr>
            </a:lvl8pPr>
            <a:lvl9pPr algn="l">
              <a:defRPr sz="3300" b="1">
                <a:solidFill>
                  <a:srgbClr val="17324D"/>
                </a:solidFill>
              </a:defRPr>
            </a:lvl9pPr>
          </a:lstStyle>
          <a:p xmlns:a="http://schemas.openxmlformats.org/drawingml/2006/main">
            <a:pPr algn="l">
              <a:defRPr sz="3300" b="1">
                <a:solidFill>
                  <a:srgbClr val="17324D"/>
                </a:solidFill>
              </a:defRPr>
            </a:pPr>
            <a:r>
              <a:rPr sz="3300" b="1">
                <a:solidFill>
                  <a:srgbClr val="17324D"/>
                </a:solidFill>
              </a:rPr>
              <a:t>PPO sender controller</a:t>
            </a:r>
          </a:p>
        </p:txBody>
      </p:sp>
      <p:sp>
        <p:nvSpPr>
          <p:cNvPr id="3" name="">
            <a:extLst xmlns:a="http://schemas.openxmlformats.org/drawingml/2006/main">
              <a:ext uri="{FF2B5EF4-FFF2-40B4-BE49-F238E27FC236}">
                <a16:creationId xmlns:a16="http://schemas.microsoft.com/office/drawing/2014/main" id="{562BF08E-E317-4DE1-9213-1D3943C62ADE}"/>
              </a:ext>
            </a:extLst>
          </p:cNvPr>
          <p:cNvSpPr>
            <a:spLocks xmlns:a="http://schemas.openxmlformats.org/drawingml/2006/main" noGrp="1"/>
          </p:cNvSpPr>
          <p:nvPr/>
        </p:nvSpPr>
        <p:spPr>
          <a:xfrm xmlns:a="http://schemas.openxmlformats.org/drawingml/2006/main">
            <a:off x="704850" y="10096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C6B7A"/>
                </a:solidFill>
              </a:defRPr>
            </a:defPPr>
            <a:lvl1pPr algn="l">
              <a:defRPr sz="1575" b="0">
                <a:solidFill>
                  <a:srgbClr val="5C6B7A"/>
                </a:solidFill>
              </a:defRPr>
            </a:lvl1pPr>
            <a:lvl2pPr algn="l">
              <a:defRPr sz="1575" b="0">
                <a:solidFill>
                  <a:srgbClr val="5C6B7A"/>
                </a:solidFill>
              </a:defRPr>
            </a:lvl2pPr>
            <a:lvl3pPr algn="l">
              <a:defRPr sz="1575" b="0">
                <a:solidFill>
                  <a:srgbClr val="5C6B7A"/>
                </a:solidFill>
              </a:defRPr>
            </a:lvl3pPr>
            <a:lvl4pPr algn="l">
              <a:defRPr sz="1575" b="0">
                <a:solidFill>
                  <a:srgbClr val="5C6B7A"/>
                </a:solidFill>
              </a:defRPr>
            </a:lvl4pPr>
            <a:lvl5pPr algn="l">
              <a:defRPr sz="1575" b="0">
                <a:solidFill>
                  <a:srgbClr val="5C6B7A"/>
                </a:solidFill>
              </a:defRPr>
            </a:lvl5pPr>
            <a:lvl6pPr algn="l">
              <a:defRPr sz="1575" b="0">
                <a:solidFill>
                  <a:srgbClr val="5C6B7A"/>
                </a:solidFill>
              </a:defRPr>
            </a:lvl6pPr>
            <a:lvl7pPr algn="l">
              <a:defRPr sz="1575" b="0">
                <a:solidFill>
                  <a:srgbClr val="5C6B7A"/>
                </a:solidFill>
              </a:defRPr>
            </a:lvl7pPr>
            <a:lvl8pPr algn="l">
              <a:defRPr sz="1575" b="0">
                <a:solidFill>
                  <a:srgbClr val="5C6B7A"/>
                </a:solidFill>
              </a:defRPr>
            </a:lvl8pPr>
            <a:lvl9pPr algn="l">
              <a:defRPr sz="1575" b="0">
                <a:solidFill>
                  <a:srgbClr val="5C6B7A"/>
                </a:solidFill>
              </a:defRPr>
            </a:lvl9pPr>
          </a:lstStyle>
          <a:p xmlns:a="http://schemas.openxmlformats.org/drawingml/2006/main">
            <a:pPr algn="l">
              <a:defRPr sz="1575" b="0">
                <a:solidFill>
                  <a:srgbClr val="5C6B7A"/>
                </a:solidFill>
              </a:defRPr>
            </a:pPr>
            <a:r>
              <a:rPr sz="1575" b="0">
                <a:solidFill>
                  <a:srgbClr val="5C6B7A"/>
                </a:solidFill>
              </a:rPr>
              <a:t>The policy learns from training episodes and freezes for evaluation</a:t>
            </a:r>
          </a:p>
        </p:txBody>
      </p:sp>
      <p:sp>
        <p:nvSpPr>
          <p:cNvPr id="4" name="">
            <a:extLst xmlns:a="http://schemas.openxmlformats.org/drawingml/2006/main">
              <a:ext uri="{FF2B5EF4-FFF2-40B4-BE49-F238E27FC236}">
                <a16:creationId xmlns:a16="http://schemas.microsoft.com/office/drawing/2014/main" id="{FB88A3BA-8A6C-4278-9403-8B16C975FDC9}"/>
              </a:ext>
            </a:extLst>
          </p:cNvPr>
          <p:cNvSpPr>
            <a:spLocks xmlns:a="http://schemas.openxmlformats.org/drawingml/2006/main" noGrp="1"/>
          </p:cNvSpPr>
          <p:nvPr/>
        </p:nvSpPr>
        <p:spPr>
          <a:xfrm xmlns:a="http://schemas.openxmlformats.org/drawingml/2006/main">
            <a:off x="762000" y="1952625"/>
            <a:ext cx="323850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D9E1E8"/>
            </a:solidFill>
            <a:prstDash val="solid"/>
          </a:ln>
        </p:spPr>
      </p:sp>
      <p:sp>
        <p:nvSpPr>
          <p:cNvPr id="5" name="">
            <a:extLst xmlns:a="http://schemas.openxmlformats.org/drawingml/2006/main">
              <a:ext uri="{FF2B5EF4-FFF2-40B4-BE49-F238E27FC236}">
                <a16:creationId xmlns:a16="http://schemas.microsoft.com/office/drawing/2014/main" id="{0AC08D7D-A8AF-4C89-BF04-B945B2EE6609}"/>
              </a:ext>
            </a:extLst>
          </p:cNvPr>
          <p:cNvSpPr>
            <a:spLocks xmlns:a="http://schemas.openxmlformats.org/drawingml/2006/main" noGrp="1"/>
          </p:cNvSpPr>
          <p:nvPr/>
        </p:nvSpPr>
        <p:spPr>
          <a:xfrm xmlns:a="http://schemas.openxmlformats.org/drawingml/2006/main">
            <a:off x="971550" y="2171700"/>
            <a:ext cx="2819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0F9D8A"/>
                </a:solidFill>
              </a:defRPr>
            </a:defPPr>
            <a:lvl1pPr algn="l">
              <a:defRPr sz="1875" b="1">
                <a:solidFill>
                  <a:srgbClr val="0F9D8A"/>
                </a:solidFill>
              </a:defRPr>
            </a:lvl1pPr>
            <a:lvl2pPr algn="l">
              <a:defRPr sz="1875" b="1">
                <a:solidFill>
                  <a:srgbClr val="0F9D8A"/>
                </a:solidFill>
              </a:defRPr>
            </a:lvl2pPr>
            <a:lvl3pPr algn="l">
              <a:defRPr sz="1875" b="1">
                <a:solidFill>
                  <a:srgbClr val="0F9D8A"/>
                </a:solidFill>
              </a:defRPr>
            </a:lvl3pPr>
            <a:lvl4pPr algn="l">
              <a:defRPr sz="1875" b="1">
                <a:solidFill>
                  <a:srgbClr val="0F9D8A"/>
                </a:solidFill>
              </a:defRPr>
            </a:lvl4pPr>
            <a:lvl5pPr algn="l">
              <a:defRPr sz="1875" b="1">
                <a:solidFill>
                  <a:srgbClr val="0F9D8A"/>
                </a:solidFill>
              </a:defRPr>
            </a:lvl5pPr>
            <a:lvl6pPr algn="l">
              <a:defRPr sz="1875" b="1">
                <a:solidFill>
                  <a:srgbClr val="0F9D8A"/>
                </a:solidFill>
              </a:defRPr>
            </a:lvl6pPr>
            <a:lvl7pPr algn="l">
              <a:defRPr sz="1875" b="1">
                <a:solidFill>
                  <a:srgbClr val="0F9D8A"/>
                </a:solidFill>
              </a:defRPr>
            </a:lvl7pPr>
            <a:lvl8pPr algn="l">
              <a:defRPr sz="1875" b="1">
                <a:solidFill>
                  <a:srgbClr val="0F9D8A"/>
                </a:solidFill>
              </a:defRPr>
            </a:lvl8pPr>
            <a:lvl9pPr algn="l">
              <a:defRPr sz="1875" b="1">
                <a:solidFill>
                  <a:srgbClr val="0F9D8A"/>
                </a:solidFill>
              </a:defRPr>
            </a:lvl9pPr>
          </a:lstStyle>
          <a:p xmlns:a="http://schemas.openxmlformats.org/drawingml/2006/main">
            <a:pPr algn="l">
              <a:defRPr sz="1875" b="1">
                <a:solidFill>
                  <a:srgbClr val="0F9D8A"/>
                </a:solidFill>
              </a:defRPr>
            </a:pPr>
            <a:r>
              <a:rPr sz="1875" b="1">
                <a:solidFill>
                  <a:srgbClr val="0F9D8A"/>
                </a:solidFill>
              </a:rPr>
              <a:t>01  OBSERVE</a:t>
            </a:r>
          </a:p>
        </p:txBody>
      </p:sp>
      <p:sp>
        <p:nvSpPr>
          <p:cNvPr id="6" name="">
            <a:extLst xmlns:a="http://schemas.openxmlformats.org/drawingml/2006/main">
              <a:ext uri="{FF2B5EF4-FFF2-40B4-BE49-F238E27FC236}">
                <a16:creationId xmlns:a16="http://schemas.microsoft.com/office/drawing/2014/main" id="{C44194ED-3A62-4738-9B7B-5E1005F7C4DB}"/>
              </a:ext>
            </a:extLst>
          </p:cNvPr>
          <p:cNvSpPr>
            <a:spLocks xmlns:a="http://schemas.openxmlformats.org/drawingml/2006/main" noGrp="1"/>
          </p:cNvSpPr>
          <p:nvPr/>
        </p:nvSpPr>
        <p:spPr>
          <a:xfrm xmlns:a="http://schemas.openxmlformats.org/drawingml/2006/main">
            <a:off x="990600" y="2781300"/>
            <a:ext cx="2762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7324D"/>
                </a:solidFill>
              </a:defRPr>
            </a:defPPr>
            <a:lvl1pPr algn="l">
              <a:defRPr sz="1875" b="0">
                <a:solidFill>
                  <a:srgbClr val="17324D"/>
                </a:solidFill>
              </a:defRPr>
            </a:lvl1pPr>
            <a:lvl2pPr algn="l">
              <a:defRPr sz="1875" b="0">
                <a:solidFill>
                  <a:srgbClr val="17324D"/>
                </a:solidFill>
              </a:defRPr>
            </a:lvl2pPr>
            <a:lvl3pPr algn="l">
              <a:defRPr sz="1875" b="0">
                <a:solidFill>
                  <a:srgbClr val="17324D"/>
                </a:solidFill>
              </a:defRPr>
            </a:lvl3pPr>
            <a:lvl4pPr algn="l">
              <a:defRPr sz="1875" b="0">
                <a:solidFill>
                  <a:srgbClr val="17324D"/>
                </a:solidFill>
              </a:defRPr>
            </a:lvl4pPr>
            <a:lvl5pPr algn="l">
              <a:defRPr sz="1875" b="0">
                <a:solidFill>
                  <a:srgbClr val="17324D"/>
                </a:solidFill>
              </a:defRPr>
            </a:lvl5pPr>
            <a:lvl6pPr algn="l">
              <a:defRPr sz="1875" b="0">
                <a:solidFill>
                  <a:srgbClr val="17324D"/>
                </a:solidFill>
              </a:defRPr>
            </a:lvl6pPr>
            <a:lvl7pPr algn="l">
              <a:defRPr sz="1875" b="0">
                <a:solidFill>
                  <a:srgbClr val="17324D"/>
                </a:solidFill>
              </a:defRPr>
            </a:lvl7pPr>
            <a:lvl8pPr algn="l">
              <a:defRPr sz="1875" b="0">
                <a:solidFill>
                  <a:srgbClr val="17324D"/>
                </a:solidFill>
              </a:defRPr>
            </a:lvl8pPr>
            <a:lvl9pPr algn="l">
              <a:defRPr sz="1875" b="0">
                <a:solidFill>
                  <a:srgbClr val="17324D"/>
                </a:solidFill>
              </a:defRPr>
            </a:lvl9pPr>
          </a:lstStyle>
          <a:p xmlns:a="http://schemas.openxmlformats.org/drawingml/2006/main">
            <a:pPr algn="l">
              <a:defRPr sz="1875" b="0">
                <a:solidFill>
                  <a:srgbClr val="17324D"/>
                </a:solidFill>
              </a:defRPr>
            </a:pPr>
            <a:r>
              <a:rPr sz="1875" b="0">
                <a:solidFill>
                  <a:srgbClr val="17324D"/>
                </a:solidFill>
              </a:rPr>
              <a:t>Loss rate</a:t>
            </a:r>
          </a:p>
          <a:p xmlns:a="http://schemas.openxmlformats.org/drawingml/2006/main">
            <a:pPr algn="l">
              <a:defRPr sz="1875" b="0">
                <a:solidFill>
                  <a:srgbClr val="17324D"/>
                </a:solidFill>
              </a:defRPr>
            </a:pPr>
            <a:r>
              <a:rPr sz="1875" b="0">
                <a:solidFill>
                  <a:srgbClr val="17324D"/>
                </a:solidFill>
              </a:rPr>
              <a:t>Delay inflation</a:t>
            </a:r>
          </a:p>
          <a:p xmlns:a="http://schemas.openxmlformats.org/drawingml/2006/main">
            <a:pPr algn="l">
              <a:defRPr sz="1875" b="0">
                <a:solidFill>
                  <a:srgbClr val="17324D"/>
                </a:solidFill>
              </a:defRPr>
            </a:pPr>
            <a:r>
              <a:rPr sz="1875" b="0">
                <a:solidFill>
                  <a:srgbClr val="17324D"/>
                </a:solidFill>
              </a:rPr>
              <a:t>Queue fraction</a:t>
            </a:r>
          </a:p>
        </p:txBody>
      </p:sp>
      <p:sp>
        <p:nvSpPr>
          <p:cNvPr id="7" name="">
            <a:extLst xmlns:a="http://schemas.openxmlformats.org/drawingml/2006/main">
              <a:ext uri="{FF2B5EF4-FFF2-40B4-BE49-F238E27FC236}">
                <a16:creationId xmlns:a16="http://schemas.microsoft.com/office/drawing/2014/main" id="{CDC2F807-912D-42D2-8A51-C983C112657A}"/>
              </a:ext>
            </a:extLst>
          </p:cNvPr>
          <p:cNvSpPr>
            <a:spLocks xmlns:a="http://schemas.openxmlformats.org/drawingml/2006/main" noGrp="1"/>
          </p:cNvSpPr>
          <p:nvPr/>
        </p:nvSpPr>
        <p:spPr>
          <a:xfrm xmlns:a="http://schemas.openxmlformats.org/drawingml/2006/main">
            <a:off x="4476750" y="1952625"/>
            <a:ext cx="323850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B873B090-3063-4BBF-88FC-5A607294433F}"/>
              </a:ext>
            </a:extLst>
          </p:cNvPr>
          <p:cNvSpPr>
            <a:spLocks xmlns:a="http://schemas.openxmlformats.org/drawingml/2006/main" noGrp="1"/>
          </p:cNvSpPr>
          <p:nvPr/>
        </p:nvSpPr>
        <p:spPr>
          <a:xfrm xmlns:a="http://schemas.openxmlformats.org/drawingml/2006/main">
            <a:off x="4686300" y="2171700"/>
            <a:ext cx="2819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0F9D8A"/>
                </a:solidFill>
              </a:defRPr>
            </a:defPPr>
            <a:lvl1pPr algn="l">
              <a:defRPr sz="1875" b="1">
                <a:solidFill>
                  <a:srgbClr val="0F9D8A"/>
                </a:solidFill>
              </a:defRPr>
            </a:lvl1pPr>
            <a:lvl2pPr algn="l">
              <a:defRPr sz="1875" b="1">
                <a:solidFill>
                  <a:srgbClr val="0F9D8A"/>
                </a:solidFill>
              </a:defRPr>
            </a:lvl2pPr>
            <a:lvl3pPr algn="l">
              <a:defRPr sz="1875" b="1">
                <a:solidFill>
                  <a:srgbClr val="0F9D8A"/>
                </a:solidFill>
              </a:defRPr>
            </a:lvl3pPr>
            <a:lvl4pPr algn="l">
              <a:defRPr sz="1875" b="1">
                <a:solidFill>
                  <a:srgbClr val="0F9D8A"/>
                </a:solidFill>
              </a:defRPr>
            </a:lvl4pPr>
            <a:lvl5pPr algn="l">
              <a:defRPr sz="1875" b="1">
                <a:solidFill>
                  <a:srgbClr val="0F9D8A"/>
                </a:solidFill>
              </a:defRPr>
            </a:lvl5pPr>
            <a:lvl6pPr algn="l">
              <a:defRPr sz="1875" b="1">
                <a:solidFill>
                  <a:srgbClr val="0F9D8A"/>
                </a:solidFill>
              </a:defRPr>
            </a:lvl6pPr>
            <a:lvl7pPr algn="l">
              <a:defRPr sz="1875" b="1">
                <a:solidFill>
                  <a:srgbClr val="0F9D8A"/>
                </a:solidFill>
              </a:defRPr>
            </a:lvl7pPr>
            <a:lvl8pPr algn="l">
              <a:defRPr sz="1875" b="1">
                <a:solidFill>
                  <a:srgbClr val="0F9D8A"/>
                </a:solidFill>
              </a:defRPr>
            </a:lvl8pPr>
            <a:lvl9pPr algn="l">
              <a:defRPr sz="1875" b="1">
                <a:solidFill>
                  <a:srgbClr val="0F9D8A"/>
                </a:solidFill>
              </a:defRPr>
            </a:lvl9pPr>
          </a:lstStyle>
          <a:p xmlns:a="http://schemas.openxmlformats.org/drawingml/2006/main">
            <a:pPr algn="l">
              <a:defRPr sz="1875" b="1">
                <a:solidFill>
                  <a:srgbClr val="0F9D8A"/>
                </a:solidFill>
              </a:defRPr>
            </a:pPr>
            <a:r>
              <a:rPr sz="1875" b="1">
                <a:solidFill>
                  <a:srgbClr val="0F9D8A"/>
                </a:solidFill>
              </a:rPr>
              <a:t>02  UPDATE</a:t>
            </a:r>
          </a:p>
        </p:txBody>
      </p:sp>
      <p:sp>
        <p:nvSpPr>
          <p:cNvPr id="9" name="">
            <a:extLst xmlns:a="http://schemas.openxmlformats.org/drawingml/2006/main">
              <a:ext uri="{FF2B5EF4-FFF2-40B4-BE49-F238E27FC236}">
                <a16:creationId xmlns:a16="http://schemas.microsoft.com/office/drawing/2014/main" id="{3E92EE82-F6E5-4567-AFA8-46DBEB0D8889}"/>
              </a:ext>
            </a:extLst>
          </p:cNvPr>
          <p:cNvSpPr>
            <a:spLocks xmlns:a="http://schemas.openxmlformats.org/drawingml/2006/main" noGrp="1"/>
          </p:cNvSpPr>
          <p:nvPr/>
        </p:nvSpPr>
        <p:spPr>
          <a:xfrm xmlns:a="http://schemas.openxmlformats.org/drawingml/2006/main">
            <a:off x="4705350" y="2781300"/>
            <a:ext cx="2762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7324D"/>
                </a:solidFill>
              </a:defRPr>
            </a:defPPr>
            <a:lvl1pPr algn="l">
              <a:defRPr sz="1875" b="0">
                <a:solidFill>
                  <a:srgbClr val="17324D"/>
                </a:solidFill>
              </a:defRPr>
            </a:lvl1pPr>
            <a:lvl2pPr algn="l">
              <a:defRPr sz="1875" b="0">
                <a:solidFill>
                  <a:srgbClr val="17324D"/>
                </a:solidFill>
              </a:defRPr>
            </a:lvl2pPr>
            <a:lvl3pPr algn="l">
              <a:defRPr sz="1875" b="0">
                <a:solidFill>
                  <a:srgbClr val="17324D"/>
                </a:solidFill>
              </a:defRPr>
            </a:lvl3pPr>
            <a:lvl4pPr algn="l">
              <a:defRPr sz="1875" b="0">
                <a:solidFill>
                  <a:srgbClr val="17324D"/>
                </a:solidFill>
              </a:defRPr>
            </a:lvl4pPr>
            <a:lvl5pPr algn="l">
              <a:defRPr sz="1875" b="0">
                <a:solidFill>
                  <a:srgbClr val="17324D"/>
                </a:solidFill>
              </a:defRPr>
            </a:lvl5pPr>
            <a:lvl6pPr algn="l">
              <a:defRPr sz="1875" b="0">
                <a:solidFill>
                  <a:srgbClr val="17324D"/>
                </a:solidFill>
              </a:defRPr>
            </a:lvl6pPr>
            <a:lvl7pPr algn="l">
              <a:defRPr sz="1875" b="0">
                <a:solidFill>
                  <a:srgbClr val="17324D"/>
                </a:solidFill>
              </a:defRPr>
            </a:lvl7pPr>
            <a:lvl8pPr algn="l">
              <a:defRPr sz="1875" b="0">
                <a:solidFill>
                  <a:srgbClr val="17324D"/>
                </a:solidFill>
              </a:defRPr>
            </a:lvl8pPr>
            <a:lvl9pPr algn="l">
              <a:defRPr sz="1875" b="0">
                <a:solidFill>
                  <a:srgbClr val="17324D"/>
                </a:solidFill>
              </a:defRPr>
            </a:lvl9pPr>
          </a:lstStyle>
          <a:p xmlns:a="http://schemas.openxmlformats.org/drawingml/2006/main">
            <a:pPr algn="l">
              <a:defRPr sz="1875" b="0">
                <a:solidFill>
                  <a:srgbClr val="17324D"/>
                </a:solidFill>
              </a:defRPr>
            </a:pPr>
            <a:r>
              <a:rPr sz="1875" b="0">
                <a:solidFill>
                  <a:srgbClr val="17324D"/>
                </a:solidFill>
              </a:rPr>
              <a:t>12-unit actor + critic</a:t>
            </a:r>
          </a:p>
          <a:p xmlns:a="http://schemas.openxmlformats.org/drawingml/2006/main">
            <a:pPr algn="l">
              <a:defRPr sz="1875" b="0">
                <a:solidFill>
                  <a:srgbClr val="17324D"/>
                </a:solidFill>
              </a:defRPr>
            </a:pPr>
            <a:r>
              <a:rPr sz="1875" b="0">
                <a:solidFill>
                  <a:srgbClr val="17324D"/>
                </a:solidFill>
              </a:rPr>
              <a:t>Clipped PPO objective</a:t>
            </a:r>
          </a:p>
          <a:p xmlns:a="http://schemas.openxmlformats.org/drawingml/2006/main">
            <a:pPr algn="l">
              <a:defRPr sz="1875" b="0">
                <a:solidFill>
                  <a:srgbClr val="17324D"/>
                </a:solidFill>
              </a:defRPr>
            </a:pPr>
            <a:r>
              <a:rPr sz="1875" b="0">
                <a:solidFill>
                  <a:srgbClr val="17324D"/>
                </a:solidFill>
              </a:rPr>
              <a:t>GAE: γ = 0.97, λ = 0.92</a:t>
            </a:r>
          </a:p>
        </p:txBody>
      </p:sp>
      <p:sp>
        <p:nvSpPr>
          <p:cNvPr id="10" name="">
            <a:extLst xmlns:a="http://schemas.openxmlformats.org/drawingml/2006/main">
              <a:ext uri="{FF2B5EF4-FFF2-40B4-BE49-F238E27FC236}">
                <a16:creationId xmlns:a16="http://schemas.microsoft.com/office/drawing/2014/main" id="{B63ACD62-617B-463F-8FAD-9192E48AB6B4}"/>
              </a:ext>
            </a:extLst>
          </p:cNvPr>
          <p:cNvSpPr>
            <a:spLocks xmlns:a="http://schemas.openxmlformats.org/drawingml/2006/main" noGrp="1"/>
          </p:cNvSpPr>
          <p:nvPr/>
        </p:nvSpPr>
        <p:spPr>
          <a:xfrm xmlns:a="http://schemas.openxmlformats.org/drawingml/2006/main">
            <a:off x="8191500" y="1952625"/>
            <a:ext cx="3238500" cy="2095500"/>
          </a:xfrm>
          <a:prstGeom xmlns:a="http://schemas.openxmlformats.org/drawingml/2006/main" prst="rect">
            <a:avLst/>
          </a:prstGeom>
          <a:solidFill xmlns:a="http://schemas.openxmlformats.org/drawingml/2006/main">
            <a:srgbClr val="FFFFFF"/>
          </a:solidFill>
          <a:ln xmlns:a="http://schemas.openxmlformats.org/drawingml/2006/main" w="9525">
            <a:solidFill>
              <a:srgbClr val="D9E1E8"/>
            </a:solidFill>
            <a:prstDash val="solid"/>
          </a:ln>
        </p:spPr>
      </p:sp>
      <p:sp>
        <p:nvSpPr>
          <p:cNvPr id="11" name="">
            <a:extLst xmlns:a="http://schemas.openxmlformats.org/drawingml/2006/main">
              <a:ext uri="{FF2B5EF4-FFF2-40B4-BE49-F238E27FC236}">
                <a16:creationId xmlns:a16="http://schemas.microsoft.com/office/drawing/2014/main" id="{99C670E0-1120-4622-BE3D-DDFBD3C2FD49}"/>
              </a:ext>
            </a:extLst>
          </p:cNvPr>
          <p:cNvSpPr>
            <a:spLocks xmlns:a="http://schemas.openxmlformats.org/drawingml/2006/main" noGrp="1"/>
          </p:cNvSpPr>
          <p:nvPr/>
        </p:nvSpPr>
        <p:spPr>
          <a:xfrm xmlns:a="http://schemas.openxmlformats.org/drawingml/2006/main">
            <a:off x="8401050" y="2171700"/>
            <a:ext cx="2819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875" b="1">
                <a:solidFill>
                  <a:srgbClr val="0F9D8A"/>
                </a:solidFill>
              </a:defRPr>
            </a:defPPr>
            <a:lvl1pPr algn="l">
              <a:defRPr sz="1875" b="1">
                <a:solidFill>
                  <a:srgbClr val="0F9D8A"/>
                </a:solidFill>
              </a:defRPr>
            </a:lvl1pPr>
            <a:lvl2pPr algn="l">
              <a:defRPr sz="1875" b="1">
                <a:solidFill>
                  <a:srgbClr val="0F9D8A"/>
                </a:solidFill>
              </a:defRPr>
            </a:lvl2pPr>
            <a:lvl3pPr algn="l">
              <a:defRPr sz="1875" b="1">
                <a:solidFill>
                  <a:srgbClr val="0F9D8A"/>
                </a:solidFill>
              </a:defRPr>
            </a:lvl3pPr>
            <a:lvl4pPr algn="l">
              <a:defRPr sz="1875" b="1">
                <a:solidFill>
                  <a:srgbClr val="0F9D8A"/>
                </a:solidFill>
              </a:defRPr>
            </a:lvl4pPr>
            <a:lvl5pPr algn="l">
              <a:defRPr sz="1875" b="1">
                <a:solidFill>
                  <a:srgbClr val="0F9D8A"/>
                </a:solidFill>
              </a:defRPr>
            </a:lvl5pPr>
            <a:lvl6pPr algn="l">
              <a:defRPr sz="1875" b="1">
                <a:solidFill>
                  <a:srgbClr val="0F9D8A"/>
                </a:solidFill>
              </a:defRPr>
            </a:lvl6pPr>
            <a:lvl7pPr algn="l">
              <a:defRPr sz="1875" b="1">
                <a:solidFill>
                  <a:srgbClr val="0F9D8A"/>
                </a:solidFill>
              </a:defRPr>
            </a:lvl7pPr>
            <a:lvl8pPr algn="l">
              <a:defRPr sz="1875" b="1">
                <a:solidFill>
                  <a:srgbClr val="0F9D8A"/>
                </a:solidFill>
              </a:defRPr>
            </a:lvl8pPr>
            <a:lvl9pPr algn="l">
              <a:defRPr sz="1875" b="1">
                <a:solidFill>
                  <a:srgbClr val="0F9D8A"/>
                </a:solidFill>
              </a:defRPr>
            </a:lvl9pPr>
          </a:lstStyle>
          <a:p xmlns:a="http://schemas.openxmlformats.org/drawingml/2006/main">
            <a:pPr algn="l">
              <a:defRPr sz="1875" b="1">
                <a:solidFill>
                  <a:srgbClr val="0F9D8A"/>
                </a:solidFill>
              </a:defRPr>
            </a:pPr>
            <a:r>
              <a:rPr sz="1875" b="1">
                <a:solidFill>
                  <a:srgbClr val="0F9D8A"/>
                </a:solidFill>
              </a:rPr>
              <a:t>03  ACT</a:t>
            </a:r>
          </a:p>
        </p:txBody>
      </p:sp>
      <p:sp>
        <p:nvSpPr>
          <p:cNvPr id="12" name="">
            <a:extLst xmlns:a="http://schemas.openxmlformats.org/drawingml/2006/main">
              <a:ext uri="{FF2B5EF4-FFF2-40B4-BE49-F238E27FC236}">
                <a16:creationId xmlns:a16="http://schemas.microsoft.com/office/drawing/2014/main" id="{F9828B8A-915B-4170-A7E9-D09F4822BCAA}"/>
              </a:ext>
            </a:extLst>
          </p:cNvPr>
          <p:cNvSpPr>
            <a:spLocks xmlns:a="http://schemas.openxmlformats.org/drawingml/2006/main" noGrp="1"/>
          </p:cNvSpPr>
          <p:nvPr/>
        </p:nvSpPr>
        <p:spPr>
          <a:xfrm xmlns:a="http://schemas.openxmlformats.org/drawingml/2006/main">
            <a:off x="8420100" y="2781300"/>
            <a:ext cx="276225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000"/>
          </a:bodyPr>
          <a:lstStyle xmlns:a="http://schemas.openxmlformats.org/drawingml/2006/main">
            <a:defPPr algn="l">
              <a:defRPr sz="1875" b="0">
                <a:solidFill>
                  <a:srgbClr val="17324D"/>
                </a:solidFill>
              </a:defRPr>
            </a:defPPr>
            <a:lvl1pPr algn="l">
              <a:defRPr sz="1875" b="0">
                <a:solidFill>
                  <a:srgbClr val="17324D"/>
                </a:solidFill>
              </a:defRPr>
            </a:lvl1pPr>
            <a:lvl2pPr algn="l">
              <a:defRPr sz="1875" b="0">
                <a:solidFill>
                  <a:srgbClr val="17324D"/>
                </a:solidFill>
              </a:defRPr>
            </a:lvl2pPr>
            <a:lvl3pPr algn="l">
              <a:defRPr sz="1875" b="0">
                <a:solidFill>
                  <a:srgbClr val="17324D"/>
                </a:solidFill>
              </a:defRPr>
            </a:lvl3pPr>
            <a:lvl4pPr algn="l">
              <a:defRPr sz="1875" b="0">
                <a:solidFill>
                  <a:srgbClr val="17324D"/>
                </a:solidFill>
              </a:defRPr>
            </a:lvl4pPr>
            <a:lvl5pPr algn="l">
              <a:defRPr sz="1875" b="0">
                <a:solidFill>
                  <a:srgbClr val="17324D"/>
                </a:solidFill>
              </a:defRPr>
            </a:lvl5pPr>
            <a:lvl6pPr algn="l">
              <a:defRPr sz="1875" b="0">
                <a:solidFill>
                  <a:srgbClr val="17324D"/>
                </a:solidFill>
              </a:defRPr>
            </a:lvl6pPr>
            <a:lvl7pPr algn="l">
              <a:defRPr sz="1875" b="0">
                <a:solidFill>
                  <a:srgbClr val="17324D"/>
                </a:solidFill>
              </a:defRPr>
            </a:lvl7pPr>
            <a:lvl8pPr algn="l">
              <a:defRPr sz="1875" b="0">
                <a:solidFill>
                  <a:srgbClr val="17324D"/>
                </a:solidFill>
              </a:defRPr>
            </a:lvl8pPr>
            <a:lvl9pPr algn="l">
              <a:defRPr sz="1875" b="0">
                <a:solidFill>
                  <a:srgbClr val="17324D"/>
                </a:solidFill>
              </a:defRPr>
            </a:lvl9pPr>
          </a:lstStyle>
          <a:p xmlns:a="http://schemas.openxmlformats.org/drawingml/2006/main">
            <a:pPr algn="l">
              <a:defRPr sz="1875" b="0">
                <a:solidFill>
                  <a:srgbClr val="17324D"/>
                </a:solidFill>
              </a:defRPr>
            </a:pPr>
            <a:r>
              <a:rPr sz="1875" b="0">
                <a:solidFill>
                  <a:srgbClr val="17324D"/>
                </a:solidFill>
              </a:rPr>
              <a:t>Decrease window + pacing ×0.93</a:t>
            </a:r>
          </a:p>
          <a:p xmlns:a="http://schemas.openxmlformats.org/drawingml/2006/main">
            <a:pPr algn="l">
              <a:defRPr sz="1875" b="0">
                <a:solidFill>
                  <a:srgbClr val="17324D"/>
                </a:solidFill>
              </a:defRPr>
            </a:pPr>
            <a:r>
              <a:rPr sz="1875" b="0">
                <a:solidFill>
                  <a:srgbClr val="17324D"/>
                </a:solidFill>
              </a:rPr>
              <a:t>Hold ×1.00</a:t>
            </a:r>
          </a:p>
          <a:p xmlns:a="http://schemas.openxmlformats.org/drawingml/2006/main">
            <a:pPr algn="l">
              <a:defRPr sz="1875" b="0">
                <a:solidFill>
                  <a:srgbClr val="17324D"/>
                </a:solidFill>
              </a:defRPr>
            </a:pPr>
            <a:r>
              <a:rPr sz="1875" b="0">
                <a:solidFill>
                  <a:srgbClr val="17324D"/>
                </a:solidFill>
              </a:rPr>
              <a:t>Increase ×1.07</a:t>
            </a:r>
          </a:p>
        </p:txBody>
      </p:sp>
      <p:sp>
        <p:nvSpPr>
          <p:cNvPr id="13" name="">
            <a:extLst xmlns:a="http://schemas.openxmlformats.org/drawingml/2006/main">
              <a:ext uri="{FF2B5EF4-FFF2-40B4-BE49-F238E27FC236}">
                <a16:creationId xmlns:a16="http://schemas.microsoft.com/office/drawing/2014/main" id="{AFFC9E07-D6EC-4C20-B242-B93B00761857}"/>
              </a:ext>
            </a:extLst>
          </p:cNvPr>
          <p:cNvSpPr>
            <a:spLocks xmlns:a="http://schemas.openxmlformats.org/drawingml/2006/main" noGrp="1"/>
          </p:cNvSpPr>
          <p:nvPr/>
        </p:nvSpPr>
        <p:spPr>
          <a:xfrm xmlns:a="http://schemas.openxmlformats.org/drawingml/2006/main">
            <a:off x="876300" y="455295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203449"/>
                </a:solidFill>
              </a:defRPr>
            </a:defPPr>
            <a:lvl1pPr algn="l">
              <a:defRPr sz="1725" b="0">
                <a:solidFill>
                  <a:srgbClr val="203449"/>
                </a:solidFill>
              </a:defRPr>
            </a:lvl1pPr>
            <a:lvl2pPr algn="l">
              <a:defRPr sz="1725" b="0">
                <a:solidFill>
                  <a:srgbClr val="203449"/>
                </a:solidFill>
              </a:defRPr>
            </a:lvl2pPr>
            <a:lvl3pPr algn="l">
              <a:defRPr sz="1725" b="0">
                <a:solidFill>
                  <a:srgbClr val="203449"/>
                </a:solidFill>
              </a:defRPr>
            </a:lvl3pPr>
            <a:lvl4pPr algn="l">
              <a:defRPr sz="1725" b="0">
                <a:solidFill>
                  <a:srgbClr val="203449"/>
                </a:solidFill>
              </a:defRPr>
            </a:lvl4pPr>
            <a:lvl5pPr algn="l">
              <a:defRPr sz="1725" b="0">
                <a:solidFill>
                  <a:srgbClr val="203449"/>
                </a:solidFill>
              </a:defRPr>
            </a:lvl5pPr>
            <a:lvl6pPr algn="l">
              <a:defRPr sz="1725" b="0">
                <a:solidFill>
                  <a:srgbClr val="203449"/>
                </a:solidFill>
              </a:defRPr>
            </a:lvl6pPr>
            <a:lvl7pPr algn="l">
              <a:defRPr sz="1725" b="0">
                <a:solidFill>
                  <a:srgbClr val="203449"/>
                </a:solidFill>
              </a:defRPr>
            </a:lvl7pPr>
            <a:lvl8pPr algn="l">
              <a:defRPr sz="1725" b="0">
                <a:solidFill>
                  <a:srgbClr val="203449"/>
                </a:solidFill>
              </a:defRPr>
            </a:lvl8pPr>
            <a:lvl9pPr algn="l">
              <a:defRPr sz="1725" b="0">
                <a:solidFill>
                  <a:srgbClr val="203449"/>
                </a:solidFill>
              </a:defRPr>
            </a:lvl9pPr>
          </a:lstStyle>
          <a:p xmlns:a="http://schemas.openxmlformats.org/drawingml/2006/main">
            <a:pPr algn="l">
              <a:defRPr sz="1725" b="0">
                <a:solidFill>
                  <a:srgbClr val="203449"/>
                </a:solidFill>
              </a:defRPr>
            </a:pPr>
            <a:r>
              <a:rPr sz="1725" b="0">
                <a:solidFill>
                  <a:srgbClr val="203449"/>
                </a:solidFill>
              </a:rPr>
              <a:t>Reward: goodput − queue penalty − loss penalty − delay penalty</a:t>
            </a:r>
          </a:p>
        </p:txBody>
      </p:sp>
      <p:sp>
        <p:nvSpPr>
          <p:cNvPr id="14" name="">
            <a:extLst xmlns:a="http://schemas.openxmlformats.org/drawingml/2006/main">
              <a:ext uri="{FF2B5EF4-FFF2-40B4-BE49-F238E27FC236}">
                <a16:creationId xmlns:a16="http://schemas.microsoft.com/office/drawing/2014/main" id="{DD2832B9-9B80-4F9A-8D85-75F3591BB6A6}"/>
              </a:ext>
            </a:extLst>
          </p:cNvPr>
          <p:cNvSpPr>
            <a:spLocks xmlns:a="http://schemas.openxmlformats.org/drawingml/2006/main" noGrp="1"/>
          </p:cNvSpPr>
          <p:nvPr/>
        </p:nvSpPr>
        <p:spPr>
          <a:xfrm xmlns:a="http://schemas.openxmlformats.org/drawingml/2006/main">
            <a:off x="876300" y="5181600"/>
            <a:ext cx="10287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203449"/>
                </a:solidFill>
              </a:defRPr>
            </a:defPPr>
            <a:lvl1pPr algn="l">
              <a:defRPr sz="1725" b="0">
                <a:solidFill>
                  <a:srgbClr val="203449"/>
                </a:solidFill>
              </a:defRPr>
            </a:lvl1pPr>
            <a:lvl2pPr algn="l">
              <a:defRPr sz="1725" b="0">
                <a:solidFill>
                  <a:srgbClr val="203449"/>
                </a:solidFill>
              </a:defRPr>
            </a:lvl2pPr>
            <a:lvl3pPr algn="l">
              <a:defRPr sz="1725" b="0">
                <a:solidFill>
                  <a:srgbClr val="203449"/>
                </a:solidFill>
              </a:defRPr>
            </a:lvl3pPr>
            <a:lvl4pPr algn="l">
              <a:defRPr sz="1725" b="0">
                <a:solidFill>
                  <a:srgbClr val="203449"/>
                </a:solidFill>
              </a:defRPr>
            </a:lvl4pPr>
            <a:lvl5pPr algn="l">
              <a:defRPr sz="1725" b="0">
                <a:solidFill>
                  <a:srgbClr val="203449"/>
                </a:solidFill>
              </a:defRPr>
            </a:lvl5pPr>
            <a:lvl6pPr algn="l">
              <a:defRPr sz="1725" b="0">
                <a:solidFill>
                  <a:srgbClr val="203449"/>
                </a:solidFill>
              </a:defRPr>
            </a:lvl6pPr>
            <a:lvl7pPr algn="l">
              <a:defRPr sz="1725" b="0">
                <a:solidFill>
                  <a:srgbClr val="203449"/>
                </a:solidFill>
              </a:defRPr>
            </a:lvl7pPr>
            <a:lvl8pPr algn="l">
              <a:defRPr sz="1725" b="0">
                <a:solidFill>
                  <a:srgbClr val="203449"/>
                </a:solidFill>
              </a:defRPr>
            </a:lvl8pPr>
            <a:lvl9pPr algn="l">
              <a:defRPr sz="1725" b="0">
                <a:solidFill>
                  <a:srgbClr val="203449"/>
                </a:solidFill>
              </a:defRPr>
            </a:lvl9pPr>
          </a:lstStyle>
          <a:p xmlns:a="http://schemas.openxmlformats.org/drawingml/2006/main">
            <a:pPr algn="l">
              <a:defRPr sz="1725" b="0">
                <a:solidFill>
                  <a:srgbClr val="203449"/>
                </a:solidFill>
              </a:defRPr>
            </a:pPr>
            <a:r>
              <a:rPr sz="1725" b="0">
                <a:solidFill>
                  <a:srgbClr val="203449"/>
                </a:solidFill>
              </a:rPr>
              <a:t>Training: 120 episodes. Evaluation: frozen policy on disjoint seeds.</a:t>
            </a:r>
          </a:p>
        </p:txBody>
      </p:sp>
    </p:spTree>
    <p:extLst>
      <p:ext uri="{BB962C8B-B14F-4D97-AF65-F5344CB8AC3E}">
        <p14:creationId xmlns:p14="http://schemas.microsoft.com/office/powerpoint/2010/main" val="1176146263"/>
      </p:ext>
    </p:extLst>
  </p:cSld>
</p:sld>
</file>

<file path=ppt/slides/slide5.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AF5AEC7-CD26-4666-8198-FB734A2A2928}"/>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prstDash val="solid"/>
          </a:ln>
        </p:spPr>
      </p:sp>
      <p:sp>
        <p:nvSpPr>
          <p:cNvPr id="2" name="">
            <a:extLst xmlns:a="http://schemas.openxmlformats.org/drawingml/2006/main">
              <a:ext uri="{FF2B5EF4-FFF2-40B4-BE49-F238E27FC236}">
                <a16:creationId xmlns:a16="http://schemas.microsoft.com/office/drawing/2014/main" id="{DB080977-F269-4677-9EFE-9DAA7B962F0B}"/>
              </a:ext>
            </a:extLst>
          </p:cNvPr>
          <p:cNvSpPr>
            <a:spLocks xmlns:a="http://schemas.openxmlformats.org/drawingml/2006/main" noGrp="1"/>
          </p:cNvSpPr>
          <p:nvPr/>
        </p:nvSpPr>
        <p:spPr>
          <a:xfrm xmlns:a="http://schemas.openxmlformats.org/drawingml/2006/main">
            <a:off x="685800" y="3810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7324D"/>
                </a:solidFill>
              </a:defRPr>
            </a:defPPr>
            <a:lvl1pPr algn="l">
              <a:defRPr sz="3300" b="1">
                <a:solidFill>
                  <a:srgbClr val="17324D"/>
                </a:solidFill>
              </a:defRPr>
            </a:lvl1pPr>
            <a:lvl2pPr algn="l">
              <a:defRPr sz="3300" b="1">
                <a:solidFill>
                  <a:srgbClr val="17324D"/>
                </a:solidFill>
              </a:defRPr>
            </a:lvl2pPr>
            <a:lvl3pPr algn="l">
              <a:defRPr sz="3300" b="1">
                <a:solidFill>
                  <a:srgbClr val="17324D"/>
                </a:solidFill>
              </a:defRPr>
            </a:lvl3pPr>
            <a:lvl4pPr algn="l">
              <a:defRPr sz="3300" b="1">
                <a:solidFill>
                  <a:srgbClr val="17324D"/>
                </a:solidFill>
              </a:defRPr>
            </a:lvl4pPr>
            <a:lvl5pPr algn="l">
              <a:defRPr sz="3300" b="1">
                <a:solidFill>
                  <a:srgbClr val="17324D"/>
                </a:solidFill>
              </a:defRPr>
            </a:lvl5pPr>
            <a:lvl6pPr algn="l">
              <a:defRPr sz="3300" b="1">
                <a:solidFill>
                  <a:srgbClr val="17324D"/>
                </a:solidFill>
              </a:defRPr>
            </a:lvl6pPr>
            <a:lvl7pPr algn="l">
              <a:defRPr sz="3300" b="1">
                <a:solidFill>
                  <a:srgbClr val="17324D"/>
                </a:solidFill>
              </a:defRPr>
            </a:lvl7pPr>
            <a:lvl8pPr algn="l">
              <a:defRPr sz="3300" b="1">
                <a:solidFill>
                  <a:srgbClr val="17324D"/>
                </a:solidFill>
              </a:defRPr>
            </a:lvl8pPr>
            <a:lvl9pPr algn="l">
              <a:defRPr sz="3300" b="1">
                <a:solidFill>
                  <a:srgbClr val="17324D"/>
                </a:solidFill>
              </a:defRPr>
            </a:lvl9pPr>
          </a:lstStyle>
          <a:p xmlns:a="http://schemas.openxmlformats.org/drawingml/2006/main">
            <a:pPr algn="l">
              <a:defRPr sz="3300" b="1">
                <a:solidFill>
                  <a:srgbClr val="17324D"/>
                </a:solidFill>
              </a:defRPr>
            </a:pPr>
            <a:r>
              <a:rPr sz="3300" b="1">
                <a:solidFill>
                  <a:srgbClr val="17324D"/>
                </a:solidFill>
              </a:rPr>
              <a:t>Controlled test scenarios</a:t>
            </a:r>
          </a:p>
        </p:txBody>
      </p:sp>
      <p:sp>
        <p:nvSpPr>
          <p:cNvPr id="3" name="">
            <a:extLst xmlns:a="http://schemas.openxmlformats.org/drawingml/2006/main">
              <a:ext uri="{FF2B5EF4-FFF2-40B4-BE49-F238E27FC236}">
                <a16:creationId xmlns:a16="http://schemas.microsoft.com/office/drawing/2014/main" id="{8BCC265B-04FE-4BA0-B1CE-F7DE4DBA8177}"/>
              </a:ext>
            </a:extLst>
          </p:cNvPr>
          <p:cNvSpPr>
            <a:spLocks xmlns:a="http://schemas.openxmlformats.org/drawingml/2006/main" noGrp="1"/>
          </p:cNvSpPr>
          <p:nvPr/>
        </p:nvSpPr>
        <p:spPr>
          <a:xfrm xmlns:a="http://schemas.openxmlformats.org/drawingml/2006/main">
            <a:off x="704850" y="10096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C6B7A"/>
                </a:solidFill>
              </a:defRPr>
            </a:defPPr>
            <a:lvl1pPr algn="l">
              <a:defRPr sz="1575" b="0">
                <a:solidFill>
                  <a:srgbClr val="5C6B7A"/>
                </a:solidFill>
              </a:defRPr>
            </a:lvl1pPr>
            <a:lvl2pPr algn="l">
              <a:defRPr sz="1575" b="0">
                <a:solidFill>
                  <a:srgbClr val="5C6B7A"/>
                </a:solidFill>
              </a:defRPr>
            </a:lvl2pPr>
            <a:lvl3pPr algn="l">
              <a:defRPr sz="1575" b="0">
                <a:solidFill>
                  <a:srgbClr val="5C6B7A"/>
                </a:solidFill>
              </a:defRPr>
            </a:lvl3pPr>
            <a:lvl4pPr algn="l">
              <a:defRPr sz="1575" b="0">
                <a:solidFill>
                  <a:srgbClr val="5C6B7A"/>
                </a:solidFill>
              </a:defRPr>
            </a:lvl4pPr>
            <a:lvl5pPr algn="l">
              <a:defRPr sz="1575" b="0">
                <a:solidFill>
                  <a:srgbClr val="5C6B7A"/>
                </a:solidFill>
              </a:defRPr>
            </a:lvl5pPr>
            <a:lvl6pPr algn="l">
              <a:defRPr sz="1575" b="0">
                <a:solidFill>
                  <a:srgbClr val="5C6B7A"/>
                </a:solidFill>
              </a:defRPr>
            </a:lvl6pPr>
            <a:lvl7pPr algn="l">
              <a:defRPr sz="1575" b="0">
                <a:solidFill>
                  <a:srgbClr val="5C6B7A"/>
                </a:solidFill>
              </a:defRPr>
            </a:lvl7pPr>
            <a:lvl8pPr algn="l">
              <a:defRPr sz="1575" b="0">
                <a:solidFill>
                  <a:srgbClr val="5C6B7A"/>
                </a:solidFill>
              </a:defRPr>
            </a:lvl8pPr>
            <a:lvl9pPr algn="l">
              <a:defRPr sz="1575" b="0">
                <a:solidFill>
                  <a:srgbClr val="5C6B7A"/>
                </a:solidFill>
              </a:defRPr>
            </a:lvl9pPr>
          </a:lstStyle>
          <a:p xmlns:a="http://schemas.openxmlformats.org/drawingml/2006/main">
            <a:pPr algn="l">
              <a:defRPr sz="1575" b="0">
                <a:solidFill>
                  <a:srgbClr val="5C6B7A"/>
                </a:solidFill>
              </a:defRPr>
            </a:pPr>
            <a:r>
              <a:rPr sz="1575" b="0">
                <a:solidFill>
                  <a:srgbClr val="5C6B7A"/>
                </a:solidFill>
              </a:rPr>
              <a:t>Four path conditions · ten held-out seeds · three sender modes</a:t>
            </a:r>
          </a:p>
        </p:txBody>
      </p:sp>
      <p:graphicFrame>
        <p:nvGraphicFramePr>
          <p:cNvPr id="4" name="">
            <a:extLst xmlns:a="http://schemas.openxmlformats.org/drawingml/2006/main">
              <a:ext uri="{FF2B5EF4-FFF2-40B4-BE49-F238E27FC236}">
                <a16:creationId xmlns:a16="http://schemas.microsoft.com/office/drawing/2014/main" id="{3BA67341-7A5E-441C-BE89-5939006B2AA9}"/>
              </a:ext>
            </a:extLst>
          </p:cNvPr>
          <p:cNvGraphicFramePr/>
          <p:nvPr/>
        </p:nvGraphicFramePr>
        <p:xfrm>
          <a:off xmlns:a="http://schemas.openxmlformats.org/drawingml/2006/main" x="685800" y="1666875"/>
          <a:ext xmlns:a="http://schemas.openxmlformats.org/drawingml/2006/main" cx="10820400" cy="3086100"/>
        </p:xfrm>
        <a:graphic xmlns:a="http://schemas.openxmlformats.org/drawingml/2006/main">
          <a:graphicData uri="http://schemas.openxmlformats.org/drawingml/2006/table">
            <a:tbl>
              <a:tblPr firstRow="1" bandRow="1"/>
              <a:tblGrid>
                <a:gridCol w="2952750"/>
                <a:gridCol w="1762125"/>
                <a:gridCol w="1809750"/>
                <a:gridCol w="2190750"/>
                <a:gridCol w="2105025"/>
              </a:tblGrid>
              <a:tr h="617220">
                <a:tc>
                  <a:txBody>
                    <a:bodyPr/>
                    <a:lstStyle/>
                    <a:p>
                      <a:r>
                        <a:rPr sz="1500" b="1">
                          <a:solidFill>
                            <a:srgbClr val="FFFFFF"/>
                          </a:solidFill>
                        </a:rPr>
                        <a:t>Scenario</a:t>
                      </a:r>
                    </a:p>
                  </a:txBody>
                  <a:tcPr marL="91440" marR="91440" marT="45720" marB="45720">
                    <a:lnL w="9525">
                      <a:solidFill>
                        <a:srgbClr val="D9E1E8"/>
                      </a:solidFill>
                      <a:prstDash val="solid"/>
                    </a:lnL>
                    <a:lnR w="9525">
                      <a:solidFill>
                        <a:srgbClr val="D9E1E8"/>
                      </a:solidFill>
                      <a:prstDash val="solid"/>
                    </a:lnR>
                    <a:lnT w="9525">
                      <a:solidFill>
                        <a:srgbClr val="D9E1E8"/>
                      </a:solidFill>
                      <a:prstDash val="solid"/>
                    </a:lnT>
                    <a:lnB w="9525">
                      <a:solidFill>
                        <a:srgbClr val="D9E1E8"/>
                      </a:solidFill>
                      <a:prstDash val="solid"/>
                    </a:lnB>
                    <a:solidFill>
                      <a:srgbClr val="17324D"/>
                    </a:solidFill>
                  </a:tcPr>
                </a:tc>
                <a:tc>
                  <a:txBody>
                    <a:bodyPr/>
                    <a:lstStyle/>
                    <a:p>
                      <a:r>
                        <a:rPr sz="1500" b="1">
                          <a:solidFill>
                            <a:srgbClr val="FFFFFF"/>
                          </a:solidFill>
                        </a:rPr>
                        <a:t>Random loss</a:t>
                      </a:r>
                    </a:p>
                  </a:txBody>
                  <a:tcPr marL="91440" marR="91440" marT="45720" marB="45720">
                    <a:lnR w="9525">
                      <a:solidFill>
                        <a:srgbClr val="D9E1E8"/>
                      </a:solidFill>
                      <a:prstDash val="solid"/>
                    </a:lnR>
                    <a:lnT w="9525">
                      <a:solidFill>
                        <a:srgbClr val="D9E1E8"/>
                      </a:solidFill>
                      <a:prstDash val="solid"/>
                    </a:lnT>
                    <a:lnB w="9525">
                      <a:solidFill>
                        <a:srgbClr val="D9E1E8"/>
                      </a:solidFill>
                      <a:prstDash val="solid"/>
                    </a:lnB>
                    <a:solidFill>
                      <a:srgbClr val="17324D"/>
                    </a:solidFill>
                  </a:tcPr>
                </a:tc>
                <a:tc>
                  <a:txBody>
                    <a:bodyPr/>
                    <a:lstStyle/>
                    <a:p>
                      <a:r>
                        <a:rPr sz="1500" b="1">
                          <a:solidFill>
                            <a:srgbClr val="FFFFFF"/>
                          </a:solidFill>
                        </a:rPr>
                        <a:t>Baseline RTT</a:t>
                      </a:r>
                    </a:p>
                  </a:txBody>
                  <a:tcPr marL="91440" marR="91440" marT="45720" marB="45720">
                    <a:lnR w="9525">
                      <a:solidFill>
                        <a:srgbClr val="D9E1E8"/>
                      </a:solidFill>
                      <a:prstDash val="solid"/>
                    </a:lnR>
                    <a:lnT w="9525">
                      <a:solidFill>
                        <a:srgbClr val="D9E1E8"/>
                      </a:solidFill>
                      <a:prstDash val="solid"/>
                    </a:lnT>
                    <a:lnB w="9525">
                      <a:solidFill>
                        <a:srgbClr val="D9E1E8"/>
                      </a:solidFill>
                      <a:prstDash val="solid"/>
                    </a:lnB>
                    <a:solidFill>
                      <a:srgbClr val="17324D"/>
                    </a:solidFill>
                  </a:tcPr>
                </a:tc>
                <a:tc>
                  <a:txBody>
                    <a:bodyPr/>
                    <a:lstStyle/>
                    <a:p>
                      <a:r>
                        <a:rPr sz="1500" b="1">
                          <a:solidFill>
                            <a:srgbClr val="FFFFFF"/>
                          </a:solidFill>
                        </a:rPr>
                        <a:t>Link capacity</a:t>
                      </a:r>
                    </a:p>
                  </a:txBody>
                  <a:tcPr marL="91440" marR="91440" marT="45720" marB="45720">
                    <a:lnR w="9525">
                      <a:solidFill>
                        <a:srgbClr val="D9E1E8"/>
                      </a:solidFill>
                      <a:prstDash val="solid"/>
                    </a:lnR>
                    <a:lnT w="9525">
                      <a:solidFill>
                        <a:srgbClr val="D9E1E8"/>
                      </a:solidFill>
                      <a:prstDash val="solid"/>
                    </a:lnT>
                    <a:lnB w="9525">
                      <a:solidFill>
                        <a:srgbClr val="D9E1E8"/>
                      </a:solidFill>
                      <a:prstDash val="solid"/>
                    </a:lnB>
                    <a:solidFill>
                      <a:srgbClr val="17324D"/>
                    </a:solidFill>
                  </a:tcPr>
                </a:tc>
                <a:tc>
                  <a:txBody>
                    <a:bodyPr/>
                    <a:lstStyle/>
                    <a:p>
                      <a:r>
                        <a:rPr sz="1500" b="1">
                          <a:solidFill>
                            <a:srgbClr val="FFFFFF"/>
                          </a:solidFill>
                        </a:rPr>
                        <a:t>Queue capacity</a:t>
                      </a:r>
                    </a:p>
                  </a:txBody>
                  <a:tcPr marL="91440" marR="91440" marT="45720" marB="45720">
                    <a:lnR w="9525">
                      <a:solidFill>
                        <a:srgbClr val="D9E1E8"/>
                      </a:solidFill>
                      <a:prstDash val="solid"/>
                    </a:lnR>
                    <a:lnT w="9525">
                      <a:solidFill>
                        <a:srgbClr val="D9E1E8"/>
                      </a:solidFill>
                      <a:prstDash val="solid"/>
                    </a:lnT>
                    <a:lnB w="9525">
                      <a:solidFill>
                        <a:srgbClr val="D9E1E8"/>
                      </a:solidFill>
                      <a:prstDash val="solid"/>
                    </a:lnB>
                    <a:solidFill>
                      <a:srgbClr val="17324D"/>
                    </a:solidFill>
                  </a:tcPr>
                </a:tc>
              </a:tr>
              <a:tr h="617220">
                <a:tc>
                  <a:txBody>
                    <a:bodyPr/>
                    <a:lstStyle/>
                    <a:p>
                      <a:r>
                        <a:rPr sz="1500">
                          <a:solidFill>
                            <a:srgbClr val="203449"/>
                          </a:solidFill>
                        </a:rPr>
                        <a:t>Clean link</a:t>
                      </a:r>
                    </a:p>
                  </a:txBody>
                  <a:tcPr marL="91440" marR="91440" marT="45720" marB="45720">
                    <a:lnL w="9525">
                      <a:solidFill>
                        <a:srgbClr val="D9E1E8"/>
                      </a:solidFill>
                      <a:prstDash val="solid"/>
                    </a:lnL>
                    <a:lnR w="9525">
                      <a:solidFill>
                        <a:srgbClr val="D9E1E8"/>
                      </a:solidFill>
                      <a:prstDash val="solid"/>
                    </a:lnR>
                    <a:lnB w="9525">
                      <a:solidFill>
                        <a:srgbClr val="D9E1E8"/>
                      </a:solidFill>
                      <a:prstDash val="solid"/>
                    </a:lnB>
                  </a:tcPr>
                </a:tc>
                <a:tc>
                  <a:txBody>
                    <a:bodyPr/>
                    <a:lstStyle/>
                    <a:p>
                      <a:r>
                        <a:rPr sz="1500">
                          <a:solidFill>
                            <a:srgbClr val="203449"/>
                          </a:solidFill>
                        </a:rPr>
                        <a:t>0%</a:t>
                      </a:r>
                    </a:p>
                  </a:txBody>
                  <a:tcPr marL="91440" marR="91440" marT="45720" marB="45720">
                    <a:lnR w="9525">
                      <a:solidFill>
                        <a:srgbClr val="D9E1E8"/>
                      </a:solidFill>
                      <a:prstDash val="solid"/>
                    </a:lnR>
                    <a:lnB w="9525">
                      <a:solidFill>
                        <a:srgbClr val="D9E1E8"/>
                      </a:solidFill>
                      <a:prstDash val="solid"/>
                    </a:lnB>
                  </a:tcPr>
                </a:tc>
                <a:tc>
                  <a:txBody>
                    <a:bodyPr/>
                    <a:lstStyle/>
                    <a:p>
                      <a:r>
                        <a:rPr sz="1500">
                          <a:solidFill>
                            <a:srgbClr val="203449"/>
                          </a:solidFill>
                        </a:rPr>
                        <a:t>20 ms</a:t>
                      </a:r>
                    </a:p>
                  </a:txBody>
                  <a:tcPr marL="91440" marR="91440" marT="45720" marB="45720">
                    <a:lnR w="9525">
                      <a:solidFill>
                        <a:srgbClr val="D9E1E8"/>
                      </a:solidFill>
                      <a:prstDash val="solid"/>
                    </a:lnR>
                    <a:lnB w="9525">
                      <a:solidFill>
                        <a:srgbClr val="D9E1E8"/>
                      </a:solidFill>
                      <a:prstDash val="solid"/>
                    </a:lnB>
                  </a:tcPr>
                </a:tc>
                <a:tc>
                  <a:txBody>
                    <a:bodyPr/>
                    <a:lstStyle/>
                    <a:p>
                      <a:r>
                        <a:rPr sz="1500">
                          <a:solidFill>
                            <a:srgbClr val="203449"/>
                          </a:solidFill>
                        </a:rPr>
                        <a:t>1000 pkt/s</a:t>
                      </a:r>
                    </a:p>
                  </a:txBody>
                  <a:tcPr marL="91440" marR="91440" marT="45720" marB="45720">
                    <a:lnR w="9525">
                      <a:solidFill>
                        <a:srgbClr val="D9E1E8"/>
                      </a:solidFill>
                      <a:prstDash val="solid"/>
                    </a:lnR>
                    <a:lnB w="9525">
                      <a:solidFill>
                        <a:srgbClr val="D9E1E8"/>
                      </a:solidFill>
                      <a:prstDash val="solid"/>
                    </a:lnB>
                  </a:tcPr>
                </a:tc>
                <a:tc>
                  <a:txBody>
                    <a:bodyPr/>
                    <a:lstStyle/>
                    <a:p>
                      <a:r>
                        <a:rPr sz="1500">
                          <a:solidFill>
                            <a:srgbClr val="203449"/>
                          </a:solidFill>
                        </a:rPr>
                        <a:t>100 packets</a:t>
                      </a:r>
                    </a:p>
                  </a:txBody>
                  <a:tcPr marL="91440" marR="91440" marT="45720" marB="45720">
                    <a:lnR w="9525">
                      <a:solidFill>
                        <a:srgbClr val="D9E1E8"/>
                      </a:solidFill>
                      <a:prstDash val="solid"/>
                    </a:lnR>
                    <a:lnB w="9525">
                      <a:solidFill>
                        <a:srgbClr val="D9E1E8"/>
                      </a:solidFill>
                      <a:prstDash val="solid"/>
                    </a:lnB>
                  </a:tcPr>
                </a:tc>
              </a:tr>
              <a:tr h="617220">
                <a:tc>
                  <a:txBody>
                    <a:bodyPr/>
                    <a:lstStyle/>
                    <a:p>
                      <a:r>
                        <a:rPr sz="1500">
                          <a:solidFill>
                            <a:srgbClr val="203449"/>
                          </a:solidFill>
                        </a:rPr>
                        <a:t>Wireless loss</a:t>
                      </a:r>
                    </a:p>
                  </a:txBody>
                  <a:tcPr marL="91440" marR="91440" marT="45720" marB="45720">
                    <a:lnL w="9525">
                      <a:solidFill>
                        <a:srgbClr val="D9E1E8"/>
                      </a:solidFill>
                      <a:prstDash val="solid"/>
                    </a:lnL>
                    <a:lnR w="9525">
                      <a:solidFill>
                        <a:srgbClr val="D9E1E8"/>
                      </a:solidFill>
                      <a:prstDash val="solid"/>
                    </a:lnR>
                    <a:lnB w="9525">
                      <a:solidFill>
                        <a:srgbClr val="D9E1E8"/>
                      </a:solidFill>
                      <a:prstDash val="solid"/>
                    </a:lnB>
                  </a:tcPr>
                </a:tc>
                <a:tc>
                  <a:txBody>
                    <a:bodyPr/>
                    <a:lstStyle/>
                    <a:p>
                      <a:r>
                        <a:rPr sz="1500">
                          <a:solidFill>
                            <a:srgbClr val="203449"/>
                          </a:solidFill>
                        </a:rPr>
                        <a:t>8%</a:t>
                      </a:r>
                    </a:p>
                  </a:txBody>
                  <a:tcPr marL="91440" marR="91440" marT="45720" marB="45720">
                    <a:lnR w="9525">
                      <a:solidFill>
                        <a:srgbClr val="D9E1E8"/>
                      </a:solidFill>
                      <a:prstDash val="solid"/>
                    </a:lnR>
                    <a:lnB w="9525">
                      <a:solidFill>
                        <a:srgbClr val="D9E1E8"/>
                      </a:solidFill>
                      <a:prstDash val="solid"/>
                    </a:lnB>
                  </a:tcPr>
                </a:tc>
                <a:tc>
                  <a:txBody>
                    <a:bodyPr/>
                    <a:lstStyle/>
                    <a:p>
                      <a:r>
                        <a:rPr sz="1500">
                          <a:solidFill>
                            <a:srgbClr val="203449"/>
                          </a:solidFill>
                        </a:rPr>
                        <a:t>20 ms</a:t>
                      </a:r>
                    </a:p>
                  </a:txBody>
                  <a:tcPr marL="91440" marR="91440" marT="45720" marB="45720">
                    <a:lnR w="9525">
                      <a:solidFill>
                        <a:srgbClr val="D9E1E8"/>
                      </a:solidFill>
                      <a:prstDash val="solid"/>
                    </a:lnR>
                    <a:lnB w="9525">
                      <a:solidFill>
                        <a:srgbClr val="D9E1E8"/>
                      </a:solidFill>
                      <a:prstDash val="solid"/>
                    </a:lnB>
                  </a:tcPr>
                </a:tc>
                <a:tc>
                  <a:txBody>
                    <a:bodyPr/>
                    <a:lstStyle/>
                    <a:p>
                      <a:r>
                        <a:rPr sz="1500">
                          <a:solidFill>
                            <a:srgbClr val="203449"/>
                          </a:solidFill>
                        </a:rPr>
                        <a:t>1000 pkt/s</a:t>
                      </a:r>
                    </a:p>
                  </a:txBody>
                  <a:tcPr marL="91440" marR="91440" marT="45720" marB="45720">
                    <a:lnR w="9525">
                      <a:solidFill>
                        <a:srgbClr val="D9E1E8"/>
                      </a:solidFill>
                      <a:prstDash val="solid"/>
                    </a:lnR>
                    <a:lnB w="9525">
                      <a:solidFill>
                        <a:srgbClr val="D9E1E8"/>
                      </a:solidFill>
                      <a:prstDash val="solid"/>
                    </a:lnB>
                  </a:tcPr>
                </a:tc>
                <a:tc>
                  <a:txBody>
                    <a:bodyPr/>
                    <a:lstStyle/>
                    <a:p>
                      <a:r>
                        <a:rPr sz="1500">
                          <a:solidFill>
                            <a:srgbClr val="203449"/>
                          </a:solidFill>
                        </a:rPr>
                        <a:t>100 packets</a:t>
                      </a:r>
                    </a:p>
                  </a:txBody>
                  <a:tcPr marL="91440" marR="91440" marT="45720" marB="45720">
                    <a:lnR w="9525">
                      <a:solidFill>
                        <a:srgbClr val="D9E1E8"/>
                      </a:solidFill>
                      <a:prstDash val="solid"/>
                    </a:lnR>
                    <a:lnB w="9525">
                      <a:solidFill>
                        <a:srgbClr val="D9E1E8"/>
                      </a:solidFill>
                      <a:prstDash val="solid"/>
                    </a:lnB>
                  </a:tcPr>
                </a:tc>
              </a:tr>
              <a:tr h="617220">
                <a:tc>
                  <a:txBody>
                    <a:bodyPr/>
                    <a:lstStyle/>
                    <a:p>
                      <a:r>
                        <a:rPr sz="1500">
                          <a:solidFill>
                            <a:srgbClr val="203449"/>
                          </a:solidFill>
                        </a:rPr>
                        <a:t>High delay</a:t>
                      </a:r>
                    </a:p>
                  </a:txBody>
                  <a:tcPr marL="91440" marR="91440" marT="45720" marB="45720">
                    <a:lnL w="9525">
                      <a:solidFill>
                        <a:srgbClr val="D9E1E8"/>
                      </a:solidFill>
                      <a:prstDash val="solid"/>
                    </a:lnL>
                    <a:lnR w="9525">
                      <a:solidFill>
                        <a:srgbClr val="D9E1E8"/>
                      </a:solidFill>
                      <a:prstDash val="solid"/>
                    </a:lnR>
                    <a:lnB w="9525">
                      <a:solidFill>
                        <a:srgbClr val="D9E1E8"/>
                      </a:solidFill>
                      <a:prstDash val="solid"/>
                    </a:lnB>
                  </a:tcPr>
                </a:tc>
                <a:tc>
                  <a:txBody>
                    <a:bodyPr/>
                    <a:lstStyle/>
                    <a:p>
                      <a:r>
                        <a:rPr sz="1500">
                          <a:solidFill>
                            <a:srgbClr val="203449"/>
                          </a:solidFill>
                        </a:rPr>
                        <a:t>2%</a:t>
                      </a:r>
                    </a:p>
                  </a:txBody>
                  <a:tcPr marL="91440" marR="91440" marT="45720" marB="45720">
                    <a:lnR w="9525">
                      <a:solidFill>
                        <a:srgbClr val="D9E1E8"/>
                      </a:solidFill>
                      <a:prstDash val="solid"/>
                    </a:lnR>
                    <a:lnB w="9525">
                      <a:solidFill>
                        <a:srgbClr val="D9E1E8"/>
                      </a:solidFill>
                      <a:prstDash val="solid"/>
                    </a:lnB>
                  </a:tcPr>
                </a:tc>
                <a:tc>
                  <a:txBody>
                    <a:bodyPr/>
                    <a:lstStyle/>
                    <a:p>
                      <a:r>
                        <a:rPr sz="1500">
                          <a:solidFill>
                            <a:srgbClr val="203449"/>
                          </a:solidFill>
                        </a:rPr>
                        <a:t>100 ms</a:t>
                      </a:r>
                    </a:p>
                  </a:txBody>
                  <a:tcPr marL="91440" marR="91440" marT="45720" marB="45720">
                    <a:lnR w="9525">
                      <a:solidFill>
                        <a:srgbClr val="D9E1E8"/>
                      </a:solidFill>
                      <a:prstDash val="solid"/>
                    </a:lnR>
                    <a:lnB w="9525">
                      <a:solidFill>
                        <a:srgbClr val="D9E1E8"/>
                      </a:solidFill>
                      <a:prstDash val="solid"/>
                    </a:lnB>
                  </a:tcPr>
                </a:tc>
                <a:tc>
                  <a:txBody>
                    <a:bodyPr/>
                    <a:lstStyle/>
                    <a:p>
                      <a:r>
                        <a:rPr sz="1500">
                          <a:solidFill>
                            <a:srgbClr val="203449"/>
                          </a:solidFill>
                        </a:rPr>
                        <a:t>1000 pkt/s</a:t>
                      </a:r>
                    </a:p>
                  </a:txBody>
                  <a:tcPr marL="91440" marR="91440" marT="45720" marB="45720">
                    <a:lnR w="9525">
                      <a:solidFill>
                        <a:srgbClr val="D9E1E8"/>
                      </a:solidFill>
                      <a:prstDash val="solid"/>
                    </a:lnR>
                    <a:lnB w="9525">
                      <a:solidFill>
                        <a:srgbClr val="D9E1E8"/>
                      </a:solidFill>
                      <a:prstDash val="solid"/>
                    </a:lnB>
                  </a:tcPr>
                </a:tc>
                <a:tc>
                  <a:txBody>
                    <a:bodyPr/>
                    <a:lstStyle/>
                    <a:p>
                      <a:r>
                        <a:rPr sz="1500">
                          <a:solidFill>
                            <a:srgbClr val="203449"/>
                          </a:solidFill>
                        </a:rPr>
                        <a:t>100 packets</a:t>
                      </a:r>
                    </a:p>
                  </a:txBody>
                  <a:tcPr marL="91440" marR="91440" marT="45720" marB="45720">
                    <a:lnR w="9525">
                      <a:solidFill>
                        <a:srgbClr val="D9E1E8"/>
                      </a:solidFill>
                      <a:prstDash val="solid"/>
                    </a:lnR>
                    <a:lnB w="9525">
                      <a:solidFill>
                        <a:srgbClr val="D9E1E8"/>
                      </a:solidFill>
                      <a:prstDash val="solid"/>
                    </a:lnB>
                  </a:tcPr>
                </a:tc>
              </a:tr>
              <a:tr h="617220">
                <a:tc>
                  <a:txBody>
                    <a:bodyPr/>
                    <a:lstStyle/>
                    <a:p>
                      <a:r>
                        <a:rPr sz="1500">
                          <a:solidFill>
                            <a:srgbClr val="203449"/>
                          </a:solidFill>
                        </a:rPr>
                        <a:t>Congested bottleneck</a:t>
                      </a:r>
                    </a:p>
                  </a:txBody>
                  <a:tcPr marL="91440" marR="91440" marT="45720" marB="45720">
                    <a:lnL w="9525">
                      <a:solidFill>
                        <a:srgbClr val="D9E1E8"/>
                      </a:solidFill>
                      <a:prstDash val="solid"/>
                    </a:lnL>
                    <a:lnR w="9525">
                      <a:solidFill>
                        <a:srgbClr val="D9E1E8"/>
                      </a:solidFill>
                      <a:prstDash val="solid"/>
                    </a:lnR>
                    <a:lnB w="9525">
                      <a:solidFill>
                        <a:srgbClr val="D9E1E8"/>
                      </a:solidFill>
                      <a:prstDash val="solid"/>
                    </a:lnB>
                  </a:tcPr>
                </a:tc>
                <a:tc>
                  <a:txBody>
                    <a:bodyPr/>
                    <a:lstStyle/>
                    <a:p>
                      <a:r>
                        <a:rPr sz="1500">
                          <a:solidFill>
                            <a:srgbClr val="203449"/>
                          </a:solidFill>
                        </a:rPr>
                        <a:t>5%</a:t>
                      </a:r>
                    </a:p>
                  </a:txBody>
                  <a:tcPr marL="91440" marR="91440" marT="45720" marB="45720">
                    <a:lnR w="9525">
                      <a:solidFill>
                        <a:srgbClr val="D9E1E8"/>
                      </a:solidFill>
                      <a:prstDash val="solid"/>
                    </a:lnR>
                    <a:lnB w="9525">
                      <a:solidFill>
                        <a:srgbClr val="D9E1E8"/>
                      </a:solidFill>
                      <a:prstDash val="solid"/>
                    </a:lnB>
                  </a:tcPr>
                </a:tc>
                <a:tc>
                  <a:txBody>
                    <a:bodyPr/>
                    <a:lstStyle/>
                    <a:p>
                      <a:r>
                        <a:rPr sz="1500">
                          <a:solidFill>
                            <a:srgbClr val="203449"/>
                          </a:solidFill>
                        </a:rPr>
                        <a:t>40 ms</a:t>
                      </a:r>
                    </a:p>
                  </a:txBody>
                  <a:tcPr marL="91440" marR="91440" marT="45720" marB="45720">
                    <a:lnR w="9525">
                      <a:solidFill>
                        <a:srgbClr val="D9E1E8"/>
                      </a:solidFill>
                      <a:prstDash val="solid"/>
                    </a:lnR>
                    <a:lnB w="9525">
                      <a:solidFill>
                        <a:srgbClr val="D9E1E8"/>
                      </a:solidFill>
                      <a:prstDash val="solid"/>
                    </a:lnB>
                  </a:tcPr>
                </a:tc>
                <a:tc>
                  <a:txBody>
                    <a:bodyPr/>
                    <a:lstStyle/>
                    <a:p>
                      <a:r>
                        <a:rPr sz="1500">
                          <a:solidFill>
                            <a:srgbClr val="203449"/>
                          </a:solidFill>
                        </a:rPr>
                        <a:t>500 pkt/s</a:t>
                      </a:r>
                    </a:p>
                  </a:txBody>
                  <a:tcPr marL="91440" marR="91440" marT="45720" marB="45720">
                    <a:lnR w="9525">
                      <a:solidFill>
                        <a:srgbClr val="D9E1E8"/>
                      </a:solidFill>
                      <a:prstDash val="solid"/>
                    </a:lnR>
                    <a:lnB w="9525">
                      <a:solidFill>
                        <a:srgbClr val="D9E1E8"/>
                      </a:solidFill>
                      <a:prstDash val="solid"/>
                    </a:lnB>
                  </a:tcPr>
                </a:tc>
                <a:tc>
                  <a:txBody>
                    <a:bodyPr/>
                    <a:lstStyle/>
                    <a:p>
                      <a:r>
                        <a:rPr sz="1500">
                          <a:solidFill>
                            <a:srgbClr val="203449"/>
                          </a:solidFill>
                        </a:rPr>
                        <a:t>24 packets</a:t>
                      </a:r>
                    </a:p>
                  </a:txBody>
                  <a:tcPr marL="91440" marR="91440" marT="45720" marB="45720">
                    <a:lnR w="9525">
                      <a:solidFill>
                        <a:srgbClr val="D9E1E8"/>
                      </a:solidFill>
                      <a:prstDash val="solid"/>
                    </a:lnR>
                    <a:lnB w="9525">
                      <a:solidFill>
                        <a:srgbClr val="D9E1E8"/>
                      </a:solidFill>
                      <a:prstDash val="solid"/>
                    </a:lnB>
                  </a:tcPr>
                </a:tc>
              </a:tr>
            </a:tbl>
          </a:graphicData>
        </a:graphic>
      </p:graphicFrame>
      <p:sp>
        <p:nvSpPr>
          <p:cNvPr id="5" name="">
            <a:extLst xmlns:a="http://schemas.openxmlformats.org/drawingml/2006/main">
              <a:ext uri="{FF2B5EF4-FFF2-40B4-BE49-F238E27FC236}">
                <a16:creationId xmlns:a16="http://schemas.microsoft.com/office/drawing/2014/main" id="{2A901B68-5CF9-46EA-9EF9-CA7FEE086A99}"/>
              </a:ext>
            </a:extLst>
          </p:cNvPr>
          <p:cNvSpPr>
            <a:spLocks xmlns:a="http://schemas.openxmlformats.org/drawingml/2006/main" noGrp="1"/>
          </p:cNvSpPr>
          <p:nvPr/>
        </p:nvSpPr>
        <p:spPr>
          <a:xfrm xmlns:a="http://schemas.openxmlformats.org/drawingml/2006/main">
            <a:off x="781050" y="5153025"/>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324D"/>
                </a:solidFill>
              </a:defRPr>
            </a:defPPr>
            <a:lvl1pPr algn="l">
              <a:defRPr sz="1650" b="1">
                <a:solidFill>
                  <a:srgbClr val="17324D"/>
                </a:solidFill>
              </a:defRPr>
            </a:lvl1pPr>
            <a:lvl2pPr algn="l">
              <a:defRPr sz="1650" b="1">
                <a:solidFill>
                  <a:srgbClr val="17324D"/>
                </a:solidFill>
              </a:defRPr>
            </a:lvl2pPr>
            <a:lvl3pPr algn="l">
              <a:defRPr sz="1650" b="1">
                <a:solidFill>
                  <a:srgbClr val="17324D"/>
                </a:solidFill>
              </a:defRPr>
            </a:lvl3pPr>
            <a:lvl4pPr algn="l">
              <a:defRPr sz="1650" b="1">
                <a:solidFill>
                  <a:srgbClr val="17324D"/>
                </a:solidFill>
              </a:defRPr>
            </a:lvl4pPr>
            <a:lvl5pPr algn="l">
              <a:defRPr sz="1650" b="1">
                <a:solidFill>
                  <a:srgbClr val="17324D"/>
                </a:solidFill>
              </a:defRPr>
            </a:lvl5pPr>
            <a:lvl6pPr algn="l">
              <a:defRPr sz="1650" b="1">
                <a:solidFill>
                  <a:srgbClr val="17324D"/>
                </a:solidFill>
              </a:defRPr>
            </a:lvl6pPr>
            <a:lvl7pPr algn="l">
              <a:defRPr sz="1650" b="1">
                <a:solidFill>
                  <a:srgbClr val="17324D"/>
                </a:solidFill>
              </a:defRPr>
            </a:lvl7pPr>
            <a:lvl8pPr algn="l">
              <a:defRPr sz="1650" b="1">
                <a:solidFill>
                  <a:srgbClr val="17324D"/>
                </a:solidFill>
              </a:defRPr>
            </a:lvl8pPr>
            <a:lvl9pPr algn="l">
              <a:defRPr sz="1650" b="1">
                <a:solidFill>
                  <a:srgbClr val="17324D"/>
                </a:solidFill>
              </a:defRPr>
            </a:lvl9pPr>
          </a:lstStyle>
          <a:p xmlns:a="http://schemas.openxmlformats.org/drawingml/2006/main">
            <a:pPr algn="l">
              <a:defRPr sz="1650" b="1">
                <a:solidFill>
                  <a:srgbClr val="17324D"/>
                </a:solidFill>
              </a:defRPr>
            </a:pPr>
            <a:r>
              <a:rPr sz="1650" b="1">
                <a:solidFill>
                  <a:srgbClr val="17324D"/>
                </a:solidFill>
              </a:rPr>
              <a:t>5000 unique 1200-byte packets per run</a:t>
            </a:r>
          </a:p>
        </p:txBody>
      </p:sp>
      <p:sp>
        <p:nvSpPr>
          <p:cNvPr id="6" name="">
            <a:extLst xmlns:a="http://schemas.openxmlformats.org/drawingml/2006/main">
              <a:ext uri="{FF2B5EF4-FFF2-40B4-BE49-F238E27FC236}">
                <a16:creationId xmlns:a16="http://schemas.microsoft.com/office/drawing/2014/main" id="{1AC04461-260D-482F-B29E-6011B7542C88}"/>
              </a:ext>
            </a:extLst>
          </p:cNvPr>
          <p:cNvSpPr>
            <a:spLocks xmlns:a="http://schemas.openxmlformats.org/drawingml/2006/main" noGrp="1"/>
          </p:cNvSpPr>
          <p:nvPr/>
        </p:nvSpPr>
        <p:spPr>
          <a:xfrm xmlns:a="http://schemas.openxmlformats.org/drawingml/2006/main">
            <a:off x="6000750" y="5153025"/>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650" b="1">
                <a:solidFill>
                  <a:srgbClr val="0F9D8A"/>
                </a:solidFill>
              </a:defRPr>
            </a:defPPr>
            <a:lvl1pPr algn="r">
              <a:defRPr sz="1650" b="1">
                <a:solidFill>
                  <a:srgbClr val="0F9D8A"/>
                </a:solidFill>
              </a:defRPr>
            </a:lvl1pPr>
            <a:lvl2pPr algn="r">
              <a:defRPr sz="1650" b="1">
                <a:solidFill>
                  <a:srgbClr val="0F9D8A"/>
                </a:solidFill>
              </a:defRPr>
            </a:lvl2pPr>
            <a:lvl3pPr algn="r">
              <a:defRPr sz="1650" b="1">
                <a:solidFill>
                  <a:srgbClr val="0F9D8A"/>
                </a:solidFill>
              </a:defRPr>
            </a:lvl3pPr>
            <a:lvl4pPr algn="r">
              <a:defRPr sz="1650" b="1">
                <a:solidFill>
                  <a:srgbClr val="0F9D8A"/>
                </a:solidFill>
              </a:defRPr>
            </a:lvl4pPr>
            <a:lvl5pPr algn="r">
              <a:defRPr sz="1650" b="1">
                <a:solidFill>
                  <a:srgbClr val="0F9D8A"/>
                </a:solidFill>
              </a:defRPr>
            </a:lvl5pPr>
            <a:lvl6pPr algn="r">
              <a:defRPr sz="1650" b="1">
                <a:solidFill>
                  <a:srgbClr val="0F9D8A"/>
                </a:solidFill>
              </a:defRPr>
            </a:lvl6pPr>
            <a:lvl7pPr algn="r">
              <a:defRPr sz="1650" b="1">
                <a:solidFill>
                  <a:srgbClr val="0F9D8A"/>
                </a:solidFill>
              </a:defRPr>
            </a:lvl7pPr>
            <a:lvl8pPr algn="r">
              <a:defRPr sz="1650" b="1">
                <a:solidFill>
                  <a:srgbClr val="0F9D8A"/>
                </a:solidFill>
              </a:defRPr>
            </a:lvl8pPr>
            <a:lvl9pPr algn="r">
              <a:defRPr sz="1650" b="1">
                <a:solidFill>
                  <a:srgbClr val="0F9D8A"/>
                </a:solidFill>
              </a:defRPr>
            </a:lvl9pPr>
          </a:lstStyle>
          <a:p xmlns:a="http://schemas.openxmlformats.org/drawingml/2006/main">
            <a:pPr algn="r">
              <a:defRPr sz="1650" b="1">
                <a:solidFill>
                  <a:srgbClr val="0F9D8A"/>
                </a:solidFill>
              </a:defRPr>
            </a:pPr>
            <a:r>
              <a:rPr sz="1650" b="1">
                <a:solidFill>
                  <a:srgbClr val="0F9D8A"/>
                </a:solidFill>
              </a:rPr>
              <a:t>400 training episodes + 120 held-out evaluations</a:t>
            </a:r>
          </a:p>
        </p:txBody>
      </p:sp>
      <p:sp>
        <p:nvSpPr>
          <p:cNvPr id="7" name="">
            <a:extLst xmlns:a="http://schemas.openxmlformats.org/drawingml/2006/main">
              <a:ext uri="{FF2B5EF4-FFF2-40B4-BE49-F238E27FC236}">
                <a16:creationId xmlns:a16="http://schemas.microsoft.com/office/drawing/2014/main" id="{635AA48D-416D-4B38-B817-06C1D6208811}"/>
              </a:ext>
            </a:extLst>
          </p:cNvPr>
          <p:cNvSpPr>
            <a:spLocks xmlns:a="http://schemas.openxmlformats.org/drawingml/2006/main" noGrp="1"/>
          </p:cNvSpPr>
          <p:nvPr/>
        </p:nvSpPr>
        <p:spPr>
          <a:xfrm xmlns:a="http://schemas.openxmlformats.org/drawingml/2006/main">
            <a:off x="781050" y="5695950"/>
            <a:ext cx="10382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C6B7A"/>
                </a:solidFill>
              </a:defRPr>
            </a:defPPr>
            <a:lvl1pPr algn="l">
              <a:defRPr sz="1350" b="0">
                <a:solidFill>
                  <a:srgbClr val="5C6B7A"/>
                </a:solidFill>
              </a:defRPr>
            </a:lvl1pPr>
            <a:lvl2pPr algn="l">
              <a:defRPr sz="1350" b="0">
                <a:solidFill>
                  <a:srgbClr val="5C6B7A"/>
                </a:solidFill>
              </a:defRPr>
            </a:lvl2pPr>
            <a:lvl3pPr algn="l">
              <a:defRPr sz="1350" b="0">
                <a:solidFill>
                  <a:srgbClr val="5C6B7A"/>
                </a:solidFill>
              </a:defRPr>
            </a:lvl3pPr>
            <a:lvl4pPr algn="l">
              <a:defRPr sz="1350" b="0">
                <a:solidFill>
                  <a:srgbClr val="5C6B7A"/>
                </a:solidFill>
              </a:defRPr>
            </a:lvl4pPr>
            <a:lvl5pPr algn="l">
              <a:defRPr sz="1350" b="0">
                <a:solidFill>
                  <a:srgbClr val="5C6B7A"/>
                </a:solidFill>
              </a:defRPr>
            </a:lvl5pPr>
            <a:lvl6pPr algn="l">
              <a:defRPr sz="1350" b="0">
                <a:solidFill>
                  <a:srgbClr val="5C6B7A"/>
                </a:solidFill>
              </a:defRPr>
            </a:lvl6pPr>
            <a:lvl7pPr algn="l">
              <a:defRPr sz="1350" b="0">
                <a:solidFill>
                  <a:srgbClr val="5C6B7A"/>
                </a:solidFill>
              </a:defRPr>
            </a:lvl7pPr>
            <a:lvl8pPr algn="l">
              <a:defRPr sz="1350" b="0">
                <a:solidFill>
                  <a:srgbClr val="5C6B7A"/>
                </a:solidFill>
              </a:defRPr>
            </a:lvl8pPr>
            <a:lvl9pPr algn="l">
              <a:defRPr sz="1350" b="0">
                <a:solidFill>
                  <a:srgbClr val="5C6B7A"/>
                </a:solidFill>
              </a:defRPr>
            </a:lvl9pPr>
          </a:lstStyle>
          <a:p xmlns:a="http://schemas.openxmlformats.org/drawingml/2006/main">
            <a:pPr algn="l">
              <a:defRPr sz="1350" b="0">
                <a:solidFill>
                  <a:srgbClr val="5C6B7A"/>
                </a:solidFill>
              </a:defRPr>
            </a:pPr>
            <a:r>
              <a:rPr sz="1350" b="0">
                <a:solidFill>
                  <a:srgbClr val="5C6B7A"/>
                </a:solidFill>
              </a:rPr>
              <a:t>Mean ± sample SD reported across seeds; all runs use identical path parameters within a scenario.</a:t>
            </a:r>
          </a:p>
        </p:txBody>
      </p:sp>
    </p:spTree>
    <p:extLst>
      <p:ext uri="{BB962C8B-B14F-4D97-AF65-F5344CB8AC3E}">
        <p14:creationId xmlns:p14="http://schemas.microsoft.com/office/powerpoint/2010/main" val="1204827299"/>
      </p:ext>
    </p:extLst>
  </p:cSld>
</p:sld>
</file>

<file path=ppt/slides/slide6.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79A477-B407-46B1-A648-3D2C7C20CE5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prstDash val="solid"/>
          </a:ln>
        </p:spPr>
      </p:sp>
      <p:sp>
        <p:nvSpPr>
          <p:cNvPr id="2" name="">
            <a:extLst xmlns:a="http://schemas.openxmlformats.org/drawingml/2006/main">
              <a:ext uri="{FF2B5EF4-FFF2-40B4-BE49-F238E27FC236}">
                <a16:creationId xmlns:a16="http://schemas.microsoft.com/office/drawing/2014/main" id="{F4D29E32-64C2-4AEE-9F6D-567EC724ED22}"/>
              </a:ext>
            </a:extLst>
          </p:cNvPr>
          <p:cNvSpPr>
            <a:spLocks xmlns:a="http://schemas.openxmlformats.org/drawingml/2006/main" noGrp="1"/>
          </p:cNvSpPr>
          <p:nvPr/>
        </p:nvSpPr>
        <p:spPr>
          <a:xfrm xmlns:a="http://schemas.openxmlformats.org/drawingml/2006/main">
            <a:off x="685800" y="3810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7324D"/>
                </a:solidFill>
              </a:defRPr>
            </a:defPPr>
            <a:lvl1pPr algn="l">
              <a:defRPr sz="3300" b="1">
                <a:solidFill>
                  <a:srgbClr val="17324D"/>
                </a:solidFill>
              </a:defRPr>
            </a:lvl1pPr>
            <a:lvl2pPr algn="l">
              <a:defRPr sz="3300" b="1">
                <a:solidFill>
                  <a:srgbClr val="17324D"/>
                </a:solidFill>
              </a:defRPr>
            </a:lvl2pPr>
            <a:lvl3pPr algn="l">
              <a:defRPr sz="3300" b="1">
                <a:solidFill>
                  <a:srgbClr val="17324D"/>
                </a:solidFill>
              </a:defRPr>
            </a:lvl3pPr>
            <a:lvl4pPr algn="l">
              <a:defRPr sz="3300" b="1">
                <a:solidFill>
                  <a:srgbClr val="17324D"/>
                </a:solidFill>
              </a:defRPr>
            </a:lvl4pPr>
            <a:lvl5pPr algn="l">
              <a:defRPr sz="3300" b="1">
                <a:solidFill>
                  <a:srgbClr val="17324D"/>
                </a:solidFill>
              </a:defRPr>
            </a:lvl5pPr>
            <a:lvl6pPr algn="l">
              <a:defRPr sz="3300" b="1">
                <a:solidFill>
                  <a:srgbClr val="17324D"/>
                </a:solidFill>
              </a:defRPr>
            </a:lvl6pPr>
            <a:lvl7pPr algn="l">
              <a:defRPr sz="3300" b="1">
                <a:solidFill>
                  <a:srgbClr val="17324D"/>
                </a:solidFill>
              </a:defRPr>
            </a:lvl7pPr>
            <a:lvl8pPr algn="l">
              <a:defRPr sz="3300" b="1">
                <a:solidFill>
                  <a:srgbClr val="17324D"/>
                </a:solidFill>
              </a:defRPr>
            </a:lvl8pPr>
            <a:lvl9pPr algn="l">
              <a:defRPr sz="3300" b="1">
                <a:solidFill>
                  <a:srgbClr val="17324D"/>
                </a:solidFill>
              </a:defRPr>
            </a:lvl9pPr>
          </a:lstStyle>
          <a:p xmlns:a="http://schemas.openxmlformats.org/drawingml/2006/main">
            <a:pPr algn="l">
              <a:defRPr sz="3300" b="1">
                <a:solidFill>
                  <a:srgbClr val="17324D"/>
                </a:solidFill>
              </a:defRPr>
            </a:pPr>
            <a:r>
              <a:rPr sz="3300" b="1">
                <a:solidFill>
                  <a:srgbClr val="17324D"/>
                </a:solidFill>
              </a:rPr>
              <a:t>Useful throughput</a:t>
            </a:r>
          </a:p>
        </p:txBody>
      </p:sp>
      <p:sp>
        <p:nvSpPr>
          <p:cNvPr id="3" name="">
            <a:extLst xmlns:a="http://schemas.openxmlformats.org/drawingml/2006/main">
              <a:ext uri="{FF2B5EF4-FFF2-40B4-BE49-F238E27FC236}">
                <a16:creationId xmlns:a16="http://schemas.microsoft.com/office/drawing/2014/main" id="{1BF88756-DB51-4FA9-9A6C-3620043BC7A3}"/>
              </a:ext>
            </a:extLst>
          </p:cNvPr>
          <p:cNvSpPr>
            <a:spLocks xmlns:a="http://schemas.openxmlformats.org/drawingml/2006/main" noGrp="1"/>
          </p:cNvSpPr>
          <p:nvPr/>
        </p:nvSpPr>
        <p:spPr>
          <a:xfrm xmlns:a="http://schemas.openxmlformats.org/drawingml/2006/main">
            <a:off x="704850" y="10096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C6B7A"/>
                </a:solidFill>
              </a:defRPr>
            </a:defPPr>
            <a:lvl1pPr algn="l">
              <a:defRPr sz="1575" b="0">
                <a:solidFill>
                  <a:srgbClr val="5C6B7A"/>
                </a:solidFill>
              </a:defRPr>
            </a:lvl1pPr>
            <a:lvl2pPr algn="l">
              <a:defRPr sz="1575" b="0">
                <a:solidFill>
                  <a:srgbClr val="5C6B7A"/>
                </a:solidFill>
              </a:defRPr>
            </a:lvl2pPr>
            <a:lvl3pPr algn="l">
              <a:defRPr sz="1575" b="0">
                <a:solidFill>
                  <a:srgbClr val="5C6B7A"/>
                </a:solidFill>
              </a:defRPr>
            </a:lvl3pPr>
            <a:lvl4pPr algn="l">
              <a:defRPr sz="1575" b="0">
                <a:solidFill>
                  <a:srgbClr val="5C6B7A"/>
                </a:solidFill>
              </a:defRPr>
            </a:lvl4pPr>
            <a:lvl5pPr algn="l">
              <a:defRPr sz="1575" b="0">
                <a:solidFill>
                  <a:srgbClr val="5C6B7A"/>
                </a:solidFill>
              </a:defRPr>
            </a:lvl5pPr>
            <a:lvl6pPr algn="l">
              <a:defRPr sz="1575" b="0">
                <a:solidFill>
                  <a:srgbClr val="5C6B7A"/>
                </a:solidFill>
              </a:defRPr>
            </a:lvl6pPr>
            <a:lvl7pPr algn="l">
              <a:defRPr sz="1575" b="0">
                <a:solidFill>
                  <a:srgbClr val="5C6B7A"/>
                </a:solidFill>
              </a:defRPr>
            </a:lvl7pPr>
            <a:lvl8pPr algn="l">
              <a:defRPr sz="1575" b="0">
                <a:solidFill>
                  <a:srgbClr val="5C6B7A"/>
                </a:solidFill>
              </a:defRPr>
            </a:lvl8pPr>
            <a:lvl9pPr algn="l">
              <a:defRPr sz="1575" b="0">
                <a:solidFill>
                  <a:srgbClr val="5C6B7A"/>
                </a:solidFill>
              </a:defRPr>
            </a:lvl9pPr>
          </a:lstStyle>
          <a:p xmlns:a="http://schemas.openxmlformats.org/drawingml/2006/main">
            <a:pPr algn="l">
              <a:defRPr sz="1575" b="0">
                <a:solidFill>
                  <a:srgbClr val="5C6B7A"/>
                </a:solidFill>
              </a:defRPr>
            </a:pPr>
            <a:r>
              <a:rPr sz="1575" b="0">
                <a:solidFill>
                  <a:srgbClr val="5C6B7A"/>
                </a:solidFill>
              </a:rPr>
              <a:t>Mean goodput across ten seeds; higher is better</a:t>
            </a:r>
          </a:p>
        </p:txBody>
      </p:sp>
      <p:graphicFrame>
        <p:nvGraphicFramePr>
          <p:cNvPr id="4" name="Chart">
            <a:extLst xmlns:a="http://schemas.openxmlformats.org/drawingml/2006/main">
              <a:ext uri="{FF2B5EF4-FFF2-40B4-BE49-F238E27FC236}">
                <a16:creationId xmlns:a16="http://schemas.microsoft.com/office/drawing/2014/main" id="{F2E7759C-9326-46D7-B1C0-2FB7E6615723}"/>
              </a:ext>
            </a:extLst>
          </p:cNvPr>
          <p:cNvGraphicFramePr/>
          <p:nvPr/>
        </p:nvGraphicFramePr>
        <p:xfrm>
          <a:off xmlns:a="http://schemas.openxmlformats.org/drawingml/2006/main" x="685800" y="1562100"/>
          <a:ext xmlns:a="http://schemas.openxmlformats.org/drawingml/2006/main" cx="10820400" cy="4171950"/>
        </p:xfrm>
        <a:graphic xmlns:a="http://schemas.openxmlformats.org/drawingml/2006/main">
          <a:graphicData uri="http://schemas.openxmlformats.org/drawingml/2006/chart">
            <c:chart xmlns:r="http://schemas.openxmlformats.org/officeDocument/2006/relationships" xmlns:c="http://schemas.openxmlformats.org/drawingml/2006/chart" r:id="Rbc3877830f8e4fbd"/>
          </a:graphicData>
        </a:graphic>
      </p:graphicFrame>
      <p:sp>
        <p:nvSpPr>
          <p:cNvPr id="5" name="">
            <a:extLst xmlns:a="http://schemas.openxmlformats.org/drawingml/2006/main">
              <a:ext uri="{FF2B5EF4-FFF2-40B4-BE49-F238E27FC236}">
                <a16:creationId xmlns:a16="http://schemas.microsoft.com/office/drawing/2014/main" id="{9DBC30D2-7C41-425E-80A7-79AE778023C8}"/>
              </a:ext>
            </a:extLst>
          </p:cNvPr>
          <p:cNvSpPr>
            <a:spLocks xmlns:a="http://schemas.openxmlformats.org/drawingml/2006/main" noGrp="1"/>
          </p:cNvSpPr>
          <p:nvPr/>
        </p:nvSpPr>
        <p:spPr>
          <a:xfrm xmlns:a="http://schemas.openxmlformats.org/drawingml/2006/main">
            <a:off x="781050" y="58483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7324D"/>
                </a:solidFill>
              </a:defRPr>
            </a:defPPr>
            <a:lvl1pPr algn="l">
              <a:defRPr sz="1575" b="1">
                <a:solidFill>
                  <a:srgbClr val="17324D"/>
                </a:solidFill>
              </a:defRPr>
            </a:lvl1pPr>
            <a:lvl2pPr algn="l">
              <a:defRPr sz="1575" b="1">
                <a:solidFill>
                  <a:srgbClr val="17324D"/>
                </a:solidFill>
              </a:defRPr>
            </a:lvl2pPr>
            <a:lvl3pPr algn="l">
              <a:defRPr sz="1575" b="1">
                <a:solidFill>
                  <a:srgbClr val="17324D"/>
                </a:solidFill>
              </a:defRPr>
            </a:lvl3pPr>
            <a:lvl4pPr algn="l">
              <a:defRPr sz="1575" b="1">
                <a:solidFill>
                  <a:srgbClr val="17324D"/>
                </a:solidFill>
              </a:defRPr>
            </a:lvl4pPr>
            <a:lvl5pPr algn="l">
              <a:defRPr sz="1575" b="1">
                <a:solidFill>
                  <a:srgbClr val="17324D"/>
                </a:solidFill>
              </a:defRPr>
            </a:lvl5pPr>
            <a:lvl6pPr algn="l">
              <a:defRPr sz="1575" b="1">
                <a:solidFill>
                  <a:srgbClr val="17324D"/>
                </a:solidFill>
              </a:defRPr>
            </a:lvl6pPr>
            <a:lvl7pPr algn="l">
              <a:defRPr sz="1575" b="1">
                <a:solidFill>
                  <a:srgbClr val="17324D"/>
                </a:solidFill>
              </a:defRPr>
            </a:lvl7pPr>
            <a:lvl8pPr algn="l">
              <a:defRPr sz="1575" b="1">
                <a:solidFill>
                  <a:srgbClr val="17324D"/>
                </a:solidFill>
              </a:defRPr>
            </a:lvl8pPr>
            <a:lvl9pPr algn="l">
              <a:defRPr sz="1575" b="1">
                <a:solidFill>
                  <a:srgbClr val="17324D"/>
                </a:solidFill>
              </a:defRPr>
            </a:lvl9pPr>
          </a:lstStyle>
          <a:p xmlns:a="http://schemas.openxmlformats.org/drawingml/2006/main">
            <a:pPr algn="l">
              <a:defRPr sz="1575" b="1">
                <a:solidFill>
                  <a:srgbClr val="17324D"/>
                </a:solidFill>
              </a:defRPr>
            </a:pPr>
            <a:r>
              <a:rPr sz="1575" b="1">
                <a:solidFill>
                  <a:srgbClr val="17324D"/>
                </a:solidFill>
              </a:rPr>
              <a:t>PPO goodput rises 33.2% over the heuristic at high delay, with a large retry cost.</a:t>
            </a:r>
          </a:p>
        </p:txBody>
      </p:sp>
    </p:spTree>
    <p:extLst>
      <p:ext uri="{BB962C8B-B14F-4D97-AF65-F5344CB8AC3E}">
        <p14:creationId xmlns:p14="http://schemas.microsoft.com/office/powerpoint/2010/main" val="874891371"/>
      </p:ext>
    </p:extLst>
  </p:cSld>
</p:sld>
</file>

<file path=ppt/slides/slide7.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3ABE4C-FE01-46CA-9E17-EE0A1A1FE0A5}"/>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prstDash val="solid"/>
          </a:ln>
        </p:spPr>
      </p:sp>
      <p:sp>
        <p:nvSpPr>
          <p:cNvPr id="2" name="">
            <a:extLst xmlns:a="http://schemas.openxmlformats.org/drawingml/2006/main">
              <a:ext uri="{FF2B5EF4-FFF2-40B4-BE49-F238E27FC236}">
                <a16:creationId xmlns:a16="http://schemas.microsoft.com/office/drawing/2014/main" id="{47F5B3C6-38BD-436E-B1A5-A020BFE2A322}"/>
              </a:ext>
            </a:extLst>
          </p:cNvPr>
          <p:cNvSpPr>
            <a:spLocks xmlns:a="http://schemas.openxmlformats.org/drawingml/2006/main" noGrp="1"/>
          </p:cNvSpPr>
          <p:nvPr/>
        </p:nvSpPr>
        <p:spPr>
          <a:xfrm xmlns:a="http://schemas.openxmlformats.org/drawingml/2006/main">
            <a:off x="685800" y="3810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7324D"/>
                </a:solidFill>
              </a:defRPr>
            </a:defPPr>
            <a:lvl1pPr algn="l">
              <a:defRPr sz="3300" b="1">
                <a:solidFill>
                  <a:srgbClr val="17324D"/>
                </a:solidFill>
              </a:defRPr>
            </a:lvl1pPr>
            <a:lvl2pPr algn="l">
              <a:defRPr sz="3300" b="1">
                <a:solidFill>
                  <a:srgbClr val="17324D"/>
                </a:solidFill>
              </a:defRPr>
            </a:lvl2pPr>
            <a:lvl3pPr algn="l">
              <a:defRPr sz="3300" b="1">
                <a:solidFill>
                  <a:srgbClr val="17324D"/>
                </a:solidFill>
              </a:defRPr>
            </a:lvl3pPr>
            <a:lvl4pPr algn="l">
              <a:defRPr sz="3300" b="1">
                <a:solidFill>
                  <a:srgbClr val="17324D"/>
                </a:solidFill>
              </a:defRPr>
            </a:lvl4pPr>
            <a:lvl5pPr algn="l">
              <a:defRPr sz="3300" b="1">
                <a:solidFill>
                  <a:srgbClr val="17324D"/>
                </a:solidFill>
              </a:defRPr>
            </a:lvl5pPr>
            <a:lvl6pPr algn="l">
              <a:defRPr sz="3300" b="1">
                <a:solidFill>
                  <a:srgbClr val="17324D"/>
                </a:solidFill>
              </a:defRPr>
            </a:lvl6pPr>
            <a:lvl7pPr algn="l">
              <a:defRPr sz="3300" b="1">
                <a:solidFill>
                  <a:srgbClr val="17324D"/>
                </a:solidFill>
              </a:defRPr>
            </a:lvl7pPr>
            <a:lvl8pPr algn="l">
              <a:defRPr sz="3300" b="1">
                <a:solidFill>
                  <a:srgbClr val="17324D"/>
                </a:solidFill>
              </a:defRPr>
            </a:lvl8pPr>
            <a:lvl9pPr algn="l">
              <a:defRPr sz="3300" b="1">
                <a:solidFill>
                  <a:srgbClr val="17324D"/>
                </a:solidFill>
              </a:defRPr>
            </a:lvl9pPr>
          </a:lstStyle>
          <a:p xmlns:a="http://schemas.openxmlformats.org/drawingml/2006/main">
            <a:pPr algn="l">
              <a:defRPr sz="3300" b="1">
                <a:solidFill>
                  <a:srgbClr val="17324D"/>
                </a:solidFill>
              </a:defRPr>
            </a:pPr>
            <a:r>
              <a:rPr sz="3300" b="1">
                <a:solidFill>
                  <a:srgbClr val="17324D"/>
                </a:solidFill>
              </a:rPr>
              <a:t>End-to-end delay</a:t>
            </a:r>
          </a:p>
        </p:txBody>
      </p:sp>
      <p:sp>
        <p:nvSpPr>
          <p:cNvPr id="3" name="">
            <a:extLst xmlns:a="http://schemas.openxmlformats.org/drawingml/2006/main">
              <a:ext uri="{FF2B5EF4-FFF2-40B4-BE49-F238E27FC236}">
                <a16:creationId xmlns:a16="http://schemas.microsoft.com/office/drawing/2014/main" id="{E8988745-0E00-45B7-B89C-1BFF94653E7C}"/>
              </a:ext>
            </a:extLst>
          </p:cNvPr>
          <p:cNvSpPr>
            <a:spLocks xmlns:a="http://schemas.openxmlformats.org/drawingml/2006/main" noGrp="1"/>
          </p:cNvSpPr>
          <p:nvPr/>
        </p:nvSpPr>
        <p:spPr>
          <a:xfrm xmlns:a="http://schemas.openxmlformats.org/drawingml/2006/main">
            <a:off x="704850" y="10096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C6B7A"/>
                </a:solidFill>
              </a:defRPr>
            </a:defPPr>
            <a:lvl1pPr algn="l">
              <a:defRPr sz="1575" b="0">
                <a:solidFill>
                  <a:srgbClr val="5C6B7A"/>
                </a:solidFill>
              </a:defRPr>
            </a:lvl1pPr>
            <a:lvl2pPr algn="l">
              <a:defRPr sz="1575" b="0">
                <a:solidFill>
                  <a:srgbClr val="5C6B7A"/>
                </a:solidFill>
              </a:defRPr>
            </a:lvl2pPr>
            <a:lvl3pPr algn="l">
              <a:defRPr sz="1575" b="0">
                <a:solidFill>
                  <a:srgbClr val="5C6B7A"/>
                </a:solidFill>
              </a:defRPr>
            </a:lvl3pPr>
            <a:lvl4pPr algn="l">
              <a:defRPr sz="1575" b="0">
                <a:solidFill>
                  <a:srgbClr val="5C6B7A"/>
                </a:solidFill>
              </a:defRPr>
            </a:lvl4pPr>
            <a:lvl5pPr algn="l">
              <a:defRPr sz="1575" b="0">
                <a:solidFill>
                  <a:srgbClr val="5C6B7A"/>
                </a:solidFill>
              </a:defRPr>
            </a:lvl5pPr>
            <a:lvl6pPr algn="l">
              <a:defRPr sz="1575" b="0">
                <a:solidFill>
                  <a:srgbClr val="5C6B7A"/>
                </a:solidFill>
              </a:defRPr>
            </a:lvl6pPr>
            <a:lvl7pPr algn="l">
              <a:defRPr sz="1575" b="0">
                <a:solidFill>
                  <a:srgbClr val="5C6B7A"/>
                </a:solidFill>
              </a:defRPr>
            </a:lvl7pPr>
            <a:lvl8pPr algn="l">
              <a:defRPr sz="1575" b="0">
                <a:solidFill>
                  <a:srgbClr val="5C6B7A"/>
                </a:solidFill>
              </a:defRPr>
            </a:lvl8pPr>
            <a:lvl9pPr algn="l">
              <a:defRPr sz="1575" b="0">
                <a:solidFill>
                  <a:srgbClr val="5C6B7A"/>
                </a:solidFill>
              </a:defRPr>
            </a:lvl9pPr>
          </a:lstStyle>
          <a:p xmlns:a="http://schemas.openxmlformats.org/drawingml/2006/main">
            <a:pPr algn="l">
              <a:defRPr sz="1575" b="0">
                <a:solidFill>
                  <a:srgbClr val="5C6B7A"/>
                </a:solidFill>
              </a:defRPr>
            </a:pPr>
            <a:r>
              <a:rPr sz="1575" b="0">
                <a:solidFill>
                  <a:srgbClr val="5C6B7A"/>
                </a:solidFill>
              </a:rPr>
              <a:t>Mean delay for uniquely delivered packets; lower is better</a:t>
            </a:r>
          </a:p>
        </p:txBody>
      </p:sp>
      <p:graphicFrame>
        <p:nvGraphicFramePr>
          <p:cNvPr id="4" name="Chart">
            <a:extLst xmlns:a="http://schemas.openxmlformats.org/drawingml/2006/main">
              <a:ext uri="{FF2B5EF4-FFF2-40B4-BE49-F238E27FC236}">
                <a16:creationId xmlns:a16="http://schemas.microsoft.com/office/drawing/2014/main" id="{C993AA0E-E5A3-4273-BFDC-BA40669DC1A3}"/>
              </a:ext>
            </a:extLst>
          </p:cNvPr>
          <p:cNvGraphicFramePr/>
          <p:nvPr/>
        </p:nvGraphicFramePr>
        <p:xfrm>
          <a:off xmlns:a="http://schemas.openxmlformats.org/drawingml/2006/main" x="685800" y="1562100"/>
          <a:ext xmlns:a="http://schemas.openxmlformats.org/drawingml/2006/main" cx="10820400" cy="4171950"/>
        </p:xfrm>
        <a:graphic xmlns:a="http://schemas.openxmlformats.org/drawingml/2006/main">
          <a:graphicData uri="http://schemas.openxmlformats.org/drawingml/2006/chart">
            <c:chart xmlns:r="http://schemas.openxmlformats.org/officeDocument/2006/relationships" xmlns:c="http://schemas.openxmlformats.org/drawingml/2006/chart" r:id="Rc3946419d4fe4aa2"/>
          </a:graphicData>
        </a:graphic>
      </p:graphicFrame>
      <p:sp>
        <p:nvSpPr>
          <p:cNvPr id="5" name="">
            <a:extLst xmlns:a="http://schemas.openxmlformats.org/drawingml/2006/main">
              <a:ext uri="{FF2B5EF4-FFF2-40B4-BE49-F238E27FC236}">
                <a16:creationId xmlns:a16="http://schemas.microsoft.com/office/drawing/2014/main" id="{1E8941F7-53BE-4F27-814D-DB88812D9A3A}"/>
              </a:ext>
            </a:extLst>
          </p:cNvPr>
          <p:cNvSpPr>
            <a:spLocks xmlns:a="http://schemas.openxmlformats.org/drawingml/2006/main" noGrp="1"/>
          </p:cNvSpPr>
          <p:nvPr/>
        </p:nvSpPr>
        <p:spPr>
          <a:xfrm xmlns:a="http://schemas.openxmlformats.org/drawingml/2006/main">
            <a:off x="781050" y="5848350"/>
            <a:ext cx="10477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7324D"/>
                </a:solidFill>
              </a:defRPr>
            </a:defPPr>
            <a:lvl1pPr algn="l">
              <a:defRPr sz="1575" b="1">
                <a:solidFill>
                  <a:srgbClr val="17324D"/>
                </a:solidFill>
              </a:defRPr>
            </a:lvl1pPr>
            <a:lvl2pPr algn="l">
              <a:defRPr sz="1575" b="1">
                <a:solidFill>
                  <a:srgbClr val="17324D"/>
                </a:solidFill>
              </a:defRPr>
            </a:lvl2pPr>
            <a:lvl3pPr algn="l">
              <a:defRPr sz="1575" b="1">
                <a:solidFill>
                  <a:srgbClr val="17324D"/>
                </a:solidFill>
              </a:defRPr>
            </a:lvl3pPr>
            <a:lvl4pPr algn="l">
              <a:defRPr sz="1575" b="1">
                <a:solidFill>
                  <a:srgbClr val="17324D"/>
                </a:solidFill>
              </a:defRPr>
            </a:lvl4pPr>
            <a:lvl5pPr algn="l">
              <a:defRPr sz="1575" b="1">
                <a:solidFill>
                  <a:srgbClr val="17324D"/>
                </a:solidFill>
              </a:defRPr>
            </a:lvl5pPr>
            <a:lvl6pPr algn="l">
              <a:defRPr sz="1575" b="1">
                <a:solidFill>
                  <a:srgbClr val="17324D"/>
                </a:solidFill>
              </a:defRPr>
            </a:lvl6pPr>
            <a:lvl7pPr algn="l">
              <a:defRPr sz="1575" b="1">
                <a:solidFill>
                  <a:srgbClr val="17324D"/>
                </a:solidFill>
              </a:defRPr>
            </a:lvl7pPr>
            <a:lvl8pPr algn="l">
              <a:defRPr sz="1575" b="1">
                <a:solidFill>
                  <a:srgbClr val="17324D"/>
                </a:solidFill>
              </a:defRPr>
            </a:lvl8pPr>
            <a:lvl9pPr algn="l">
              <a:defRPr sz="1575" b="1">
                <a:solidFill>
                  <a:srgbClr val="17324D"/>
                </a:solidFill>
              </a:defRPr>
            </a:lvl9pPr>
          </a:lstStyle>
          <a:p xmlns:a="http://schemas.openxmlformats.org/drawingml/2006/main">
            <a:pPr algn="l">
              <a:defRPr sz="1575" b="1">
                <a:solidFill>
                  <a:srgbClr val="17324D"/>
                </a:solidFill>
              </a:defRPr>
            </a:pPr>
            <a:r>
              <a:rPr sz="1575" b="1">
                <a:solidFill>
                  <a:srgbClr val="17324D"/>
                </a:solidFill>
              </a:rPr>
              <a:t>PPO raises mean delay versus the heuristic in every scenario, despite higher goodput.</a:t>
            </a:r>
          </a:p>
        </p:txBody>
      </p:sp>
    </p:spTree>
    <p:extLst>
      <p:ext uri="{BB962C8B-B14F-4D97-AF65-F5344CB8AC3E}">
        <p14:creationId xmlns:p14="http://schemas.microsoft.com/office/powerpoint/2010/main" val="1967355660"/>
      </p:ext>
    </p:extLst>
  </p:cSld>
</p:sld>
</file>

<file path=ppt/slides/slide8.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465B872-6DC1-475F-910A-F9E50B4A98CD}"/>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prstDash val="solid"/>
          </a:ln>
        </p:spPr>
      </p:sp>
      <p:sp>
        <p:nvSpPr>
          <p:cNvPr id="2" name="">
            <a:extLst xmlns:a="http://schemas.openxmlformats.org/drawingml/2006/main">
              <a:ext uri="{FF2B5EF4-FFF2-40B4-BE49-F238E27FC236}">
                <a16:creationId xmlns:a16="http://schemas.microsoft.com/office/drawing/2014/main" id="{2AA247DE-D6C6-4756-8500-6967D6CDFDA1}"/>
              </a:ext>
            </a:extLst>
          </p:cNvPr>
          <p:cNvSpPr>
            <a:spLocks xmlns:a="http://schemas.openxmlformats.org/drawingml/2006/main" noGrp="1"/>
          </p:cNvSpPr>
          <p:nvPr/>
        </p:nvSpPr>
        <p:spPr>
          <a:xfrm xmlns:a="http://schemas.openxmlformats.org/drawingml/2006/main">
            <a:off x="685800" y="3810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7324D"/>
                </a:solidFill>
              </a:defRPr>
            </a:defPPr>
            <a:lvl1pPr algn="l">
              <a:defRPr sz="3300" b="1">
                <a:solidFill>
                  <a:srgbClr val="17324D"/>
                </a:solidFill>
              </a:defRPr>
            </a:lvl1pPr>
            <a:lvl2pPr algn="l">
              <a:defRPr sz="3300" b="1">
                <a:solidFill>
                  <a:srgbClr val="17324D"/>
                </a:solidFill>
              </a:defRPr>
            </a:lvl2pPr>
            <a:lvl3pPr algn="l">
              <a:defRPr sz="3300" b="1">
                <a:solidFill>
                  <a:srgbClr val="17324D"/>
                </a:solidFill>
              </a:defRPr>
            </a:lvl3pPr>
            <a:lvl4pPr algn="l">
              <a:defRPr sz="3300" b="1">
                <a:solidFill>
                  <a:srgbClr val="17324D"/>
                </a:solidFill>
              </a:defRPr>
            </a:lvl4pPr>
            <a:lvl5pPr algn="l">
              <a:defRPr sz="3300" b="1">
                <a:solidFill>
                  <a:srgbClr val="17324D"/>
                </a:solidFill>
              </a:defRPr>
            </a:lvl5pPr>
            <a:lvl6pPr algn="l">
              <a:defRPr sz="3300" b="1">
                <a:solidFill>
                  <a:srgbClr val="17324D"/>
                </a:solidFill>
              </a:defRPr>
            </a:lvl6pPr>
            <a:lvl7pPr algn="l">
              <a:defRPr sz="3300" b="1">
                <a:solidFill>
                  <a:srgbClr val="17324D"/>
                </a:solidFill>
              </a:defRPr>
            </a:lvl7pPr>
            <a:lvl8pPr algn="l">
              <a:defRPr sz="3300" b="1">
                <a:solidFill>
                  <a:srgbClr val="17324D"/>
                </a:solidFill>
              </a:defRPr>
            </a:lvl8pPr>
            <a:lvl9pPr algn="l">
              <a:defRPr sz="3300" b="1">
                <a:solidFill>
                  <a:srgbClr val="17324D"/>
                </a:solidFill>
              </a:defRPr>
            </a:lvl9pPr>
          </a:lstStyle>
          <a:p xmlns:a="http://schemas.openxmlformats.org/drawingml/2006/main">
            <a:pPr algn="l">
              <a:defRPr sz="3300" b="1">
                <a:solidFill>
                  <a:srgbClr val="17324D"/>
                </a:solidFill>
              </a:defRPr>
            </a:pPr>
            <a:r>
              <a:rPr sz="3300" b="1">
                <a:solidFill>
                  <a:srgbClr val="17324D"/>
                </a:solidFill>
              </a:rPr>
              <a:t>Delivery reliability and retransmissions</a:t>
            </a:r>
          </a:p>
        </p:txBody>
      </p:sp>
      <p:sp>
        <p:nvSpPr>
          <p:cNvPr id="3" name="">
            <a:extLst xmlns:a="http://schemas.openxmlformats.org/drawingml/2006/main">
              <a:ext uri="{FF2B5EF4-FFF2-40B4-BE49-F238E27FC236}">
                <a16:creationId xmlns:a16="http://schemas.microsoft.com/office/drawing/2014/main" id="{E0667F0C-CDA2-4FEC-937C-8D5BBAA21601}"/>
              </a:ext>
            </a:extLst>
          </p:cNvPr>
          <p:cNvSpPr>
            <a:spLocks xmlns:a="http://schemas.openxmlformats.org/drawingml/2006/main" noGrp="1"/>
          </p:cNvSpPr>
          <p:nvPr/>
        </p:nvSpPr>
        <p:spPr>
          <a:xfrm xmlns:a="http://schemas.openxmlformats.org/drawingml/2006/main">
            <a:off x="704850" y="10096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C6B7A"/>
                </a:solidFill>
              </a:defRPr>
            </a:defPPr>
            <a:lvl1pPr algn="l">
              <a:defRPr sz="1575" b="0">
                <a:solidFill>
                  <a:srgbClr val="5C6B7A"/>
                </a:solidFill>
              </a:defRPr>
            </a:lvl1pPr>
            <a:lvl2pPr algn="l">
              <a:defRPr sz="1575" b="0">
                <a:solidFill>
                  <a:srgbClr val="5C6B7A"/>
                </a:solidFill>
              </a:defRPr>
            </a:lvl2pPr>
            <a:lvl3pPr algn="l">
              <a:defRPr sz="1575" b="0">
                <a:solidFill>
                  <a:srgbClr val="5C6B7A"/>
                </a:solidFill>
              </a:defRPr>
            </a:lvl3pPr>
            <a:lvl4pPr algn="l">
              <a:defRPr sz="1575" b="0">
                <a:solidFill>
                  <a:srgbClr val="5C6B7A"/>
                </a:solidFill>
              </a:defRPr>
            </a:lvl4pPr>
            <a:lvl5pPr algn="l">
              <a:defRPr sz="1575" b="0">
                <a:solidFill>
                  <a:srgbClr val="5C6B7A"/>
                </a:solidFill>
              </a:defRPr>
            </a:lvl5pPr>
            <a:lvl6pPr algn="l">
              <a:defRPr sz="1575" b="0">
                <a:solidFill>
                  <a:srgbClr val="5C6B7A"/>
                </a:solidFill>
              </a:defRPr>
            </a:lvl6pPr>
            <a:lvl7pPr algn="l">
              <a:defRPr sz="1575" b="0">
                <a:solidFill>
                  <a:srgbClr val="5C6B7A"/>
                </a:solidFill>
              </a:defRPr>
            </a:lvl7pPr>
            <a:lvl8pPr algn="l">
              <a:defRPr sz="1575" b="0">
                <a:solidFill>
                  <a:srgbClr val="5C6B7A"/>
                </a:solidFill>
              </a:defRPr>
            </a:lvl8pPr>
            <a:lvl9pPr algn="l">
              <a:defRPr sz="1575" b="0">
                <a:solidFill>
                  <a:srgbClr val="5C6B7A"/>
                </a:solidFill>
              </a:defRPr>
            </a:lvl9pPr>
          </a:lstStyle>
          <a:p xmlns:a="http://schemas.openxmlformats.org/drawingml/2006/main">
            <a:pPr algn="l">
              <a:defRPr sz="1575" b="0">
                <a:solidFill>
                  <a:srgbClr val="5C6B7A"/>
                </a:solidFill>
              </a:defRPr>
            </a:pPr>
            <a:r>
              <a:rPr sz="1575" b="0">
                <a:solidFill>
                  <a:srgbClr val="5C6B7A"/>
                </a:solidFill>
              </a:rPr>
              <a:t>Every mode completed the finite workload</a:t>
            </a:r>
          </a:p>
        </p:txBody>
      </p:sp>
      <p:graphicFrame>
        <p:nvGraphicFramePr>
          <p:cNvPr id="4" name="Chart">
            <a:extLst xmlns:a="http://schemas.openxmlformats.org/drawingml/2006/main">
              <a:ext uri="{FF2B5EF4-FFF2-40B4-BE49-F238E27FC236}">
                <a16:creationId xmlns:a16="http://schemas.microsoft.com/office/drawing/2014/main" id="{23BCD08B-AC98-4823-9B00-2FE86143F9F1}"/>
              </a:ext>
            </a:extLst>
          </p:cNvPr>
          <p:cNvGraphicFramePr/>
          <p:nvPr/>
        </p:nvGraphicFramePr>
        <p:xfrm>
          <a:off xmlns:a="http://schemas.openxmlformats.org/drawingml/2006/main" x="495300" y="1638300"/>
          <a:ext xmlns:a="http://schemas.openxmlformats.org/drawingml/2006/main" cx="5334000" cy="3524250"/>
        </p:xfrm>
        <a:graphic xmlns:a="http://schemas.openxmlformats.org/drawingml/2006/main">
          <a:graphicData uri="http://schemas.openxmlformats.org/drawingml/2006/chart">
            <c:chart xmlns:r="http://schemas.openxmlformats.org/officeDocument/2006/relationships" xmlns:c="http://schemas.openxmlformats.org/drawingml/2006/chart" r:id="Ra3c61fa427e44ceb"/>
          </a:graphicData>
        </a:graphic>
      </p:graphicFrame>
      <p:graphicFrame>
        <p:nvGraphicFramePr>
          <p:cNvPr id="5" name="Chart">
            <a:extLst xmlns:a="http://schemas.openxmlformats.org/drawingml/2006/main">
              <a:ext uri="{FF2B5EF4-FFF2-40B4-BE49-F238E27FC236}">
                <a16:creationId xmlns:a16="http://schemas.microsoft.com/office/drawing/2014/main" id="{E252A844-F692-4758-97EE-D5632125E60C}"/>
              </a:ext>
            </a:extLst>
          </p:cNvPr>
          <p:cNvGraphicFramePr/>
          <p:nvPr/>
        </p:nvGraphicFramePr>
        <p:xfrm>
          <a:off xmlns:a="http://schemas.openxmlformats.org/drawingml/2006/main" x="6172200" y="1638300"/>
          <a:ext xmlns:a="http://schemas.openxmlformats.org/drawingml/2006/main" cx="5334000" cy="3524250"/>
        </p:xfrm>
        <a:graphic xmlns:a="http://schemas.openxmlformats.org/drawingml/2006/main">
          <a:graphicData uri="http://schemas.openxmlformats.org/drawingml/2006/chart">
            <c:chart xmlns:r="http://schemas.openxmlformats.org/officeDocument/2006/relationships" xmlns:c="http://schemas.openxmlformats.org/drawingml/2006/chart" r:id="R337f85e0dc974f61"/>
          </a:graphicData>
        </a:graphic>
      </p:graphicFrame>
      <p:sp>
        <p:nvSpPr>
          <p:cNvPr id="6" name="">
            <a:extLst xmlns:a="http://schemas.openxmlformats.org/drawingml/2006/main">
              <a:ext uri="{FF2B5EF4-FFF2-40B4-BE49-F238E27FC236}">
                <a16:creationId xmlns:a16="http://schemas.microsoft.com/office/drawing/2014/main" id="{073F76BA-53F0-4E6C-8732-902A767B504B}"/>
              </a:ext>
            </a:extLst>
          </p:cNvPr>
          <p:cNvSpPr>
            <a:spLocks xmlns:a="http://schemas.openxmlformats.org/drawingml/2006/main" noGrp="1"/>
          </p:cNvSpPr>
          <p:nvPr/>
        </p:nvSpPr>
        <p:spPr>
          <a:xfrm xmlns:a="http://schemas.openxmlformats.org/drawingml/2006/main">
            <a:off x="781050" y="5362575"/>
            <a:ext cx="10382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1">
                <a:solidFill>
                  <a:srgbClr val="17324D"/>
                </a:solidFill>
              </a:defRPr>
            </a:defPPr>
            <a:lvl1pPr algn="l">
              <a:defRPr sz="1575" b="1">
                <a:solidFill>
                  <a:srgbClr val="17324D"/>
                </a:solidFill>
              </a:defRPr>
            </a:lvl1pPr>
            <a:lvl2pPr algn="l">
              <a:defRPr sz="1575" b="1">
                <a:solidFill>
                  <a:srgbClr val="17324D"/>
                </a:solidFill>
              </a:defRPr>
            </a:lvl2pPr>
            <a:lvl3pPr algn="l">
              <a:defRPr sz="1575" b="1">
                <a:solidFill>
                  <a:srgbClr val="17324D"/>
                </a:solidFill>
              </a:defRPr>
            </a:lvl3pPr>
            <a:lvl4pPr algn="l">
              <a:defRPr sz="1575" b="1">
                <a:solidFill>
                  <a:srgbClr val="17324D"/>
                </a:solidFill>
              </a:defRPr>
            </a:lvl4pPr>
            <a:lvl5pPr algn="l">
              <a:defRPr sz="1575" b="1">
                <a:solidFill>
                  <a:srgbClr val="17324D"/>
                </a:solidFill>
              </a:defRPr>
            </a:lvl5pPr>
            <a:lvl6pPr algn="l">
              <a:defRPr sz="1575" b="1">
                <a:solidFill>
                  <a:srgbClr val="17324D"/>
                </a:solidFill>
              </a:defRPr>
            </a:lvl6pPr>
            <a:lvl7pPr algn="l">
              <a:defRPr sz="1575" b="1">
                <a:solidFill>
                  <a:srgbClr val="17324D"/>
                </a:solidFill>
              </a:defRPr>
            </a:lvl7pPr>
            <a:lvl8pPr algn="l">
              <a:defRPr sz="1575" b="1">
                <a:solidFill>
                  <a:srgbClr val="17324D"/>
                </a:solidFill>
              </a:defRPr>
            </a:lvl8pPr>
            <a:lvl9pPr algn="l">
              <a:defRPr sz="1575" b="1">
                <a:solidFill>
                  <a:srgbClr val="17324D"/>
                </a:solidFill>
              </a:defRPr>
            </a:lvl9pPr>
          </a:lstStyle>
          <a:p xmlns:a="http://schemas.openxmlformats.org/drawingml/2006/main">
            <a:pPr algn="l">
              <a:defRPr sz="1575" b="1">
                <a:solidFill>
                  <a:srgbClr val="17324D"/>
                </a:solidFill>
              </a:defRPr>
            </a:pPr>
            <a:r>
              <a:rPr sz="1575" b="1">
                <a:solidFill>
                  <a:srgbClr val="17324D"/>
                </a:solidFill>
              </a:rPr>
              <a:t>PDR is 100% throughout because packets are retried until delivered; it does not separate the modes here.</a:t>
            </a:r>
          </a:p>
        </p:txBody>
      </p:sp>
      <p:sp>
        <p:nvSpPr>
          <p:cNvPr id="7" name="">
            <a:extLst xmlns:a="http://schemas.openxmlformats.org/drawingml/2006/main">
              <a:ext uri="{FF2B5EF4-FFF2-40B4-BE49-F238E27FC236}">
                <a16:creationId xmlns:a16="http://schemas.microsoft.com/office/drawing/2014/main" id="{15CD8ACB-6133-4B11-B090-96F4CAF1AF07}"/>
              </a:ext>
            </a:extLst>
          </p:cNvPr>
          <p:cNvSpPr>
            <a:spLocks xmlns:a="http://schemas.openxmlformats.org/drawingml/2006/main" noGrp="1"/>
          </p:cNvSpPr>
          <p:nvPr/>
        </p:nvSpPr>
        <p:spPr>
          <a:xfrm xmlns:a="http://schemas.openxmlformats.org/drawingml/2006/main">
            <a:off x="781050" y="5857875"/>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425" b="0">
                <a:solidFill>
                  <a:srgbClr val="203449"/>
                </a:solidFill>
              </a:defRPr>
            </a:defPPr>
            <a:lvl1pPr algn="l">
              <a:defRPr sz="1425" b="0">
                <a:solidFill>
                  <a:srgbClr val="203449"/>
                </a:solidFill>
              </a:defRPr>
            </a:lvl1pPr>
            <a:lvl2pPr algn="l">
              <a:defRPr sz="1425" b="0">
                <a:solidFill>
                  <a:srgbClr val="203449"/>
                </a:solidFill>
              </a:defRPr>
            </a:lvl2pPr>
            <a:lvl3pPr algn="l">
              <a:defRPr sz="1425" b="0">
                <a:solidFill>
                  <a:srgbClr val="203449"/>
                </a:solidFill>
              </a:defRPr>
            </a:lvl3pPr>
            <a:lvl4pPr algn="l">
              <a:defRPr sz="1425" b="0">
                <a:solidFill>
                  <a:srgbClr val="203449"/>
                </a:solidFill>
              </a:defRPr>
            </a:lvl4pPr>
            <a:lvl5pPr algn="l">
              <a:defRPr sz="1425" b="0">
                <a:solidFill>
                  <a:srgbClr val="203449"/>
                </a:solidFill>
              </a:defRPr>
            </a:lvl5pPr>
            <a:lvl6pPr algn="l">
              <a:defRPr sz="1425" b="0">
                <a:solidFill>
                  <a:srgbClr val="203449"/>
                </a:solidFill>
              </a:defRPr>
            </a:lvl6pPr>
            <a:lvl7pPr algn="l">
              <a:defRPr sz="1425" b="0">
                <a:solidFill>
                  <a:srgbClr val="203449"/>
                </a:solidFill>
              </a:defRPr>
            </a:lvl7pPr>
            <a:lvl8pPr algn="l">
              <a:defRPr sz="1425" b="0">
                <a:solidFill>
                  <a:srgbClr val="203449"/>
                </a:solidFill>
              </a:defRPr>
            </a:lvl8pPr>
            <a:lvl9pPr algn="l">
              <a:defRPr sz="1425" b="0">
                <a:solidFill>
                  <a:srgbClr val="203449"/>
                </a:solidFill>
              </a:defRPr>
            </a:lvl9pPr>
          </a:lstStyle>
          <a:p xmlns:a="http://schemas.openxmlformats.org/drawingml/2006/main">
            <a:pPr algn="l">
              <a:defRPr sz="1425" b="0">
                <a:solidFill>
                  <a:srgbClr val="203449"/>
                </a:solidFill>
              </a:defRPr>
            </a:pPr>
            <a:r>
              <a:rPr sz="1425" b="0">
                <a:solidFill>
                  <a:srgbClr val="203449"/>
                </a:solidFill>
              </a:rPr>
              <a:t>PDR is 100% by design; PPO retries 330% more at high delay and 19% more under congestion.</a:t>
            </a:r>
          </a:p>
        </p:txBody>
      </p:sp>
    </p:spTree>
    <p:extLst>
      <p:ext uri="{BB962C8B-B14F-4D97-AF65-F5344CB8AC3E}">
        <p14:creationId xmlns:p14="http://schemas.microsoft.com/office/powerpoint/2010/main" val="1797766227"/>
      </p:ext>
    </p:extLst>
  </p:cSld>
</p:sld>
</file>

<file path=ppt/slides/slide9.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46F66EB-8C4E-4A65-AAE7-26434C808877}"/>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prstDash val="solid"/>
          </a:ln>
        </p:spPr>
      </p:sp>
      <p:sp>
        <p:nvSpPr>
          <p:cNvPr id="2" name="">
            <a:extLst xmlns:a="http://schemas.openxmlformats.org/drawingml/2006/main">
              <a:ext uri="{FF2B5EF4-FFF2-40B4-BE49-F238E27FC236}">
                <a16:creationId xmlns:a16="http://schemas.microsoft.com/office/drawing/2014/main" id="{D643CB71-6B90-482A-B936-936A7D7B58B9}"/>
              </a:ext>
            </a:extLst>
          </p:cNvPr>
          <p:cNvSpPr>
            <a:spLocks xmlns:a="http://schemas.openxmlformats.org/drawingml/2006/main" noGrp="1"/>
          </p:cNvSpPr>
          <p:nvPr/>
        </p:nvSpPr>
        <p:spPr>
          <a:xfrm xmlns:a="http://schemas.openxmlformats.org/drawingml/2006/main">
            <a:off x="685800" y="3810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7324D"/>
                </a:solidFill>
              </a:defRPr>
            </a:defPPr>
            <a:lvl1pPr algn="l">
              <a:defRPr sz="3300" b="1">
                <a:solidFill>
                  <a:srgbClr val="17324D"/>
                </a:solidFill>
              </a:defRPr>
            </a:lvl1pPr>
            <a:lvl2pPr algn="l">
              <a:defRPr sz="3300" b="1">
                <a:solidFill>
                  <a:srgbClr val="17324D"/>
                </a:solidFill>
              </a:defRPr>
            </a:lvl2pPr>
            <a:lvl3pPr algn="l">
              <a:defRPr sz="3300" b="1">
                <a:solidFill>
                  <a:srgbClr val="17324D"/>
                </a:solidFill>
              </a:defRPr>
            </a:lvl3pPr>
            <a:lvl4pPr algn="l">
              <a:defRPr sz="3300" b="1">
                <a:solidFill>
                  <a:srgbClr val="17324D"/>
                </a:solidFill>
              </a:defRPr>
            </a:lvl4pPr>
            <a:lvl5pPr algn="l">
              <a:defRPr sz="3300" b="1">
                <a:solidFill>
                  <a:srgbClr val="17324D"/>
                </a:solidFill>
              </a:defRPr>
            </a:lvl5pPr>
            <a:lvl6pPr algn="l">
              <a:defRPr sz="3300" b="1">
                <a:solidFill>
                  <a:srgbClr val="17324D"/>
                </a:solidFill>
              </a:defRPr>
            </a:lvl6pPr>
            <a:lvl7pPr algn="l">
              <a:defRPr sz="3300" b="1">
                <a:solidFill>
                  <a:srgbClr val="17324D"/>
                </a:solidFill>
              </a:defRPr>
            </a:lvl7pPr>
            <a:lvl8pPr algn="l">
              <a:defRPr sz="3300" b="1">
                <a:solidFill>
                  <a:srgbClr val="17324D"/>
                </a:solidFill>
              </a:defRPr>
            </a:lvl8pPr>
            <a:lvl9pPr algn="l">
              <a:defRPr sz="3300" b="1">
                <a:solidFill>
                  <a:srgbClr val="17324D"/>
                </a:solidFill>
              </a:defRPr>
            </a:lvl9pPr>
          </a:lstStyle>
          <a:p xmlns:a="http://schemas.openxmlformats.org/drawingml/2006/main">
            <a:pPr algn="l">
              <a:defRPr sz="3300" b="1">
                <a:solidFill>
                  <a:srgbClr val="17324D"/>
                </a:solidFill>
              </a:defRPr>
            </a:pPr>
            <a:r>
              <a:rPr sz="3300" b="1">
                <a:solidFill>
                  <a:srgbClr val="17324D"/>
                </a:solidFill>
              </a:rPr>
              <a:t>What the experiment supports</a:t>
            </a:r>
          </a:p>
        </p:txBody>
      </p:sp>
      <p:sp>
        <p:nvSpPr>
          <p:cNvPr id="3" name="">
            <a:extLst xmlns:a="http://schemas.openxmlformats.org/drawingml/2006/main">
              <a:ext uri="{FF2B5EF4-FFF2-40B4-BE49-F238E27FC236}">
                <a16:creationId xmlns:a16="http://schemas.microsoft.com/office/drawing/2014/main" id="{0A1E7C32-57AB-44AE-BEC1-139FF6DC3FB5}"/>
              </a:ext>
            </a:extLst>
          </p:cNvPr>
          <p:cNvSpPr>
            <a:spLocks xmlns:a="http://schemas.openxmlformats.org/drawingml/2006/main" noGrp="1"/>
          </p:cNvSpPr>
          <p:nvPr/>
        </p:nvSpPr>
        <p:spPr>
          <a:xfrm xmlns:a="http://schemas.openxmlformats.org/drawingml/2006/main">
            <a:off x="762000" y="1428750"/>
            <a:ext cx="10429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325" b="1">
                <a:solidFill>
                  <a:srgbClr val="17324D"/>
                </a:solidFill>
              </a:defRPr>
            </a:defPPr>
            <a:lvl1pPr algn="l">
              <a:defRPr sz="2325" b="1">
                <a:solidFill>
                  <a:srgbClr val="17324D"/>
                </a:solidFill>
              </a:defRPr>
            </a:lvl1pPr>
            <a:lvl2pPr algn="l">
              <a:defRPr sz="2325" b="1">
                <a:solidFill>
                  <a:srgbClr val="17324D"/>
                </a:solidFill>
              </a:defRPr>
            </a:lvl2pPr>
            <a:lvl3pPr algn="l">
              <a:defRPr sz="2325" b="1">
                <a:solidFill>
                  <a:srgbClr val="17324D"/>
                </a:solidFill>
              </a:defRPr>
            </a:lvl3pPr>
            <a:lvl4pPr algn="l">
              <a:defRPr sz="2325" b="1">
                <a:solidFill>
                  <a:srgbClr val="17324D"/>
                </a:solidFill>
              </a:defRPr>
            </a:lvl4pPr>
            <a:lvl5pPr algn="l">
              <a:defRPr sz="2325" b="1">
                <a:solidFill>
                  <a:srgbClr val="17324D"/>
                </a:solidFill>
              </a:defRPr>
            </a:lvl5pPr>
            <a:lvl6pPr algn="l">
              <a:defRPr sz="2325" b="1">
                <a:solidFill>
                  <a:srgbClr val="17324D"/>
                </a:solidFill>
              </a:defRPr>
            </a:lvl6pPr>
            <a:lvl7pPr algn="l">
              <a:defRPr sz="2325" b="1">
                <a:solidFill>
                  <a:srgbClr val="17324D"/>
                </a:solidFill>
              </a:defRPr>
            </a:lvl7pPr>
            <a:lvl8pPr algn="l">
              <a:defRPr sz="2325" b="1">
                <a:solidFill>
                  <a:srgbClr val="17324D"/>
                </a:solidFill>
              </a:defRPr>
            </a:lvl8pPr>
            <a:lvl9pPr algn="l">
              <a:defRPr sz="2325" b="1">
                <a:solidFill>
                  <a:srgbClr val="17324D"/>
                </a:solidFill>
              </a:defRPr>
            </a:lvl9pPr>
          </a:lstStyle>
          <a:p xmlns:a="http://schemas.openxmlformats.org/drawingml/2006/main">
            <a:pPr algn="l">
              <a:defRPr sz="2325" b="1">
                <a:solidFill>
                  <a:srgbClr val="17324D"/>
                </a:solidFill>
              </a:defRPr>
            </a:pPr>
            <a:r>
              <a:rPr sz="2325" b="1">
                <a:solidFill>
                  <a:srgbClr val="17324D"/>
                </a:solidFill>
              </a:rPr>
              <a:t>PPO adapts its window and pacing from loss, delay, and queue feedback.</a:t>
            </a:r>
          </a:p>
        </p:txBody>
      </p:sp>
      <p:sp>
        <p:nvSpPr>
          <p:cNvPr id="4" name="">
            <a:extLst xmlns:a="http://schemas.openxmlformats.org/drawingml/2006/main">
              <a:ext uri="{FF2B5EF4-FFF2-40B4-BE49-F238E27FC236}">
                <a16:creationId xmlns:a16="http://schemas.microsoft.com/office/drawing/2014/main" id="{A43BF9E8-923D-447D-ABAE-BAE6D4983C72}"/>
              </a:ext>
            </a:extLst>
          </p:cNvPr>
          <p:cNvSpPr>
            <a:spLocks xmlns:a="http://schemas.openxmlformats.org/drawingml/2006/main" noGrp="1"/>
          </p:cNvSpPr>
          <p:nvPr/>
        </p:nvSpPr>
        <p:spPr>
          <a:xfrm xmlns:a="http://schemas.openxmlformats.org/drawingml/2006/main">
            <a:off x="838200" y="2476500"/>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0F9D8A"/>
                </a:solidFill>
              </a:defRPr>
            </a:defPPr>
            <a:lvl1pPr algn="l">
              <a:defRPr sz="1950" b="1">
                <a:solidFill>
                  <a:srgbClr val="0F9D8A"/>
                </a:solidFill>
              </a:defRPr>
            </a:lvl1pPr>
            <a:lvl2pPr algn="l">
              <a:defRPr sz="1950" b="1">
                <a:solidFill>
                  <a:srgbClr val="0F9D8A"/>
                </a:solidFill>
              </a:defRPr>
            </a:lvl2pPr>
            <a:lvl3pPr algn="l">
              <a:defRPr sz="1950" b="1">
                <a:solidFill>
                  <a:srgbClr val="0F9D8A"/>
                </a:solidFill>
              </a:defRPr>
            </a:lvl3pPr>
            <a:lvl4pPr algn="l">
              <a:defRPr sz="1950" b="1">
                <a:solidFill>
                  <a:srgbClr val="0F9D8A"/>
                </a:solidFill>
              </a:defRPr>
            </a:lvl4pPr>
            <a:lvl5pPr algn="l">
              <a:defRPr sz="1950" b="1">
                <a:solidFill>
                  <a:srgbClr val="0F9D8A"/>
                </a:solidFill>
              </a:defRPr>
            </a:lvl5pPr>
            <a:lvl6pPr algn="l">
              <a:defRPr sz="1950" b="1">
                <a:solidFill>
                  <a:srgbClr val="0F9D8A"/>
                </a:solidFill>
              </a:defRPr>
            </a:lvl6pPr>
            <a:lvl7pPr algn="l">
              <a:defRPr sz="1950" b="1">
                <a:solidFill>
                  <a:srgbClr val="0F9D8A"/>
                </a:solidFill>
              </a:defRPr>
            </a:lvl7pPr>
            <a:lvl8pPr algn="l">
              <a:defRPr sz="1950" b="1">
                <a:solidFill>
                  <a:srgbClr val="0F9D8A"/>
                </a:solidFill>
              </a:defRPr>
            </a:lvl8pPr>
            <a:lvl9pPr algn="l">
              <a:defRPr sz="1950" b="1">
                <a:solidFill>
                  <a:srgbClr val="0F9D8A"/>
                </a:solidFill>
              </a:defRPr>
            </a:lvl9pPr>
          </a:lstStyle>
          <a:p xmlns:a="http://schemas.openxmlformats.org/drawingml/2006/main">
            <a:pPr algn="l">
              <a:defRPr sz="1950" b="1">
                <a:solidFill>
                  <a:srgbClr val="0F9D8A"/>
                </a:solidFill>
              </a:defRPr>
            </a:pPr>
            <a:r>
              <a:rPr sz="1950" b="1">
                <a:solidFill>
                  <a:srgbClr val="0F9D8A"/>
                </a:solidFill>
              </a:rPr>
              <a:t>•</a:t>
            </a:r>
          </a:p>
        </p:txBody>
      </p:sp>
      <p:sp>
        <p:nvSpPr>
          <p:cNvPr id="5" name="">
            <a:extLst xmlns:a="http://schemas.openxmlformats.org/drawingml/2006/main">
              <a:ext uri="{FF2B5EF4-FFF2-40B4-BE49-F238E27FC236}">
                <a16:creationId xmlns:a16="http://schemas.microsoft.com/office/drawing/2014/main" id="{F0E4A9C3-935C-4E14-8080-CF27FA577E7B}"/>
              </a:ext>
            </a:extLst>
          </p:cNvPr>
          <p:cNvSpPr>
            <a:spLocks xmlns:a="http://schemas.openxmlformats.org/drawingml/2006/main" noGrp="1"/>
          </p:cNvSpPr>
          <p:nvPr/>
        </p:nvSpPr>
        <p:spPr>
          <a:xfrm xmlns:a="http://schemas.openxmlformats.org/drawingml/2006/main">
            <a:off x="1162050" y="2476500"/>
            <a:ext cx="9963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03449"/>
                </a:solidFill>
              </a:defRPr>
            </a:defPPr>
            <a:lvl1pPr algn="l">
              <a:defRPr sz="1800" b="0">
                <a:solidFill>
                  <a:srgbClr val="203449"/>
                </a:solidFill>
              </a:defRPr>
            </a:lvl1pPr>
            <a:lvl2pPr algn="l">
              <a:defRPr sz="1800" b="0">
                <a:solidFill>
                  <a:srgbClr val="203449"/>
                </a:solidFill>
              </a:defRPr>
            </a:lvl2pPr>
            <a:lvl3pPr algn="l">
              <a:defRPr sz="1800" b="0">
                <a:solidFill>
                  <a:srgbClr val="203449"/>
                </a:solidFill>
              </a:defRPr>
            </a:lvl3pPr>
            <a:lvl4pPr algn="l">
              <a:defRPr sz="1800" b="0">
                <a:solidFill>
                  <a:srgbClr val="203449"/>
                </a:solidFill>
              </a:defRPr>
            </a:lvl4pPr>
            <a:lvl5pPr algn="l">
              <a:defRPr sz="1800" b="0">
                <a:solidFill>
                  <a:srgbClr val="203449"/>
                </a:solidFill>
              </a:defRPr>
            </a:lvl5pPr>
            <a:lvl6pPr algn="l">
              <a:defRPr sz="1800" b="0">
                <a:solidFill>
                  <a:srgbClr val="203449"/>
                </a:solidFill>
              </a:defRPr>
            </a:lvl6pPr>
            <a:lvl7pPr algn="l">
              <a:defRPr sz="1800" b="0">
                <a:solidFill>
                  <a:srgbClr val="203449"/>
                </a:solidFill>
              </a:defRPr>
            </a:lvl7pPr>
            <a:lvl8pPr algn="l">
              <a:defRPr sz="1800" b="0">
                <a:solidFill>
                  <a:srgbClr val="203449"/>
                </a:solidFill>
              </a:defRPr>
            </a:lvl8pPr>
            <a:lvl9pPr algn="l">
              <a:defRPr sz="1800" b="0">
                <a:solidFill>
                  <a:srgbClr val="203449"/>
                </a:solidFill>
              </a:defRPr>
            </a:lvl9pPr>
          </a:lstStyle>
          <a:p xmlns:a="http://schemas.openxmlformats.org/drawingml/2006/main">
            <a:pPr algn="l">
              <a:defRPr sz="1800" b="0">
                <a:solidFill>
                  <a:srgbClr val="203449"/>
                </a:solidFill>
              </a:defRPr>
            </a:pPr>
            <a:r>
              <a:rPr sz="1800" b="0">
                <a:solidFill>
                  <a:srgbClr val="203449"/>
                </a:solidFill>
              </a:rPr>
              <a:t>Against the rule heuristic, PPO raised goodput in all four scenarios, with a 33.2% gain at 100 ms RTT.</a:t>
            </a:r>
          </a:p>
        </p:txBody>
      </p:sp>
      <p:sp>
        <p:nvSpPr>
          <p:cNvPr id="6" name="">
            <a:extLst xmlns:a="http://schemas.openxmlformats.org/drawingml/2006/main">
              <a:ext uri="{FF2B5EF4-FFF2-40B4-BE49-F238E27FC236}">
                <a16:creationId xmlns:a16="http://schemas.microsoft.com/office/drawing/2014/main" id="{E4F73DC5-CEA8-4839-B963-147846FB2F1D}"/>
              </a:ext>
            </a:extLst>
          </p:cNvPr>
          <p:cNvSpPr>
            <a:spLocks xmlns:a="http://schemas.openxmlformats.org/drawingml/2006/main" noGrp="1"/>
          </p:cNvSpPr>
          <p:nvPr/>
        </p:nvSpPr>
        <p:spPr>
          <a:xfrm xmlns:a="http://schemas.openxmlformats.org/drawingml/2006/main">
            <a:off x="838200" y="320992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0F9D8A"/>
                </a:solidFill>
              </a:defRPr>
            </a:defPPr>
            <a:lvl1pPr algn="l">
              <a:defRPr sz="1950" b="1">
                <a:solidFill>
                  <a:srgbClr val="0F9D8A"/>
                </a:solidFill>
              </a:defRPr>
            </a:lvl1pPr>
            <a:lvl2pPr algn="l">
              <a:defRPr sz="1950" b="1">
                <a:solidFill>
                  <a:srgbClr val="0F9D8A"/>
                </a:solidFill>
              </a:defRPr>
            </a:lvl2pPr>
            <a:lvl3pPr algn="l">
              <a:defRPr sz="1950" b="1">
                <a:solidFill>
                  <a:srgbClr val="0F9D8A"/>
                </a:solidFill>
              </a:defRPr>
            </a:lvl3pPr>
            <a:lvl4pPr algn="l">
              <a:defRPr sz="1950" b="1">
                <a:solidFill>
                  <a:srgbClr val="0F9D8A"/>
                </a:solidFill>
              </a:defRPr>
            </a:lvl4pPr>
            <a:lvl5pPr algn="l">
              <a:defRPr sz="1950" b="1">
                <a:solidFill>
                  <a:srgbClr val="0F9D8A"/>
                </a:solidFill>
              </a:defRPr>
            </a:lvl5pPr>
            <a:lvl6pPr algn="l">
              <a:defRPr sz="1950" b="1">
                <a:solidFill>
                  <a:srgbClr val="0F9D8A"/>
                </a:solidFill>
              </a:defRPr>
            </a:lvl6pPr>
            <a:lvl7pPr algn="l">
              <a:defRPr sz="1950" b="1">
                <a:solidFill>
                  <a:srgbClr val="0F9D8A"/>
                </a:solidFill>
              </a:defRPr>
            </a:lvl7pPr>
            <a:lvl8pPr algn="l">
              <a:defRPr sz="1950" b="1">
                <a:solidFill>
                  <a:srgbClr val="0F9D8A"/>
                </a:solidFill>
              </a:defRPr>
            </a:lvl8pPr>
            <a:lvl9pPr algn="l">
              <a:defRPr sz="1950" b="1">
                <a:solidFill>
                  <a:srgbClr val="0F9D8A"/>
                </a:solidFill>
              </a:defRPr>
            </a:lvl9pPr>
          </a:lstStyle>
          <a:p xmlns:a="http://schemas.openxmlformats.org/drawingml/2006/main">
            <a:pPr algn="l">
              <a:defRPr sz="1950" b="1">
                <a:solidFill>
                  <a:srgbClr val="0F9D8A"/>
                </a:solidFill>
              </a:defRPr>
            </a:pPr>
            <a:r>
              <a:rPr sz="1950" b="1">
                <a:solidFill>
                  <a:srgbClr val="0F9D8A"/>
                </a:solidFill>
              </a:rPr>
              <a:t>•</a:t>
            </a:r>
          </a:p>
        </p:txBody>
      </p:sp>
      <p:sp>
        <p:nvSpPr>
          <p:cNvPr id="7" name="">
            <a:extLst xmlns:a="http://schemas.openxmlformats.org/drawingml/2006/main">
              <a:ext uri="{FF2B5EF4-FFF2-40B4-BE49-F238E27FC236}">
                <a16:creationId xmlns:a16="http://schemas.microsoft.com/office/drawing/2014/main" id="{149B0568-2083-43FD-BF62-321F1F1DC69F}"/>
              </a:ext>
            </a:extLst>
          </p:cNvPr>
          <p:cNvSpPr>
            <a:spLocks xmlns:a="http://schemas.openxmlformats.org/drawingml/2006/main" noGrp="1"/>
          </p:cNvSpPr>
          <p:nvPr/>
        </p:nvSpPr>
        <p:spPr>
          <a:xfrm xmlns:a="http://schemas.openxmlformats.org/drawingml/2006/main">
            <a:off x="1162050" y="3209925"/>
            <a:ext cx="9963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03449"/>
                </a:solidFill>
              </a:defRPr>
            </a:defPPr>
            <a:lvl1pPr algn="l">
              <a:defRPr sz="1800" b="0">
                <a:solidFill>
                  <a:srgbClr val="203449"/>
                </a:solidFill>
              </a:defRPr>
            </a:lvl1pPr>
            <a:lvl2pPr algn="l">
              <a:defRPr sz="1800" b="0">
                <a:solidFill>
                  <a:srgbClr val="203449"/>
                </a:solidFill>
              </a:defRPr>
            </a:lvl2pPr>
            <a:lvl3pPr algn="l">
              <a:defRPr sz="1800" b="0">
                <a:solidFill>
                  <a:srgbClr val="203449"/>
                </a:solidFill>
              </a:defRPr>
            </a:lvl3pPr>
            <a:lvl4pPr algn="l">
              <a:defRPr sz="1800" b="0">
                <a:solidFill>
                  <a:srgbClr val="203449"/>
                </a:solidFill>
              </a:defRPr>
            </a:lvl4pPr>
            <a:lvl5pPr algn="l">
              <a:defRPr sz="1800" b="0">
                <a:solidFill>
                  <a:srgbClr val="203449"/>
                </a:solidFill>
              </a:defRPr>
            </a:lvl5pPr>
            <a:lvl6pPr algn="l">
              <a:defRPr sz="1800" b="0">
                <a:solidFill>
                  <a:srgbClr val="203449"/>
                </a:solidFill>
              </a:defRPr>
            </a:lvl6pPr>
            <a:lvl7pPr algn="l">
              <a:defRPr sz="1800" b="0">
                <a:solidFill>
                  <a:srgbClr val="203449"/>
                </a:solidFill>
              </a:defRPr>
            </a:lvl7pPr>
            <a:lvl8pPr algn="l">
              <a:defRPr sz="1800" b="0">
                <a:solidFill>
                  <a:srgbClr val="203449"/>
                </a:solidFill>
              </a:defRPr>
            </a:lvl8pPr>
            <a:lvl9pPr algn="l">
              <a:defRPr sz="1800" b="0">
                <a:solidFill>
                  <a:srgbClr val="203449"/>
                </a:solidFill>
              </a:defRPr>
            </a:lvl9pPr>
          </a:lstStyle>
          <a:p xmlns:a="http://schemas.openxmlformats.org/drawingml/2006/main">
            <a:pPr algn="l">
              <a:defRPr sz="1800" b="0">
                <a:solidFill>
                  <a:srgbClr val="203449"/>
                </a:solidFill>
              </a:defRPr>
            </a:pPr>
            <a:r>
              <a:rPr sz="1800" b="0">
                <a:solidFill>
                  <a:srgbClr val="203449"/>
                </a:solidFill>
              </a:rPr>
              <a:t>PPO raised delay in every case and retries by 330% at high delay versus the heuristic.</a:t>
            </a:r>
          </a:p>
        </p:txBody>
      </p:sp>
      <p:sp>
        <p:nvSpPr>
          <p:cNvPr id="8" name="">
            <a:extLst xmlns:a="http://schemas.openxmlformats.org/drawingml/2006/main">
              <a:ext uri="{FF2B5EF4-FFF2-40B4-BE49-F238E27FC236}">
                <a16:creationId xmlns:a16="http://schemas.microsoft.com/office/drawing/2014/main" id="{5E75B36E-80AE-495A-A1CF-7698FE4CA3BF}"/>
              </a:ext>
            </a:extLst>
          </p:cNvPr>
          <p:cNvSpPr>
            <a:spLocks xmlns:a="http://schemas.openxmlformats.org/drawingml/2006/main" noGrp="1"/>
          </p:cNvSpPr>
          <p:nvPr/>
        </p:nvSpPr>
        <p:spPr>
          <a:xfrm xmlns:a="http://schemas.openxmlformats.org/drawingml/2006/main">
            <a:off x="838200" y="3943350"/>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0F9D8A"/>
                </a:solidFill>
              </a:defRPr>
            </a:defPPr>
            <a:lvl1pPr algn="l">
              <a:defRPr sz="1950" b="1">
                <a:solidFill>
                  <a:srgbClr val="0F9D8A"/>
                </a:solidFill>
              </a:defRPr>
            </a:lvl1pPr>
            <a:lvl2pPr algn="l">
              <a:defRPr sz="1950" b="1">
                <a:solidFill>
                  <a:srgbClr val="0F9D8A"/>
                </a:solidFill>
              </a:defRPr>
            </a:lvl2pPr>
            <a:lvl3pPr algn="l">
              <a:defRPr sz="1950" b="1">
                <a:solidFill>
                  <a:srgbClr val="0F9D8A"/>
                </a:solidFill>
              </a:defRPr>
            </a:lvl3pPr>
            <a:lvl4pPr algn="l">
              <a:defRPr sz="1950" b="1">
                <a:solidFill>
                  <a:srgbClr val="0F9D8A"/>
                </a:solidFill>
              </a:defRPr>
            </a:lvl4pPr>
            <a:lvl5pPr algn="l">
              <a:defRPr sz="1950" b="1">
                <a:solidFill>
                  <a:srgbClr val="0F9D8A"/>
                </a:solidFill>
              </a:defRPr>
            </a:lvl5pPr>
            <a:lvl6pPr algn="l">
              <a:defRPr sz="1950" b="1">
                <a:solidFill>
                  <a:srgbClr val="0F9D8A"/>
                </a:solidFill>
              </a:defRPr>
            </a:lvl6pPr>
            <a:lvl7pPr algn="l">
              <a:defRPr sz="1950" b="1">
                <a:solidFill>
                  <a:srgbClr val="0F9D8A"/>
                </a:solidFill>
              </a:defRPr>
            </a:lvl7pPr>
            <a:lvl8pPr algn="l">
              <a:defRPr sz="1950" b="1">
                <a:solidFill>
                  <a:srgbClr val="0F9D8A"/>
                </a:solidFill>
              </a:defRPr>
            </a:lvl8pPr>
            <a:lvl9pPr algn="l">
              <a:defRPr sz="1950" b="1">
                <a:solidFill>
                  <a:srgbClr val="0F9D8A"/>
                </a:solidFill>
              </a:defRPr>
            </a:lvl9pPr>
          </a:lstStyle>
          <a:p xmlns:a="http://schemas.openxmlformats.org/drawingml/2006/main">
            <a:pPr algn="l">
              <a:defRPr sz="1950" b="1">
                <a:solidFill>
                  <a:srgbClr val="0F9D8A"/>
                </a:solidFill>
              </a:defRPr>
            </a:pPr>
            <a:r>
              <a:rPr sz="1950" b="1">
                <a:solidFill>
                  <a:srgbClr val="0F9D8A"/>
                </a:solidFill>
              </a:rPr>
              <a:t>•</a:t>
            </a:r>
          </a:p>
        </p:txBody>
      </p:sp>
      <p:sp>
        <p:nvSpPr>
          <p:cNvPr id="9" name="">
            <a:extLst xmlns:a="http://schemas.openxmlformats.org/drawingml/2006/main">
              <a:ext uri="{FF2B5EF4-FFF2-40B4-BE49-F238E27FC236}">
                <a16:creationId xmlns:a16="http://schemas.microsoft.com/office/drawing/2014/main" id="{5DB3B887-E514-4D0A-9B99-F9176D0FD49A}"/>
              </a:ext>
            </a:extLst>
          </p:cNvPr>
          <p:cNvSpPr>
            <a:spLocks xmlns:a="http://schemas.openxmlformats.org/drawingml/2006/main" noGrp="1"/>
          </p:cNvSpPr>
          <p:nvPr/>
        </p:nvSpPr>
        <p:spPr>
          <a:xfrm xmlns:a="http://schemas.openxmlformats.org/drawingml/2006/main">
            <a:off x="1162050" y="3943350"/>
            <a:ext cx="9963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03449"/>
                </a:solidFill>
              </a:defRPr>
            </a:defPPr>
            <a:lvl1pPr algn="l">
              <a:defRPr sz="1800" b="0">
                <a:solidFill>
                  <a:srgbClr val="203449"/>
                </a:solidFill>
              </a:defRPr>
            </a:lvl1pPr>
            <a:lvl2pPr algn="l">
              <a:defRPr sz="1800" b="0">
                <a:solidFill>
                  <a:srgbClr val="203449"/>
                </a:solidFill>
              </a:defRPr>
            </a:lvl2pPr>
            <a:lvl3pPr algn="l">
              <a:defRPr sz="1800" b="0">
                <a:solidFill>
                  <a:srgbClr val="203449"/>
                </a:solidFill>
              </a:defRPr>
            </a:lvl3pPr>
            <a:lvl4pPr algn="l">
              <a:defRPr sz="1800" b="0">
                <a:solidFill>
                  <a:srgbClr val="203449"/>
                </a:solidFill>
              </a:defRPr>
            </a:lvl4pPr>
            <a:lvl5pPr algn="l">
              <a:defRPr sz="1800" b="0">
                <a:solidFill>
                  <a:srgbClr val="203449"/>
                </a:solidFill>
              </a:defRPr>
            </a:lvl5pPr>
            <a:lvl6pPr algn="l">
              <a:defRPr sz="1800" b="0">
                <a:solidFill>
                  <a:srgbClr val="203449"/>
                </a:solidFill>
              </a:defRPr>
            </a:lvl6pPr>
            <a:lvl7pPr algn="l">
              <a:defRPr sz="1800" b="0">
                <a:solidFill>
                  <a:srgbClr val="203449"/>
                </a:solidFill>
              </a:defRPr>
            </a:lvl7pPr>
            <a:lvl8pPr algn="l">
              <a:defRPr sz="1800" b="0">
                <a:solidFill>
                  <a:srgbClr val="203449"/>
                </a:solidFill>
              </a:defRPr>
            </a:lvl8pPr>
            <a:lvl9pPr algn="l">
              <a:defRPr sz="1800" b="0">
                <a:solidFill>
                  <a:srgbClr val="203449"/>
                </a:solidFill>
              </a:defRPr>
            </a:lvl9pPr>
          </a:lstStyle>
          <a:p xmlns:a="http://schemas.openxmlformats.org/drawingml/2006/main">
            <a:pPr algn="l">
              <a:defRPr sz="1800" b="0">
                <a:solidFill>
                  <a:srgbClr val="203449"/>
                </a:solidFill>
              </a:defRPr>
            </a:pPr>
            <a:r>
              <a:rPr sz="1800" b="0">
                <a:solidFill>
                  <a:srgbClr val="203449"/>
                </a:solidFill>
              </a:rPr>
              <a:t>Reliable delivery reached 100% because the simulator retries until completion; this is not a discriminating PDR test.</a:t>
            </a:r>
          </a:p>
        </p:txBody>
      </p:sp>
      <p:sp>
        <p:nvSpPr>
          <p:cNvPr id="10" name="">
            <a:extLst xmlns:a="http://schemas.openxmlformats.org/drawingml/2006/main">
              <a:ext uri="{FF2B5EF4-FFF2-40B4-BE49-F238E27FC236}">
                <a16:creationId xmlns:a16="http://schemas.microsoft.com/office/drawing/2014/main" id="{B233637B-BC07-47E6-9188-33A8BEB86D64}"/>
              </a:ext>
            </a:extLst>
          </p:cNvPr>
          <p:cNvSpPr>
            <a:spLocks xmlns:a="http://schemas.openxmlformats.org/drawingml/2006/main" noGrp="1"/>
          </p:cNvSpPr>
          <p:nvPr/>
        </p:nvSpPr>
        <p:spPr>
          <a:xfrm xmlns:a="http://schemas.openxmlformats.org/drawingml/2006/main">
            <a:off x="838200" y="46767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0F9D8A"/>
                </a:solidFill>
              </a:defRPr>
            </a:defPPr>
            <a:lvl1pPr algn="l">
              <a:defRPr sz="1950" b="1">
                <a:solidFill>
                  <a:srgbClr val="0F9D8A"/>
                </a:solidFill>
              </a:defRPr>
            </a:lvl1pPr>
            <a:lvl2pPr algn="l">
              <a:defRPr sz="1950" b="1">
                <a:solidFill>
                  <a:srgbClr val="0F9D8A"/>
                </a:solidFill>
              </a:defRPr>
            </a:lvl2pPr>
            <a:lvl3pPr algn="l">
              <a:defRPr sz="1950" b="1">
                <a:solidFill>
                  <a:srgbClr val="0F9D8A"/>
                </a:solidFill>
              </a:defRPr>
            </a:lvl3pPr>
            <a:lvl4pPr algn="l">
              <a:defRPr sz="1950" b="1">
                <a:solidFill>
                  <a:srgbClr val="0F9D8A"/>
                </a:solidFill>
              </a:defRPr>
            </a:lvl4pPr>
            <a:lvl5pPr algn="l">
              <a:defRPr sz="1950" b="1">
                <a:solidFill>
                  <a:srgbClr val="0F9D8A"/>
                </a:solidFill>
              </a:defRPr>
            </a:lvl5pPr>
            <a:lvl6pPr algn="l">
              <a:defRPr sz="1950" b="1">
                <a:solidFill>
                  <a:srgbClr val="0F9D8A"/>
                </a:solidFill>
              </a:defRPr>
            </a:lvl6pPr>
            <a:lvl7pPr algn="l">
              <a:defRPr sz="1950" b="1">
                <a:solidFill>
                  <a:srgbClr val="0F9D8A"/>
                </a:solidFill>
              </a:defRPr>
            </a:lvl7pPr>
            <a:lvl8pPr algn="l">
              <a:defRPr sz="1950" b="1">
                <a:solidFill>
                  <a:srgbClr val="0F9D8A"/>
                </a:solidFill>
              </a:defRPr>
            </a:lvl8pPr>
            <a:lvl9pPr algn="l">
              <a:defRPr sz="1950" b="1">
                <a:solidFill>
                  <a:srgbClr val="0F9D8A"/>
                </a:solidFill>
              </a:defRPr>
            </a:lvl9pPr>
          </a:lstStyle>
          <a:p xmlns:a="http://schemas.openxmlformats.org/drawingml/2006/main">
            <a:pPr algn="l">
              <a:defRPr sz="1950" b="1">
                <a:solidFill>
                  <a:srgbClr val="0F9D8A"/>
                </a:solidFill>
              </a:defRPr>
            </a:pPr>
            <a:r>
              <a:rPr sz="1950" b="1">
                <a:solidFill>
                  <a:srgbClr val="0F9D8A"/>
                </a:solidFill>
              </a:rPr>
              <a:t>•</a:t>
            </a:r>
          </a:p>
        </p:txBody>
      </p:sp>
      <p:sp>
        <p:nvSpPr>
          <p:cNvPr id="11" name="">
            <a:extLst xmlns:a="http://schemas.openxmlformats.org/drawingml/2006/main">
              <a:ext uri="{FF2B5EF4-FFF2-40B4-BE49-F238E27FC236}">
                <a16:creationId xmlns:a16="http://schemas.microsoft.com/office/drawing/2014/main" id="{887BE420-4308-45C5-84C4-CD2C62366589}"/>
              </a:ext>
            </a:extLst>
          </p:cNvPr>
          <p:cNvSpPr>
            <a:spLocks xmlns:a="http://schemas.openxmlformats.org/drawingml/2006/main" noGrp="1"/>
          </p:cNvSpPr>
          <p:nvPr/>
        </p:nvSpPr>
        <p:spPr>
          <a:xfrm xmlns:a="http://schemas.openxmlformats.org/drawingml/2006/main">
            <a:off x="1162050" y="4676775"/>
            <a:ext cx="99631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203449"/>
                </a:solidFill>
              </a:defRPr>
            </a:defPPr>
            <a:lvl1pPr algn="l">
              <a:defRPr sz="1800" b="0">
                <a:solidFill>
                  <a:srgbClr val="203449"/>
                </a:solidFill>
              </a:defRPr>
            </a:lvl1pPr>
            <a:lvl2pPr algn="l">
              <a:defRPr sz="1800" b="0">
                <a:solidFill>
                  <a:srgbClr val="203449"/>
                </a:solidFill>
              </a:defRPr>
            </a:lvl2pPr>
            <a:lvl3pPr algn="l">
              <a:defRPr sz="1800" b="0">
                <a:solidFill>
                  <a:srgbClr val="203449"/>
                </a:solidFill>
              </a:defRPr>
            </a:lvl3pPr>
            <a:lvl4pPr algn="l">
              <a:defRPr sz="1800" b="0">
                <a:solidFill>
                  <a:srgbClr val="203449"/>
                </a:solidFill>
              </a:defRPr>
            </a:lvl4pPr>
            <a:lvl5pPr algn="l">
              <a:defRPr sz="1800" b="0">
                <a:solidFill>
                  <a:srgbClr val="203449"/>
                </a:solidFill>
              </a:defRPr>
            </a:lvl5pPr>
            <a:lvl6pPr algn="l">
              <a:defRPr sz="1800" b="0">
                <a:solidFill>
                  <a:srgbClr val="203449"/>
                </a:solidFill>
              </a:defRPr>
            </a:lvl6pPr>
            <a:lvl7pPr algn="l">
              <a:defRPr sz="1800" b="0">
                <a:solidFill>
                  <a:srgbClr val="203449"/>
                </a:solidFill>
              </a:defRPr>
            </a:lvl7pPr>
            <a:lvl8pPr algn="l">
              <a:defRPr sz="1800" b="0">
                <a:solidFill>
                  <a:srgbClr val="203449"/>
                </a:solidFill>
              </a:defRPr>
            </a:lvl8pPr>
            <a:lvl9pPr algn="l">
              <a:defRPr sz="1800" b="0">
                <a:solidFill>
                  <a:srgbClr val="203449"/>
                </a:solidFill>
              </a:defRPr>
            </a:lvl9pPr>
          </a:lstStyle>
          <a:p xmlns:a="http://schemas.openxmlformats.org/drawingml/2006/main">
            <a:pPr algn="l">
              <a:defRPr sz="1800" b="0">
                <a:solidFill>
                  <a:srgbClr val="203449"/>
                </a:solidFill>
              </a:defRPr>
            </a:pPr>
            <a:r>
              <a:rPr sz="1800" b="0">
                <a:solidFill>
                  <a:srgbClr val="203449"/>
                </a:solidFill>
              </a:rPr>
              <a:t>The findings depend on this simulator, reward, and training setup; they do not establish universal superiority.</a:t>
            </a:r>
          </a:p>
        </p:txBody>
      </p:sp>
    </p:spTree>
    <p:extLst>
      <p:ext uri="{BB962C8B-B14F-4D97-AF65-F5344CB8AC3E}">
        <p14:creationId xmlns:p14="http://schemas.microsoft.com/office/powerpoint/2010/main" val="474217988"/>
      </p:ext>
    </p:extLst>
  </p:cSld>
</p:sld>
</file>

<file path=ppt/slides/slide10.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7C3E0F3D-D2A6-4F4E-8AAF-C1483809132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prstDash val="solid"/>
          </a:ln>
        </p:spPr>
      </p:sp>
      <p:sp>
        <p:nvSpPr>
          <p:cNvPr id="2" name="">
            <a:extLst xmlns:a="http://schemas.openxmlformats.org/drawingml/2006/main">
              <a:ext uri="{FF2B5EF4-FFF2-40B4-BE49-F238E27FC236}">
                <a16:creationId xmlns:a16="http://schemas.microsoft.com/office/drawing/2014/main" id="{BF2DD32C-E7E4-40DD-AB12-950710CC2CF3}"/>
              </a:ext>
            </a:extLst>
          </p:cNvPr>
          <p:cNvSpPr>
            <a:spLocks xmlns:a="http://schemas.openxmlformats.org/drawingml/2006/main" noGrp="1"/>
          </p:cNvSpPr>
          <p:nvPr/>
        </p:nvSpPr>
        <p:spPr>
          <a:xfrm xmlns:a="http://schemas.openxmlformats.org/drawingml/2006/main">
            <a:off x="685800" y="3810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7324D"/>
                </a:solidFill>
              </a:defRPr>
            </a:defPPr>
            <a:lvl1pPr algn="l">
              <a:defRPr sz="3300" b="1">
                <a:solidFill>
                  <a:srgbClr val="17324D"/>
                </a:solidFill>
              </a:defRPr>
            </a:lvl1pPr>
            <a:lvl2pPr algn="l">
              <a:defRPr sz="3300" b="1">
                <a:solidFill>
                  <a:srgbClr val="17324D"/>
                </a:solidFill>
              </a:defRPr>
            </a:lvl2pPr>
            <a:lvl3pPr algn="l">
              <a:defRPr sz="3300" b="1">
                <a:solidFill>
                  <a:srgbClr val="17324D"/>
                </a:solidFill>
              </a:defRPr>
            </a:lvl3pPr>
            <a:lvl4pPr algn="l">
              <a:defRPr sz="3300" b="1">
                <a:solidFill>
                  <a:srgbClr val="17324D"/>
                </a:solidFill>
              </a:defRPr>
            </a:lvl4pPr>
            <a:lvl5pPr algn="l">
              <a:defRPr sz="3300" b="1">
                <a:solidFill>
                  <a:srgbClr val="17324D"/>
                </a:solidFill>
              </a:defRPr>
            </a:lvl5pPr>
            <a:lvl6pPr algn="l">
              <a:defRPr sz="3300" b="1">
                <a:solidFill>
                  <a:srgbClr val="17324D"/>
                </a:solidFill>
              </a:defRPr>
            </a:lvl6pPr>
            <a:lvl7pPr algn="l">
              <a:defRPr sz="3300" b="1">
                <a:solidFill>
                  <a:srgbClr val="17324D"/>
                </a:solidFill>
              </a:defRPr>
            </a:lvl7pPr>
            <a:lvl8pPr algn="l">
              <a:defRPr sz="3300" b="1">
                <a:solidFill>
                  <a:srgbClr val="17324D"/>
                </a:solidFill>
              </a:defRPr>
            </a:lvl8pPr>
            <a:lvl9pPr algn="l">
              <a:defRPr sz="3300" b="1">
                <a:solidFill>
                  <a:srgbClr val="17324D"/>
                </a:solidFill>
              </a:defRPr>
            </a:lvl9pPr>
          </a:lstStyle>
          <a:p xmlns:a="http://schemas.openxmlformats.org/drawingml/2006/main">
            <a:pPr algn="l">
              <a:defRPr sz="3300" b="1">
                <a:solidFill>
                  <a:srgbClr val="17324D"/>
                </a:solidFill>
              </a:defRPr>
            </a:pPr>
            <a:r>
              <a:rPr sz="3300" b="1">
                <a:solidFill>
                  <a:srgbClr val="17324D"/>
                </a:solidFill>
              </a:rPr>
              <a:t>Limitations and next steps</a:t>
            </a:r>
          </a:p>
        </p:txBody>
      </p:sp>
      <p:sp>
        <p:nvSpPr>
          <p:cNvPr id="3" name="">
            <a:extLst xmlns:a="http://schemas.openxmlformats.org/drawingml/2006/main">
              <a:ext uri="{FF2B5EF4-FFF2-40B4-BE49-F238E27FC236}">
                <a16:creationId xmlns:a16="http://schemas.microsoft.com/office/drawing/2014/main" id="{B7BAA4C6-3409-4ED7-803B-F7C23B975946}"/>
              </a:ext>
            </a:extLst>
          </p:cNvPr>
          <p:cNvSpPr>
            <a:spLocks xmlns:a="http://schemas.openxmlformats.org/drawingml/2006/main" noGrp="1"/>
          </p:cNvSpPr>
          <p:nvPr/>
        </p:nvSpPr>
        <p:spPr>
          <a:xfrm xmlns:a="http://schemas.openxmlformats.org/drawingml/2006/main">
            <a:off x="781050" y="1495425"/>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0F9D8A"/>
                </a:solidFill>
              </a:defRPr>
            </a:defPPr>
            <a:lvl1pPr algn="l">
              <a:defRPr sz="2100" b="1">
                <a:solidFill>
                  <a:srgbClr val="0F9D8A"/>
                </a:solidFill>
              </a:defRPr>
            </a:lvl1pPr>
            <a:lvl2pPr algn="l">
              <a:defRPr sz="2100" b="1">
                <a:solidFill>
                  <a:srgbClr val="0F9D8A"/>
                </a:solidFill>
              </a:defRPr>
            </a:lvl2pPr>
            <a:lvl3pPr algn="l">
              <a:defRPr sz="2100" b="1">
                <a:solidFill>
                  <a:srgbClr val="0F9D8A"/>
                </a:solidFill>
              </a:defRPr>
            </a:lvl3pPr>
            <a:lvl4pPr algn="l">
              <a:defRPr sz="2100" b="1">
                <a:solidFill>
                  <a:srgbClr val="0F9D8A"/>
                </a:solidFill>
              </a:defRPr>
            </a:lvl4pPr>
            <a:lvl5pPr algn="l">
              <a:defRPr sz="2100" b="1">
                <a:solidFill>
                  <a:srgbClr val="0F9D8A"/>
                </a:solidFill>
              </a:defRPr>
            </a:lvl5pPr>
            <a:lvl6pPr algn="l">
              <a:defRPr sz="2100" b="1">
                <a:solidFill>
                  <a:srgbClr val="0F9D8A"/>
                </a:solidFill>
              </a:defRPr>
            </a:lvl6pPr>
            <a:lvl7pPr algn="l">
              <a:defRPr sz="2100" b="1">
                <a:solidFill>
                  <a:srgbClr val="0F9D8A"/>
                </a:solidFill>
              </a:defRPr>
            </a:lvl7pPr>
            <a:lvl8pPr algn="l">
              <a:defRPr sz="2100" b="1">
                <a:solidFill>
                  <a:srgbClr val="0F9D8A"/>
                </a:solidFill>
              </a:defRPr>
            </a:lvl8pPr>
            <a:lvl9pPr algn="l">
              <a:defRPr sz="2100" b="1">
                <a:solidFill>
                  <a:srgbClr val="0F9D8A"/>
                </a:solidFill>
              </a:defRPr>
            </a:lvl9pPr>
          </a:lstStyle>
          <a:p xmlns:a="http://schemas.openxmlformats.org/drawingml/2006/main">
            <a:pPr algn="l">
              <a:defRPr sz="2100" b="1">
                <a:solidFill>
                  <a:srgbClr val="0F9D8A"/>
                </a:solidFill>
              </a:defRPr>
            </a:pPr>
            <a:r>
              <a:rPr sz="2100" b="1">
                <a:solidFill>
                  <a:srgbClr val="0F9D8A"/>
                </a:solidFill>
              </a:rPr>
              <a:t>Current model</a:t>
            </a:r>
          </a:p>
        </p:txBody>
      </p:sp>
      <p:sp>
        <p:nvSpPr>
          <p:cNvPr id="4" name="">
            <a:extLst xmlns:a="http://schemas.openxmlformats.org/drawingml/2006/main">
              <a:ext uri="{FF2B5EF4-FFF2-40B4-BE49-F238E27FC236}">
                <a16:creationId xmlns:a16="http://schemas.microsoft.com/office/drawing/2014/main" id="{9AA8489C-ABBD-44E3-9B54-434834CE8DED}"/>
              </a:ext>
            </a:extLst>
          </p:cNvPr>
          <p:cNvSpPr>
            <a:spLocks xmlns:a="http://schemas.openxmlformats.org/drawingml/2006/main" noGrp="1"/>
          </p:cNvSpPr>
          <p:nvPr/>
        </p:nvSpPr>
        <p:spPr>
          <a:xfrm xmlns:a="http://schemas.openxmlformats.org/drawingml/2006/main">
            <a:off x="800100" y="202882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9D8A"/>
                </a:solidFill>
              </a:defRPr>
            </a:defPPr>
            <a:lvl1pPr algn="l">
              <a:defRPr sz="1725" b="1">
                <a:solidFill>
                  <a:srgbClr val="0F9D8A"/>
                </a:solidFill>
              </a:defRPr>
            </a:lvl1pPr>
            <a:lvl2pPr algn="l">
              <a:defRPr sz="1725" b="1">
                <a:solidFill>
                  <a:srgbClr val="0F9D8A"/>
                </a:solidFill>
              </a:defRPr>
            </a:lvl2pPr>
            <a:lvl3pPr algn="l">
              <a:defRPr sz="1725" b="1">
                <a:solidFill>
                  <a:srgbClr val="0F9D8A"/>
                </a:solidFill>
              </a:defRPr>
            </a:lvl3pPr>
            <a:lvl4pPr algn="l">
              <a:defRPr sz="1725" b="1">
                <a:solidFill>
                  <a:srgbClr val="0F9D8A"/>
                </a:solidFill>
              </a:defRPr>
            </a:lvl4pPr>
            <a:lvl5pPr algn="l">
              <a:defRPr sz="1725" b="1">
                <a:solidFill>
                  <a:srgbClr val="0F9D8A"/>
                </a:solidFill>
              </a:defRPr>
            </a:lvl5pPr>
            <a:lvl6pPr algn="l">
              <a:defRPr sz="1725" b="1">
                <a:solidFill>
                  <a:srgbClr val="0F9D8A"/>
                </a:solidFill>
              </a:defRPr>
            </a:lvl6pPr>
            <a:lvl7pPr algn="l">
              <a:defRPr sz="1725" b="1">
                <a:solidFill>
                  <a:srgbClr val="0F9D8A"/>
                </a:solidFill>
              </a:defRPr>
            </a:lvl7pPr>
            <a:lvl8pPr algn="l">
              <a:defRPr sz="1725" b="1">
                <a:solidFill>
                  <a:srgbClr val="0F9D8A"/>
                </a:solidFill>
              </a:defRPr>
            </a:lvl8pPr>
            <a:lvl9pPr algn="l">
              <a:defRPr sz="1725" b="1">
                <a:solidFill>
                  <a:srgbClr val="0F9D8A"/>
                </a:solidFill>
              </a:defRPr>
            </a:lvl9pPr>
          </a:lstStyle>
          <a:p xmlns:a="http://schemas.openxmlformats.org/drawingml/2006/main">
            <a:pPr algn="l">
              <a:defRPr sz="1725" b="1">
                <a:solidFill>
                  <a:srgbClr val="0F9D8A"/>
                </a:solidFill>
              </a:defRPr>
            </a:pPr>
            <a:r>
              <a:rPr sz="1725" b="1">
                <a:solidFill>
                  <a:srgbClr val="0F9D8A"/>
                </a:solidFill>
              </a:rPr>
              <a:t>•</a:t>
            </a:r>
          </a:p>
        </p:txBody>
      </p:sp>
      <p:sp>
        <p:nvSpPr>
          <p:cNvPr id="5" name="">
            <a:extLst xmlns:a="http://schemas.openxmlformats.org/drawingml/2006/main">
              <a:ext uri="{FF2B5EF4-FFF2-40B4-BE49-F238E27FC236}">
                <a16:creationId xmlns:a16="http://schemas.microsoft.com/office/drawing/2014/main" id="{914E881F-E059-4AEE-BA84-E9211753F229}"/>
              </a:ext>
            </a:extLst>
          </p:cNvPr>
          <p:cNvSpPr>
            <a:spLocks xmlns:a="http://schemas.openxmlformats.org/drawingml/2006/main" noGrp="1"/>
          </p:cNvSpPr>
          <p:nvPr/>
        </p:nvSpPr>
        <p:spPr>
          <a:xfrm xmlns:a="http://schemas.openxmlformats.org/drawingml/2006/main">
            <a:off x="1123950" y="202882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203449"/>
                </a:solidFill>
              </a:defRPr>
            </a:defPPr>
            <a:lvl1pPr algn="l">
              <a:defRPr sz="1575" b="0">
                <a:solidFill>
                  <a:srgbClr val="203449"/>
                </a:solidFill>
              </a:defRPr>
            </a:lvl1pPr>
            <a:lvl2pPr algn="l">
              <a:defRPr sz="1575" b="0">
                <a:solidFill>
                  <a:srgbClr val="203449"/>
                </a:solidFill>
              </a:defRPr>
            </a:lvl2pPr>
            <a:lvl3pPr algn="l">
              <a:defRPr sz="1575" b="0">
                <a:solidFill>
                  <a:srgbClr val="203449"/>
                </a:solidFill>
              </a:defRPr>
            </a:lvl3pPr>
            <a:lvl4pPr algn="l">
              <a:defRPr sz="1575" b="0">
                <a:solidFill>
                  <a:srgbClr val="203449"/>
                </a:solidFill>
              </a:defRPr>
            </a:lvl4pPr>
            <a:lvl5pPr algn="l">
              <a:defRPr sz="1575" b="0">
                <a:solidFill>
                  <a:srgbClr val="203449"/>
                </a:solidFill>
              </a:defRPr>
            </a:lvl5pPr>
            <a:lvl6pPr algn="l">
              <a:defRPr sz="1575" b="0">
                <a:solidFill>
                  <a:srgbClr val="203449"/>
                </a:solidFill>
              </a:defRPr>
            </a:lvl6pPr>
            <a:lvl7pPr algn="l">
              <a:defRPr sz="1575" b="0">
                <a:solidFill>
                  <a:srgbClr val="203449"/>
                </a:solidFill>
              </a:defRPr>
            </a:lvl7pPr>
            <a:lvl8pPr algn="l">
              <a:defRPr sz="1575" b="0">
                <a:solidFill>
                  <a:srgbClr val="203449"/>
                </a:solidFill>
              </a:defRPr>
            </a:lvl8pPr>
            <a:lvl9pPr algn="l">
              <a:defRPr sz="1575" b="0">
                <a:solidFill>
                  <a:srgbClr val="203449"/>
                </a:solidFill>
              </a:defRPr>
            </a:lvl9pPr>
          </a:lstStyle>
          <a:p xmlns:a="http://schemas.openxmlformats.org/drawingml/2006/main">
            <a:pPr algn="l">
              <a:defRPr sz="1575" b="0">
                <a:solidFill>
                  <a:srgbClr val="203449"/>
                </a:solidFill>
              </a:defRPr>
            </a:pPr>
            <a:r>
              <a:rPr sz="1575" b="0">
                <a:solidFill>
                  <a:srgbClr val="203449"/>
                </a:solidFill>
              </a:rPr>
              <a:t>Single flow, one FIFO bottleneck, independent random loss.</a:t>
            </a:r>
          </a:p>
        </p:txBody>
      </p:sp>
      <p:sp>
        <p:nvSpPr>
          <p:cNvPr id="6" name="">
            <a:extLst xmlns:a="http://schemas.openxmlformats.org/drawingml/2006/main">
              <a:ext uri="{FF2B5EF4-FFF2-40B4-BE49-F238E27FC236}">
                <a16:creationId xmlns:a16="http://schemas.microsoft.com/office/drawing/2014/main" id="{E8095BA4-5717-4595-9157-B557D6BFD3C9}"/>
              </a:ext>
            </a:extLst>
          </p:cNvPr>
          <p:cNvSpPr>
            <a:spLocks xmlns:a="http://schemas.openxmlformats.org/drawingml/2006/main" noGrp="1"/>
          </p:cNvSpPr>
          <p:nvPr/>
        </p:nvSpPr>
        <p:spPr>
          <a:xfrm xmlns:a="http://schemas.openxmlformats.org/drawingml/2006/main">
            <a:off x="800100" y="26193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9D8A"/>
                </a:solidFill>
              </a:defRPr>
            </a:defPPr>
            <a:lvl1pPr algn="l">
              <a:defRPr sz="1725" b="1">
                <a:solidFill>
                  <a:srgbClr val="0F9D8A"/>
                </a:solidFill>
              </a:defRPr>
            </a:lvl1pPr>
            <a:lvl2pPr algn="l">
              <a:defRPr sz="1725" b="1">
                <a:solidFill>
                  <a:srgbClr val="0F9D8A"/>
                </a:solidFill>
              </a:defRPr>
            </a:lvl2pPr>
            <a:lvl3pPr algn="l">
              <a:defRPr sz="1725" b="1">
                <a:solidFill>
                  <a:srgbClr val="0F9D8A"/>
                </a:solidFill>
              </a:defRPr>
            </a:lvl3pPr>
            <a:lvl4pPr algn="l">
              <a:defRPr sz="1725" b="1">
                <a:solidFill>
                  <a:srgbClr val="0F9D8A"/>
                </a:solidFill>
              </a:defRPr>
            </a:lvl4pPr>
            <a:lvl5pPr algn="l">
              <a:defRPr sz="1725" b="1">
                <a:solidFill>
                  <a:srgbClr val="0F9D8A"/>
                </a:solidFill>
              </a:defRPr>
            </a:lvl5pPr>
            <a:lvl6pPr algn="l">
              <a:defRPr sz="1725" b="1">
                <a:solidFill>
                  <a:srgbClr val="0F9D8A"/>
                </a:solidFill>
              </a:defRPr>
            </a:lvl6pPr>
            <a:lvl7pPr algn="l">
              <a:defRPr sz="1725" b="1">
                <a:solidFill>
                  <a:srgbClr val="0F9D8A"/>
                </a:solidFill>
              </a:defRPr>
            </a:lvl7pPr>
            <a:lvl8pPr algn="l">
              <a:defRPr sz="1725" b="1">
                <a:solidFill>
                  <a:srgbClr val="0F9D8A"/>
                </a:solidFill>
              </a:defRPr>
            </a:lvl8pPr>
            <a:lvl9pPr algn="l">
              <a:defRPr sz="1725" b="1">
                <a:solidFill>
                  <a:srgbClr val="0F9D8A"/>
                </a:solidFill>
              </a:defRPr>
            </a:lvl9pPr>
          </a:lstStyle>
          <a:p xmlns:a="http://schemas.openxmlformats.org/drawingml/2006/main">
            <a:pPr algn="l">
              <a:defRPr sz="1725" b="1">
                <a:solidFill>
                  <a:srgbClr val="0F9D8A"/>
                </a:solidFill>
              </a:defRPr>
            </a:pPr>
            <a:r>
              <a:rPr sz="1725" b="1">
                <a:solidFill>
                  <a:srgbClr val="0F9D8A"/>
                </a:solidFill>
              </a:rPr>
              <a:t>•</a:t>
            </a:r>
          </a:p>
        </p:txBody>
      </p:sp>
      <p:sp>
        <p:nvSpPr>
          <p:cNvPr id="7" name="">
            <a:extLst xmlns:a="http://schemas.openxmlformats.org/drawingml/2006/main">
              <a:ext uri="{FF2B5EF4-FFF2-40B4-BE49-F238E27FC236}">
                <a16:creationId xmlns:a16="http://schemas.microsoft.com/office/drawing/2014/main" id="{6ED376AA-25D9-446D-8045-24D028E150A8}"/>
              </a:ext>
            </a:extLst>
          </p:cNvPr>
          <p:cNvSpPr>
            <a:spLocks xmlns:a="http://schemas.openxmlformats.org/drawingml/2006/main" noGrp="1"/>
          </p:cNvSpPr>
          <p:nvPr/>
        </p:nvSpPr>
        <p:spPr>
          <a:xfrm xmlns:a="http://schemas.openxmlformats.org/drawingml/2006/main">
            <a:off x="1123950" y="261937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203449"/>
                </a:solidFill>
              </a:defRPr>
            </a:defPPr>
            <a:lvl1pPr algn="l">
              <a:defRPr sz="1575" b="0">
                <a:solidFill>
                  <a:srgbClr val="203449"/>
                </a:solidFill>
              </a:defRPr>
            </a:lvl1pPr>
            <a:lvl2pPr algn="l">
              <a:defRPr sz="1575" b="0">
                <a:solidFill>
                  <a:srgbClr val="203449"/>
                </a:solidFill>
              </a:defRPr>
            </a:lvl2pPr>
            <a:lvl3pPr algn="l">
              <a:defRPr sz="1575" b="0">
                <a:solidFill>
                  <a:srgbClr val="203449"/>
                </a:solidFill>
              </a:defRPr>
            </a:lvl3pPr>
            <a:lvl4pPr algn="l">
              <a:defRPr sz="1575" b="0">
                <a:solidFill>
                  <a:srgbClr val="203449"/>
                </a:solidFill>
              </a:defRPr>
            </a:lvl4pPr>
            <a:lvl5pPr algn="l">
              <a:defRPr sz="1575" b="0">
                <a:solidFill>
                  <a:srgbClr val="203449"/>
                </a:solidFill>
              </a:defRPr>
            </a:lvl5pPr>
            <a:lvl6pPr algn="l">
              <a:defRPr sz="1575" b="0">
                <a:solidFill>
                  <a:srgbClr val="203449"/>
                </a:solidFill>
              </a:defRPr>
            </a:lvl6pPr>
            <a:lvl7pPr algn="l">
              <a:defRPr sz="1575" b="0">
                <a:solidFill>
                  <a:srgbClr val="203449"/>
                </a:solidFill>
              </a:defRPr>
            </a:lvl7pPr>
            <a:lvl8pPr algn="l">
              <a:defRPr sz="1575" b="0">
                <a:solidFill>
                  <a:srgbClr val="203449"/>
                </a:solidFill>
              </a:defRPr>
            </a:lvl8pPr>
            <a:lvl9pPr algn="l">
              <a:defRPr sz="1575" b="0">
                <a:solidFill>
                  <a:srgbClr val="203449"/>
                </a:solidFill>
              </a:defRPr>
            </a:lvl9pPr>
          </a:lstStyle>
          <a:p xmlns:a="http://schemas.openxmlformats.org/drawingml/2006/main">
            <a:pPr algn="l">
              <a:defRPr sz="1575" b="0">
                <a:solidFill>
                  <a:srgbClr val="203449"/>
                </a:solidFill>
              </a:defRPr>
            </a:pPr>
            <a:r>
              <a:rPr sz="1575" b="0">
                <a:solidFill>
                  <a:srgbClr val="203449"/>
                </a:solidFill>
              </a:rPr>
              <a:t>Simplified RTT-based epochs and Reno-style AIMD baseline.</a:t>
            </a:r>
          </a:p>
        </p:txBody>
      </p:sp>
      <p:sp>
        <p:nvSpPr>
          <p:cNvPr id="8" name="">
            <a:extLst xmlns:a="http://schemas.openxmlformats.org/drawingml/2006/main">
              <a:ext uri="{FF2B5EF4-FFF2-40B4-BE49-F238E27FC236}">
                <a16:creationId xmlns:a16="http://schemas.microsoft.com/office/drawing/2014/main" id="{359C35D6-9421-497E-87C5-6CBA74A0D4DC}"/>
              </a:ext>
            </a:extLst>
          </p:cNvPr>
          <p:cNvSpPr>
            <a:spLocks xmlns:a="http://schemas.openxmlformats.org/drawingml/2006/main" noGrp="1"/>
          </p:cNvSpPr>
          <p:nvPr/>
        </p:nvSpPr>
        <p:spPr>
          <a:xfrm xmlns:a="http://schemas.openxmlformats.org/drawingml/2006/main">
            <a:off x="800100" y="320992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9D8A"/>
                </a:solidFill>
              </a:defRPr>
            </a:defPPr>
            <a:lvl1pPr algn="l">
              <a:defRPr sz="1725" b="1">
                <a:solidFill>
                  <a:srgbClr val="0F9D8A"/>
                </a:solidFill>
              </a:defRPr>
            </a:lvl1pPr>
            <a:lvl2pPr algn="l">
              <a:defRPr sz="1725" b="1">
                <a:solidFill>
                  <a:srgbClr val="0F9D8A"/>
                </a:solidFill>
              </a:defRPr>
            </a:lvl2pPr>
            <a:lvl3pPr algn="l">
              <a:defRPr sz="1725" b="1">
                <a:solidFill>
                  <a:srgbClr val="0F9D8A"/>
                </a:solidFill>
              </a:defRPr>
            </a:lvl3pPr>
            <a:lvl4pPr algn="l">
              <a:defRPr sz="1725" b="1">
                <a:solidFill>
                  <a:srgbClr val="0F9D8A"/>
                </a:solidFill>
              </a:defRPr>
            </a:lvl4pPr>
            <a:lvl5pPr algn="l">
              <a:defRPr sz="1725" b="1">
                <a:solidFill>
                  <a:srgbClr val="0F9D8A"/>
                </a:solidFill>
              </a:defRPr>
            </a:lvl5pPr>
            <a:lvl6pPr algn="l">
              <a:defRPr sz="1725" b="1">
                <a:solidFill>
                  <a:srgbClr val="0F9D8A"/>
                </a:solidFill>
              </a:defRPr>
            </a:lvl6pPr>
            <a:lvl7pPr algn="l">
              <a:defRPr sz="1725" b="1">
                <a:solidFill>
                  <a:srgbClr val="0F9D8A"/>
                </a:solidFill>
              </a:defRPr>
            </a:lvl7pPr>
            <a:lvl8pPr algn="l">
              <a:defRPr sz="1725" b="1">
                <a:solidFill>
                  <a:srgbClr val="0F9D8A"/>
                </a:solidFill>
              </a:defRPr>
            </a:lvl8pPr>
            <a:lvl9pPr algn="l">
              <a:defRPr sz="1725" b="1">
                <a:solidFill>
                  <a:srgbClr val="0F9D8A"/>
                </a:solidFill>
              </a:defRPr>
            </a:lvl9pPr>
          </a:lstStyle>
          <a:p xmlns:a="http://schemas.openxmlformats.org/drawingml/2006/main">
            <a:pPr algn="l">
              <a:defRPr sz="1725" b="1">
                <a:solidFill>
                  <a:srgbClr val="0F9D8A"/>
                </a:solidFill>
              </a:defRPr>
            </a:pPr>
            <a:r>
              <a:rPr sz="1725" b="1">
                <a:solidFill>
                  <a:srgbClr val="0F9D8A"/>
                </a:solidFill>
              </a:rPr>
              <a:t>•</a:t>
            </a:r>
          </a:p>
        </p:txBody>
      </p:sp>
      <p:sp>
        <p:nvSpPr>
          <p:cNvPr id="9" name="">
            <a:extLst xmlns:a="http://schemas.openxmlformats.org/drawingml/2006/main">
              <a:ext uri="{FF2B5EF4-FFF2-40B4-BE49-F238E27FC236}">
                <a16:creationId xmlns:a16="http://schemas.microsoft.com/office/drawing/2014/main" id="{AF012913-1A86-4838-B5D8-6EC704A75E39}"/>
              </a:ext>
            </a:extLst>
          </p:cNvPr>
          <p:cNvSpPr>
            <a:spLocks xmlns:a="http://schemas.openxmlformats.org/drawingml/2006/main" noGrp="1"/>
          </p:cNvSpPr>
          <p:nvPr/>
        </p:nvSpPr>
        <p:spPr>
          <a:xfrm xmlns:a="http://schemas.openxmlformats.org/drawingml/2006/main">
            <a:off x="1123950" y="320992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203449"/>
                </a:solidFill>
              </a:defRPr>
            </a:defPPr>
            <a:lvl1pPr algn="l">
              <a:defRPr sz="1575" b="0">
                <a:solidFill>
                  <a:srgbClr val="203449"/>
                </a:solidFill>
              </a:defRPr>
            </a:lvl1pPr>
            <a:lvl2pPr algn="l">
              <a:defRPr sz="1575" b="0">
                <a:solidFill>
                  <a:srgbClr val="203449"/>
                </a:solidFill>
              </a:defRPr>
            </a:lvl2pPr>
            <a:lvl3pPr algn="l">
              <a:defRPr sz="1575" b="0">
                <a:solidFill>
                  <a:srgbClr val="203449"/>
                </a:solidFill>
              </a:defRPr>
            </a:lvl3pPr>
            <a:lvl4pPr algn="l">
              <a:defRPr sz="1575" b="0">
                <a:solidFill>
                  <a:srgbClr val="203449"/>
                </a:solidFill>
              </a:defRPr>
            </a:lvl4pPr>
            <a:lvl5pPr algn="l">
              <a:defRPr sz="1575" b="0">
                <a:solidFill>
                  <a:srgbClr val="203449"/>
                </a:solidFill>
              </a:defRPr>
            </a:lvl5pPr>
            <a:lvl6pPr algn="l">
              <a:defRPr sz="1575" b="0">
                <a:solidFill>
                  <a:srgbClr val="203449"/>
                </a:solidFill>
              </a:defRPr>
            </a:lvl6pPr>
            <a:lvl7pPr algn="l">
              <a:defRPr sz="1575" b="0">
                <a:solidFill>
                  <a:srgbClr val="203449"/>
                </a:solidFill>
              </a:defRPr>
            </a:lvl7pPr>
            <a:lvl8pPr algn="l">
              <a:defRPr sz="1575" b="0">
                <a:solidFill>
                  <a:srgbClr val="203449"/>
                </a:solidFill>
              </a:defRPr>
            </a:lvl8pPr>
            <a:lvl9pPr algn="l">
              <a:defRPr sz="1575" b="0">
                <a:solidFill>
                  <a:srgbClr val="203449"/>
                </a:solidFill>
              </a:defRPr>
            </a:lvl9pPr>
          </a:lstStyle>
          <a:p xmlns:a="http://schemas.openxmlformats.org/drawingml/2006/main">
            <a:pPr algn="l">
              <a:defRPr sz="1575" b="0">
                <a:solidFill>
                  <a:srgbClr val="203449"/>
                </a:solidFill>
              </a:defRPr>
            </a:pPr>
            <a:r>
              <a:rPr sz="1575" b="0">
                <a:solidFill>
                  <a:srgbClr val="203449"/>
                </a:solidFill>
              </a:rPr>
              <a:t>No ACK loss, timeouts, burst errors, FEC, cross traffic, QUIC, or physical link.</a:t>
            </a:r>
          </a:p>
        </p:txBody>
      </p:sp>
      <p:sp>
        <p:nvSpPr>
          <p:cNvPr id="10" name="">
            <a:extLst xmlns:a="http://schemas.openxmlformats.org/drawingml/2006/main">
              <a:ext uri="{FF2B5EF4-FFF2-40B4-BE49-F238E27FC236}">
                <a16:creationId xmlns:a16="http://schemas.microsoft.com/office/drawing/2014/main" id="{A9BDECFA-0CCC-4B52-9FA9-4D04DF3CBABB}"/>
              </a:ext>
            </a:extLst>
          </p:cNvPr>
          <p:cNvSpPr>
            <a:spLocks xmlns:a="http://schemas.openxmlformats.org/drawingml/2006/main" noGrp="1"/>
          </p:cNvSpPr>
          <p:nvPr/>
        </p:nvSpPr>
        <p:spPr>
          <a:xfrm xmlns:a="http://schemas.openxmlformats.org/drawingml/2006/main">
            <a:off x="800100" y="38004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9D8A"/>
                </a:solidFill>
              </a:defRPr>
            </a:defPPr>
            <a:lvl1pPr algn="l">
              <a:defRPr sz="1725" b="1">
                <a:solidFill>
                  <a:srgbClr val="0F9D8A"/>
                </a:solidFill>
              </a:defRPr>
            </a:lvl1pPr>
            <a:lvl2pPr algn="l">
              <a:defRPr sz="1725" b="1">
                <a:solidFill>
                  <a:srgbClr val="0F9D8A"/>
                </a:solidFill>
              </a:defRPr>
            </a:lvl2pPr>
            <a:lvl3pPr algn="l">
              <a:defRPr sz="1725" b="1">
                <a:solidFill>
                  <a:srgbClr val="0F9D8A"/>
                </a:solidFill>
              </a:defRPr>
            </a:lvl3pPr>
            <a:lvl4pPr algn="l">
              <a:defRPr sz="1725" b="1">
                <a:solidFill>
                  <a:srgbClr val="0F9D8A"/>
                </a:solidFill>
              </a:defRPr>
            </a:lvl4pPr>
            <a:lvl5pPr algn="l">
              <a:defRPr sz="1725" b="1">
                <a:solidFill>
                  <a:srgbClr val="0F9D8A"/>
                </a:solidFill>
              </a:defRPr>
            </a:lvl5pPr>
            <a:lvl6pPr algn="l">
              <a:defRPr sz="1725" b="1">
                <a:solidFill>
                  <a:srgbClr val="0F9D8A"/>
                </a:solidFill>
              </a:defRPr>
            </a:lvl6pPr>
            <a:lvl7pPr algn="l">
              <a:defRPr sz="1725" b="1">
                <a:solidFill>
                  <a:srgbClr val="0F9D8A"/>
                </a:solidFill>
              </a:defRPr>
            </a:lvl7pPr>
            <a:lvl8pPr algn="l">
              <a:defRPr sz="1725" b="1">
                <a:solidFill>
                  <a:srgbClr val="0F9D8A"/>
                </a:solidFill>
              </a:defRPr>
            </a:lvl8pPr>
            <a:lvl9pPr algn="l">
              <a:defRPr sz="1725" b="1">
                <a:solidFill>
                  <a:srgbClr val="0F9D8A"/>
                </a:solidFill>
              </a:defRPr>
            </a:lvl9pPr>
          </a:lstStyle>
          <a:p xmlns:a="http://schemas.openxmlformats.org/drawingml/2006/main">
            <a:pPr algn="l">
              <a:defRPr sz="1725" b="1">
                <a:solidFill>
                  <a:srgbClr val="0F9D8A"/>
                </a:solidFill>
              </a:defRPr>
            </a:pPr>
            <a:r>
              <a:rPr sz="1725" b="1">
                <a:solidFill>
                  <a:srgbClr val="0F9D8A"/>
                </a:solidFill>
              </a:rPr>
              <a:t>•</a:t>
            </a:r>
          </a:p>
        </p:txBody>
      </p:sp>
      <p:sp>
        <p:nvSpPr>
          <p:cNvPr id="11" name="">
            <a:extLst xmlns:a="http://schemas.openxmlformats.org/drawingml/2006/main">
              <a:ext uri="{FF2B5EF4-FFF2-40B4-BE49-F238E27FC236}">
                <a16:creationId xmlns:a16="http://schemas.microsoft.com/office/drawing/2014/main" id="{F80368CA-9865-4296-94C2-74C9903ADFE2}"/>
              </a:ext>
            </a:extLst>
          </p:cNvPr>
          <p:cNvSpPr>
            <a:spLocks xmlns:a="http://schemas.openxmlformats.org/drawingml/2006/main" noGrp="1"/>
          </p:cNvSpPr>
          <p:nvPr/>
        </p:nvSpPr>
        <p:spPr>
          <a:xfrm xmlns:a="http://schemas.openxmlformats.org/drawingml/2006/main">
            <a:off x="1123950" y="380047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203449"/>
                </a:solidFill>
              </a:defRPr>
            </a:defPPr>
            <a:lvl1pPr algn="l">
              <a:defRPr sz="1575" b="0">
                <a:solidFill>
                  <a:srgbClr val="203449"/>
                </a:solidFill>
              </a:defRPr>
            </a:lvl1pPr>
            <a:lvl2pPr algn="l">
              <a:defRPr sz="1575" b="0">
                <a:solidFill>
                  <a:srgbClr val="203449"/>
                </a:solidFill>
              </a:defRPr>
            </a:lvl2pPr>
            <a:lvl3pPr algn="l">
              <a:defRPr sz="1575" b="0">
                <a:solidFill>
                  <a:srgbClr val="203449"/>
                </a:solidFill>
              </a:defRPr>
            </a:lvl3pPr>
            <a:lvl4pPr algn="l">
              <a:defRPr sz="1575" b="0">
                <a:solidFill>
                  <a:srgbClr val="203449"/>
                </a:solidFill>
              </a:defRPr>
            </a:lvl4pPr>
            <a:lvl5pPr algn="l">
              <a:defRPr sz="1575" b="0">
                <a:solidFill>
                  <a:srgbClr val="203449"/>
                </a:solidFill>
              </a:defRPr>
            </a:lvl5pPr>
            <a:lvl6pPr algn="l">
              <a:defRPr sz="1575" b="0">
                <a:solidFill>
                  <a:srgbClr val="203449"/>
                </a:solidFill>
              </a:defRPr>
            </a:lvl6pPr>
            <a:lvl7pPr algn="l">
              <a:defRPr sz="1575" b="0">
                <a:solidFill>
                  <a:srgbClr val="203449"/>
                </a:solidFill>
              </a:defRPr>
            </a:lvl7pPr>
            <a:lvl8pPr algn="l">
              <a:defRPr sz="1575" b="0">
                <a:solidFill>
                  <a:srgbClr val="203449"/>
                </a:solidFill>
              </a:defRPr>
            </a:lvl8pPr>
            <a:lvl9pPr algn="l">
              <a:defRPr sz="1575" b="0">
                <a:solidFill>
                  <a:srgbClr val="203449"/>
                </a:solidFill>
              </a:defRPr>
            </a:lvl9pPr>
          </a:lstStyle>
          <a:p xmlns:a="http://schemas.openxmlformats.org/drawingml/2006/main">
            <a:pPr algn="l">
              <a:defRPr sz="1575" b="0">
                <a:solidFill>
                  <a:srgbClr val="203449"/>
                </a:solidFill>
              </a:defRPr>
            </a:pPr>
            <a:r>
              <a:rPr sz="1575" b="0">
                <a:solidFill>
                  <a:srgbClr val="203449"/>
                </a:solidFill>
              </a:rPr>
              <a:t>The custom PPO uses a small network and hand-selected reward; evaluation covers four scenarios.</a:t>
            </a:r>
          </a:p>
        </p:txBody>
      </p:sp>
      <p:sp>
        <p:nvSpPr>
          <p:cNvPr id="12" name="">
            <a:extLst xmlns:a="http://schemas.openxmlformats.org/drawingml/2006/main">
              <a:ext uri="{FF2B5EF4-FFF2-40B4-BE49-F238E27FC236}">
                <a16:creationId xmlns:a16="http://schemas.microsoft.com/office/drawing/2014/main" id="{A95E8535-742E-497C-A458-50692E4A6454}"/>
              </a:ext>
            </a:extLst>
          </p:cNvPr>
          <p:cNvSpPr>
            <a:spLocks xmlns:a="http://schemas.openxmlformats.org/drawingml/2006/main" noGrp="1"/>
          </p:cNvSpPr>
          <p:nvPr/>
        </p:nvSpPr>
        <p:spPr>
          <a:xfrm xmlns:a="http://schemas.openxmlformats.org/drawingml/2006/main">
            <a:off x="6305550" y="1495425"/>
            <a:ext cx="4762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100" b="1">
                <a:solidFill>
                  <a:srgbClr val="0F9D8A"/>
                </a:solidFill>
              </a:defRPr>
            </a:defPPr>
            <a:lvl1pPr algn="l">
              <a:defRPr sz="2100" b="1">
                <a:solidFill>
                  <a:srgbClr val="0F9D8A"/>
                </a:solidFill>
              </a:defRPr>
            </a:lvl1pPr>
            <a:lvl2pPr algn="l">
              <a:defRPr sz="2100" b="1">
                <a:solidFill>
                  <a:srgbClr val="0F9D8A"/>
                </a:solidFill>
              </a:defRPr>
            </a:lvl2pPr>
            <a:lvl3pPr algn="l">
              <a:defRPr sz="2100" b="1">
                <a:solidFill>
                  <a:srgbClr val="0F9D8A"/>
                </a:solidFill>
              </a:defRPr>
            </a:lvl3pPr>
            <a:lvl4pPr algn="l">
              <a:defRPr sz="2100" b="1">
                <a:solidFill>
                  <a:srgbClr val="0F9D8A"/>
                </a:solidFill>
              </a:defRPr>
            </a:lvl4pPr>
            <a:lvl5pPr algn="l">
              <a:defRPr sz="2100" b="1">
                <a:solidFill>
                  <a:srgbClr val="0F9D8A"/>
                </a:solidFill>
              </a:defRPr>
            </a:lvl5pPr>
            <a:lvl6pPr algn="l">
              <a:defRPr sz="2100" b="1">
                <a:solidFill>
                  <a:srgbClr val="0F9D8A"/>
                </a:solidFill>
              </a:defRPr>
            </a:lvl6pPr>
            <a:lvl7pPr algn="l">
              <a:defRPr sz="2100" b="1">
                <a:solidFill>
                  <a:srgbClr val="0F9D8A"/>
                </a:solidFill>
              </a:defRPr>
            </a:lvl7pPr>
            <a:lvl8pPr algn="l">
              <a:defRPr sz="2100" b="1">
                <a:solidFill>
                  <a:srgbClr val="0F9D8A"/>
                </a:solidFill>
              </a:defRPr>
            </a:lvl8pPr>
            <a:lvl9pPr algn="l">
              <a:defRPr sz="2100" b="1">
                <a:solidFill>
                  <a:srgbClr val="0F9D8A"/>
                </a:solidFill>
              </a:defRPr>
            </a:lvl9pPr>
          </a:lstStyle>
          <a:p xmlns:a="http://schemas.openxmlformats.org/drawingml/2006/main">
            <a:pPr algn="l">
              <a:defRPr sz="2100" b="1">
                <a:solidFill>
                  <a:srgbClr val="0F9D8A"/>
                </a:solidFill>
              </a:defRPr>
            </a:pPr>
            <a:r>
              <a:rPr sz="2100" b="1">
                <a:solidFill>
                  <a:srgbClr val="0F9D8A"/>
                </a:solidFill>
              </a:rPr>
              <a:t>Next experiments</a:t>
            </a:r>
          </a:p>
        </p:txBody>
      </p:sp>
      <p:sp>
        <p:nvSpPr>
          <p:cNvPr id="13" name="">
            <a:extLst xmlns:a="http://schemas.openxmlformats.org/drawingml/2006/main">
              <a:ext uri="{FF2B5EF4-FFF2-40B4-BE49-F238E27FC236}">
                <a16:creationId xmlns:a16="http://schemas.microsoft.com/office/drawing/2014/main" id="{CE0C7454-B4A3-4909-869B-73D3FF061AFF}"/>
              </a:ext>
            </a:extLst>
          </p:cNvPr>
          <p:cNvSpPr>
            <a:spLocks xmlns:a="http://schemas.openxmlformats.org/drawingml/2006/main" noGrp="1"/>
          </p:cNvSpPr>
          <p:nvPr/>
        </p:nvSpPr>
        <p:spPr>
          <a:xfrm xmlns:a="http://schemas.openxmlformats.org/drawingml/2006/main">
            <a:off x="6324600" y="202882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9D8A"/>
                </a:solidFill>
              </a:defRPr>
            </a:defPPr>
            <a:lvl1pPr algn="l">
              <a:defRPr sz="1725" b="1">
                <a:solidFill>
                  <a:srgbClr val="0F9D8A"/>
                </a:solidFill>
              </a:defRPr>
            </a:lvl1pPr>
            <a:lvl2pPr algn="l">
              <a:defRPr sz="1725" b="1">
                <a:solidFill>
                  <a:srgbClr val="0F9D8A"/>
                </a:solidFill>
              </a:defRPr>
            </a:lvl2pPr>
            <a:lvl3pPr algn="l">
              <a:defRPr sz="1725" b="1">
                <a:solidFill>
                  <a:srgbClr val="0F9D8A"/>
                </a:solidFill>
              </a:defRPr>
            </a:lvl3pPr>
            <a:lvl4pPr algn="l">
              <a:defRPr sz="1725" b="1">
                <a:solidFill>
                  <a:srgbClr val="0F9D8A"/>
                </a:solidFill>
              </a:defRPr>
            </a:lvl4pPr>
            <a:lvl5pPr algn="l">
              <a:defRPr sz="1725" b="1">
                <a:solidFill>
                  <a:srgbClr val="0F9D8A"/>
                </a:solidFill>
              </a:defRPr>
            </a:lvl5pPr>
            <a:lvl6pPr algn="l">
              <a:defRPr sz="1725" b="1">
                <a:solidFill>
                  <a:srgbClr val="0F9D8A"/>
                </a:solidFill>
              </a:defRPr>
            </a:lvl6pPr>
            <a:lvl7pPr algn="l">
              <a:defRPr sz="1725" b="1">
                <a:solidFill>
                  <a:srgbClr val="0F9D8A"/>
                </a:solidFill>
              </a:defRPr>
            </a:lvl7pPr>
            <a:lvl8pPr algn="l">
              <a:defRPr sz="1725" b="1">
                <a:solidFill>
                  <a:srgbClr val="0F9D8A"/>
                </a:solidFill>
              </a:defRPr>
            </a:lvl8pPr>
            <a:lvl9pPr algn="l">
              <a:defRPr sz="1725" b="1">
                <a:solidFill>
                  <a:srgbClr val="0F9D8A"/>
                </a:solidFill>
              </a:defRPr>
            </a:lvl9pPr>
          </a:lstStyle>
          <a:p xmlns:a="http://schemas.openxmlformats.org/drawingml/2006/main">
            <a:pPr algn="l">
              <a:defRPr sz="1725" b="1">
                <a:solidFill>
                  <a:srgbClr val="0F9D8A"/>
                </a:solidFill>
              </a:defRPr>
            </a:pPr>
            <a:r>
              <a:rPr sz="1725" b="1">
                <a:solidFill>
                  <a:srgbClr val="0F9D8A"/>
                </a:solidFill>
              </a:rPr>
              <a:t>•</a:t>
            </a:r>
          </a:p>
        </p:txBody>
      </p:sp>
      <p:sp>
        <p:nvSpPr>
          <p:cNvPr id="14" name="">
            <a:extLst xmlns:a="http://schemas.openxmlformats.org/drawingml/2006/main">
              <a:ext uri="{FF2B5EF4-FFF2-40B4-BE49-F238E27FC236}">
                <a16:creationId xmlns:a16="http://schemas.microsoft.com/office/drawing/2014/main" id="{E2FB8848-BB42-4E79-BB58-19E9A79661DF}"/>
              </a:ext>
            </a:extLst>
          </p:cNvPr>
          <p:cNvSpPr>
            <a:spLocks xmlns:a="http://schemas.openxmlformats.org/drawingml/2006/main" noGrp="1"/>
          </p:cNvSpPr>
          <p:nvPr/>
        </p:nvSpPr>
        <p:spPr>
          <a:xfrm xmlns:a="http://schemas.openxmlformats.org/drawingml/2006/main">
            <a:off x="6648450" y="202882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203449"/>
                </a:solidFill>
              </a:defRPr>
            </a:defPPr>
            <a:lvl1pPr algn="l">
              <a:defRPr sz="1575" b="0">
                <a:solidFill>
                  <a:srgbClr val="203449"/>
                </a:solidFill>
              </a:defRPr>
            </a:lvl1pPr>
            <a:lvl2pPr algn="l">
              <a:defRPr sz="1575" b="0">
                <a:solidFill>
                  <a:srgbClr val="203449"/>
                </a:solidFill>
              </a:defRPr>
            </a:lvl2pPr>
            <a:lvl3pPr algn="l">
              <a:defRPr sz="1575" b="0">
                <a:solidFill>
                  <a:srgbClr val="203449"/>
                </a:solidFill>
              </a:defRPr>
            </a:lvl3pPr>
            <a:lvl4pPr algn="l">
              <a:defRPr sz="1575" b="0">
                <a:solidFill>
                  <a:srgbClr val="203449"/>
                </a:solidFill>
              </a:defRPr>
            </a:lvl4pPr>
            <a:lvl5pPr algn="l">
              <a:defRPr sz="1575" b="0">
                <a:solidFill>
                  <a:srgbClr val="203449"/>
                </a:solidFill>
              </a:defRPr>
            </a:lvl5pPr>
            <a:lvl6pPr algn="l">
              <a:defRPr sz="1575" b="0">
                <a:solidFill>
                  <a:srgbClr val="203449"/>
                </a:solidFill>
              </a:defRPr>
            </a:lvl6pPr>
            <a:lvl7pPr algn="l">
              <a:defRPr sz="1575" b="0">
                <a:solidFill>
                  <a:srgbClr val="203449"/>
                </a:solidFill>
              </a:defRPr>
            </a:lvl7pPr>
            <a:lvl8pPr algn="l">
              <a:defRPr sz="1575" b="0">
                <a:solidFill>
                  <a:srgbClr val="203449"/>
                </a:solidFill>
              </a:defRPr>
            </a:lvl8pPr>
            <a:lvl9pPr algn="l">
              <a:defRPr sz="1575" b="0">
                <a:solidFill>
                  <a:srgbClr val="203449"/>
                </a:solidFill>
              </a:defRPr>
            </a:lvl9pPr>
          </a:lstStyle>
          <a:p xmlns:a="http://schemas.openxmlformats.org/drawingml/2006/main">
            <a:pPr algn="l">
              <a:defRPr sz="1575" b="0">
                <a:solidFill>
                  <a:srgbClr val="203449"/>
                </a:solidFill>
              </a:defRPr>
            </a:pPr>
            <a:r>
              <a:rPr sz="1575" b="0">
                <a:solidFill>
                  <a:srgbClr val="203449"/>
                </a:solidFill>
              </a:rPr>
              <a:t>Add multiple competing flows and burst-loss patterns.</a:t>
            </a:r>
          </a:p>
        </p:txBody>
      </p:sp>
      <p:sp>
        <p:nvSpPr>
          <p:cNvPr id="15" name="">
            <a:extLst xmlns:a="http://schemas.openxmlformats.org/drawingml/2006/main">
              <a:ext uri="{FF2B5EF4-FFF2-40B4-BE49-F238E27FC236}">
                <a16:creationId xmlns:a16="http://schemas.microsoft.com/office/drawing/2014/main" id="{D9D55397-EE89-401D-8675-52AE1A3595E5}"/>
              </a:ext>
            </a:extLst>
          </p:cNvPr>
          <p:cNvSpPr>
            <a:spLocks xmlns:a="http://schemas.openxmlformats.org/drawingml/2006/main" noGrp="1"/>
          </p:cNvSpPr>
          <p:nvPr/>
        </p:nvSpPr>
        <p:spPr>
          <a:xfrm xmlns:a="http://schemas.openxmlformats.org/drawingml/2006/main">
            <a:off x="6324600" y="26193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9D8A"/>
                </a:solidFill>
              </a:defRPr>
            </a:defPPr>
            <a:lvl1pPr algn="l">
              <a:defRPr sz="1725" b="1">
                <a:solidFill>
                  <a:srgbClr val="0F9D8A"/>
                </a:solidFill>
              </a:defRPr>
            </a:lvl1pPr>
            <a:lvl2pPr algn="l">
              <a:defRPr sz="1725" b="1">
                <a:solidFill>
                  <a:srgbClr val="0F9D8A"/>
                </a:solidFill>
              </a:defRPr>
            </a:lvl2pPr>
            <a:lvl3pPr algn="l">
              <a:defRPr sz="1725" b="1">
                <a:solidFill>
                  <a:srgbClr val="0F9D8A"/>
                </a:solidFill>
              </a:defRPr>
            </a:lvl3pPr>
            <a:lvl4pPr algn="l">
              <a:defRPr sz="1725" b="1">
                <a:solidFill>
                  <a:srgbClr val="0F9D8A"/>
                </a:solidFill>
              </a:defRPr>
            </a:lvl4pPr>
            <a:lvl5pPr algn="l">
              <a:defRPr sz="1725" b="1">
                <a:solidFill>
                  <a:srgbClr val="0F9D8A"/>
                </a:solidFill>
              </a:defRPr>
            </a:lvl5pPr>
            <a:lvl6pPr algn="l">
              <a:defRPr sz="1725" b="1">
                <a:solidFill>
                  <a:srgbClr val="0F9D8A"/>
                </a:solidFill>
              </a:defRPr>
            </a:lvl6pPr>
            <a:lvl7pPr algn="l">
              <a:defRPr sz="1725" b="1">
                <a:solidFill>
                  <a:srgbClr val="0F9D8A"/>
                </a:solidFill>
              </a:defRPr>
            </a:lvl7pPr>
            <a:lvl8pPr algn="l">
              <a:defRPr sz="1725" b="1">
                <a:solidFill>
                  <a:srgbClr val="0F9D8A"/>
                </a:solidFill>
              </a:defRPr>
            </a:lvl8pPr>
            <a:lvl9pPr algn="l">
              <a:defRPr sz="1725" b="1">
                <a:solidFill>
                  <a:srgbClr val="0F9D8A"/>
                </a:solidFill>
              </a:defRPr>
            </a:lvl9pPr>
          </a:lstStyle>
          <a:p xmlns:a="http://schemas.openxmlformats.org/drawingml/2006/main">
            <a:pPr algn="l">
              <a:defRPr sz="1725" b="1">
                <a:solidFill>
                  <a:srgbClr val="0F9D8A"/>
                </a:solidFill>
              </a:defRPr>
            </a:pPr>
            <a:r>
              <a:rPr sz="1725" b="1">
                <a:solidFill>
                  <a:srgbClr val="0F9D8A"/>
                </a:solidFill>
              </a:rPr>
              <a:t>•</a:t>
            </a:r>
          </a:p>
        </p:txBody>
      </p:sp>
      <p:sp>
        <p:nvSpPr>
          <p:cNvPr id="16" name="">
            <a:extLst xmlns:a="http://schemas.openxmlformats.org/drawingml/2006/main">
              <a:ext uri="{FF2B5EF4-FFF2-40B4-BE49-F238E27FC236}">
                <a16:creationId xmlns:a16="http://schemas.microsoft.com/office/drawing/2014/main" id="{BE4B84D3-020C-4070-9BC0-11D4208D17E7}"/>
              </a:ext>
            </a:extLst>
          </p:cNvPr>
          <p:cNvSpPr>
            <a:spLocks xmlns:a="http://schemas.openxmlformats.org/drawingml/2006/main" noGrp="1"/>
          </p:cNvSpPr>
          <p:nvPr/>
        </p:nvSpPr>
        <p:spPr>
          <a:xfrm xmlns:a="http://schemas.openxmlformats.org/drawingml/2006/main">
            <a:off x="6648450" y="261937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203449"/>
                </a:solidFill>
              </a:defRPr>
            </a:defPPr>
            <a:lvl1pPr algn="l">
              <a:defRPr sz="1575" b="0">
                <a:solidFill>
                  <a:srgbClr val="203449"/>
                </a:solidFill>
              </a:defRPr>
            </a:lvl1pPr>
            <a:lvl2pPr algn="l">
              <a:defRPr sz="1575" b="0">
                <a:solidFill>
                  <a:srgbClr val="203449"/>
                </a:solidFill>
              </a:defRPr>
            </a:lvl2pPr>
            <a:lvl3pPr algn="l">
              <a:defRPr sz="1575" b="0">
                <a:solidFill>
                  <a:srgbClr val="203449"/>
                </a:solidFill>
              </a:defRPr>
            </a:lvl3pPr>
            <a:lvl4pPr algn="l">
              <a:defRPr sz="1575" b="0">
                <a:solidFill>
                  <a:srgbClr val="203449"/>
                </a:solidFill>
              </a:defRPr>
            </a:lvl4pPr>
            <a:lvl5pPr algn="l">
              <a:defRPr sz="1575" b="0">
                <a:solidFill>
                  <a:srgbClr val="203449"/>
                </a:solidFill>
              </a:defRPr>
            </a:lvl5pPr>
            <a:lvl6pPr algn="l">
              <a:defRPr sz="1575" b="0">
                <a:solidFill>
                  <a:srgbClr val="203449"/>
                </a:solidFill>
              </a:defRPr>
            </a:lvl6pPr>
            <a:lvl7pPr algn="l">
              <a:defRPr sz="1575" b="0">
                <a:solidFill>
                  <a:srgbClr val="203449"/>
                </a:solidFill>
              </a:defRPr>
            </a:lvl7pPr>
            <a:lvl8pPr algn="l">
              <a:defRPr sz="1575" b="0">
                <a:solidFill>
                  <a:srgbClr val="203449"/>
                </a:solidFill>
              </a:defRPr>
            </a:lvl8pPr>
            <a:lvl9pPr algn="l">
              <a:defRPr sz="1575" b="0">
                <a:solidFill>
                  <a:srgbClr val="203449"/>
                </a:solidFill>
              </a:defRPr>
            </a:lvl9pPr>
          </a:lstStyle>
          <a:p xmlns:a="http://schemas.openxmlformats.org/drawingml/2006/main">
            <a:pPr algn="l">
              <a:defRPr sz="1575" b="0">
                <a:solidFill>
                  <a:srgbClr val="203449"/>
                </a:solidFill>
              </a:defRPr>
            </a:pPr>
            <a:r>
              <a:rPr sz="1575" b="0">
                <a:solidFill>
                  <a:srgbClr val="203449"/>
                </a:solidFill>
              </a:rPr>
              <a:t>Increase training variation and held-out seeds; report paired uncertainty.</a:t>
            </a:r>
          </a:p>
        </p:txBody>
      </p:sp>
      <p:sp>
        <p:nvSpPr>
          <p:cNvPr id="17" name="">
            <a:extLst xmlns:a="http://schemas.openxmlformats.org/drawingml/2006/main">
              <a:ext uri="{FF2B5EF4-FFF2-40B4-BE49-F238E27FC236}">
                <a16:creationId xmlns:a16="http://schemas.microsoft.com/office/drawing/2014/main" id="{20CD116B-80A0-4F4E-A1EF-1660E19C5A36}"/>
              </a:ext>
            </a:extLst>
          </p:cNvPr>
          <p:cNvSpPr>
            <a:spLocks xmlns:a="http://schemas.openxmlformats.org/drawingml/2006/main" noGrp="1"/>
          </p:cNvSpPr>
          <p:nvPr/>
        </p:nvSpPr>
        <p:spPr>
          <a:xfrm xmlns:a="http://schemas.openxmlformats.org/drawingml/2006/main">
            <a:off x="6324600" y="320992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9D8A"/>
                </a:solidFill>
              </a:defRPr>
            </a:defPPr>
            <a:lvl1pPr algn="l">
              <a:defRPr sz="1725" b="1">
                <a:solidFill>
                  <a:srgbClr val="0F9D8A"/>
                </a:solidFill>
              </a:defRPr>
            </a:lvl1pPr>
            <a:lvl2pPr algn="l">
              <a:defRPr sz="1725" b="1">
                <a:solidFill>
                  <a:srgbClr val="0F9D8A"/>
                </a:solidFill>
              </a:defRPr>
            </a:lvl2pPr>
            <a:lvl3pPr algn="l">
              <a:defRPr sz="1725" b="1">
                <a:solidFill>
                  <a:srgbClr val="0F9D8A"/>
                </a:solidFill>
              </a:defRPr>
            </a:lvl3pPr>
            <a:lvl4pPr algn="l">
              <a:defRPr sz="1725" b="1">
                <a:solidFill>
                  <a:srgbClr val="0F9D8A"/>
                </a:solidFill>
              </a:defRPr>
            </a:lvl4pPr>
            <a:lvl5pPr algn="l">
              <a:defRPr sz="1725" b="1">
                <a:solidFill>
                  <a:srgbClr val="0F9D8A"/>
                </a:solidFill>
              </a:defRPr>
            </a:lvl5pPr>
            <a:lvl6pPr algn="l">
              <a:defRPr sz="1725" b="1">
                <a:solidFill>
                  <a:srgbClr val="0F9D8A"/>
                </a:solidFill>
              </a:defRPr>
            </a:lvl6pPr>
            <a:lvl7pPr algn="l">
              <a:defRPr sz="1725" b="1">
                <a:solidFill>
                  <a:srgbClr val="0F9D8A"/>
                </a:solidFill>
              </a:defRPr>
            </a:lvl7pPr>
            <a:lvl8pPr algn="l">
              <a:defRPr sz="1725" b="1">
                <a:solidFill>
                  <a:srgbClr val="0F9D8A"/>
                </a:solidFill>
              </a:defRPr>
            </a:lvl8pPr>
            <a:lvl9pPr algn="l">
              <a:defRPr sz="1725" b="1">
                <a:solidFill>
                  <a:srgbClr val="0F9D8A"/>
                </a:solidFill>
              </a:defRPr>
            </a:lvl9pPr>
          </a:lstStyle>
          <a:p xmlns:a="http://schemas.openxmlformats.org/drawingml/2006/main">
            <a:pPr algn="l">
              <a:defRPr sz="1725" b="1">
                <a:solidFill>
                  <a:srgbClr val="0F9D8A"/>
                </a:solidFill>
              </a:defRPr>
            </a:pPr>
            <a:r>
              <a:rPr sz="1725" b="1">
                <a:solidFill>
                  <a:srgbClr val="0F9D8A"/>
                </a:solidFill>
              </a:rPr>
              <a:t>•</a:t>
            </a:r>
          </a:p>
        </p:txBody>
      </p:sp>
      <p:sp>
        <p:nvSpPr>
          <p:cNvPr id="18" name="">
            <a:extLst xmlns:a="http://schemas.openxmlformats.org/drawingml/2006/main">
              <a:ext uri="{FF2B5EF4-FFF2-40B4-BE49-F238E27FC236}">
                <a16:creationId xmlns:a16="http://schemas.microsoft.com/office/drawing/2014/main" id="{B3340A05-45DA-44EE-868B-3275A672B277}"/>
              </a:ext>
            </a:extLst>
          </p:cNvPr>
          <p:cNvSpPr>
            <a:spLocks xmlns:a="http://schemas.openxmlformats.org/drawingml/2006/main" noGrp="1"/>
          </p:cNvSpPr>
          <p:nvPr/>
        </p:nvSpPr>
        <p:spPr>
          <a:xfrm xmlns:a="http://schemas.openxmlformats.org/drawingml/2006/main">
            <a:off x="6648450" y="320992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203449"/>
                </a:solidFill>
              </a:defRPr>
            </a:defPPr>
            <a:lvl1pPr algn="l">
              <a:defRPr sz="1575" b="0">
                <a:solidFill>
                  <a:srgbClr val="203449"/>
                </a:solidFill>
              </a:defRPr>
            </a:lvl1pPr>
            <a:lvl2pPr algn="l">
              <a:defRPr sz="1575" b="0">
                <a:solidFill>
                  <a:srgbClr val="203449"/>
                </a:solidFill>
              </a:defRPr>
            </a:lvl2pPr>
            <a:lvl3pPr algn="l">
              <a:defRPr sz="1575" b="0">
                <a:solidFill>
                  <a:srgbClr val="203449"/>
                </a:solidFill>
              </a:defRPr>
            </a:lvl3pPr>
            <a:lvl4pPr algn="l">
              <a:defRPr sz="1575" b="0">
                <a:solidFill>
                  <a:srgbClr val="203449"/>
                </a:solidFill>
              </a:defRPr>
            </a:lvl4pPr>
            <a:lvl5pPr algn="l">
              <a:defRPr sz="1575" b="0">
                <a:solidFill>
                  <a:srgbClr val="203449"/>
                </a:solidFill>
              </a:defRPr>
            </a:lvl5pPr>
            <a:lvl6pPr algn="l">
              <a:defRPr sz="1575" b="0">
                <a:solidFill>
                  <a:srgbClr val="203449"/>
                </a:solidFill>
              </a:defRPr>
            </a:lvl6pPr>
            <a:lvl7pPr algn="l">
              <a:defRPr sz="1575" b="0">
                <a:solidFill>
                  <a:srgbClr val="203449"/>
                </a:solidFill>
              </a:defRPr>
            </a:lvl7pPr>
            <a:lvl8pPr algn="l">
              <a:defRPr sz="1575" b="0">
                <a:solidFill>
                  <a:srgbClr val="203449"/>
                </a:solidFill>
              </a:defRPr>
            </a:lvl8pPr>
            <a:lvl9pPr algn="l">
              <a:defRPr sz="1575" b="0">
                <a:solidFill>
                  <a:srgbClr val="203449"/>
                </a:solidFill>
              </a:defRPr>
            </a:lvl9pPr>
          </a:lstStyle>
          <a:p xmlns:a="http://schemas.openxmlformats.org/drawingml/2006/main">
            <a:pPr algn="l">
              <a:defRPr sz="1575" b="0">
                <a:solidFill>
                  <a:srgbClr val="203449"/>
                </a:solidFill>
              </a:defRPr>
            </a:pPr>
            <a:r>
              <a:rPr sz="1575" b="0">
                <a:solidFill>
                  <a:srgbClr val="203449"/>
                </a:solidFill>
              </a:rPr>
              <a:t>Compare with Stable-Baselines3 PPO or test the learned policy in a recognized simulator.</a:t>
            </a:r>
          </a:p>
        </p:txBody>
      </p:sp>
      <p:sp>
        <p:nvSpPr>
          <p:cNvPr id="19" name="">
            <a:extLst xmlns:a="http://schemas.openxmlformats.org/drawingml/2006/main">
              <a:ext uri="{FF2B5EF4-FFF2-40B4-BE49-F238E27FC236}">
                <a16:creationId xmlns:a16="http://schemas.microsoft.com/office/drawing/2014/main" id="{6CC557AF-3D5C-4BBE-9B8B-4F87C3EE41A3}"/>
              </a:ext>
            </a:extLst>
          </p:cNvPr>
          <p:cNvSpPr>
            <a:spLocks xmlns:a="http://schemas.openxmlformats.org/drawingml/2006/main" noGrp="1"/>
          </p:cNvSpPr>
          <p:nvPr/>
        </p:nvSpPr>
        <p:spPr>
          <a:xfrm xmlns:a="http://schemas.openxmlformats.org/drawingml/2006/main">
            <a:off x="6324600" y="3800475"/>
            <a:ext cx="2667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9D8A"/>
                </a:solidFill>
              </a:defRPr>
            </a:defPPr>
            <a:lvl1pPr algn="l">
              <a:defRPr sz="1725" b="1">
                <a:solidFill>
                  <a:srgbClr val="0F9D8A"/>
                </a:solidFill>
              </a:defRPr>
            </a:lvl1pPr>
            <a:lvl2pPr algn="l">
              <a:defRPr sz="1725" b="1">
                <a:solidFill>
                  <a:srgbClr val="0F9D8A"/>
                </a:solidFill>
              </a:defRPr>
            </a:lvl2pPr>
            <a:lvl3pPr algn="l">
              <a:defRPr sz="1725" b="1">
                <a:solidFill>
                  <a:srgbClr val="0F9D8A"/>
                </a:solidFill>
              </a:defRPr>
            </a:lvl3pPr>
            <a:lvl4pPr algn="l">
              <a:defRPr sz="1725" b="1">
                <a:solidFill>
                  <a:srgbClr val="0F9D8A"/>
                </a:solidFill>
              </a:defRPr>
            </a:lvl4pPr>
            <a:lvl5pPr algn="l">
              <a:defRPr sz="1725" b="1">
                <a:solidFill>
                  <a:srgbClr val="0F9D8A"/>
                </a:solidFill>
              </a:defRPr>
            </a:lvl5pPr>
            <a:lvl6pPr algn="l">
              <a:defRPr sz="1725" b="1">
                <a:solidFill>
                  <a:srgbClr val="0F9D8A"/>
                </a:solidFill>
              </a:defRPr>
            </a:lvl6pPr>
            <a:lvl7pPr algn="l">
              <a:defRPr sz="1725" b="1">
                <a:solidFill>
                  <a:srgbClr val="0F9D8A"/>
                </a:solidFill>
              </a:defRPr>
            </a:lvl7pPr>
            <a:lvl8pPr algn="l">
              <a:defRPr sz="1725" b="1">
                <a:solidFill>
                  <a:srgbClr val="0F9D8A"/>
                </a:solidFill>
              </a:defRPr>
            </a:lvl8pPr>
            <a:lvl9pPr algn="l">
              <a:defRPr sz="1725" b="1">
                <a:solidFill>
                  <a:srgbClr val="0F9D8A"/>
                </a:solidFill>
              </a:defRPr>
            </a:lvl9pPr>
          </a:lstStyle>
          <a:p xmlns:a="http://schemas.openxmlformats.org/drawingml/2006/main">
            <a:pPr algn="l">
              <a:defRPr sz="1725" b="1">
                <a:solidFill>
                  <a:srgbClr val="0F9D8A"/>
                </a:solidFill>
              </a:defRPr>
            </a:pPr>
            <a:r>
              <a:rPr sz="1725" b="1">
                <a:solidFill>
                  <a:srgbClr val="0F9D8A"/>
                </a:solidFill>
              </a:rPr>
              <a:t>•</a:t>
            </a:r>
          </a:p>
        </p:txBody>
      </p:sp>
      <p:sp>
        <p:nvSpPr>
          <p:cNvPr id="20" name="">
            <a:extLst xmlns:a="http://schemas.openxmlformats.org/drawingml/2006/main">
              <a:ext uri="{FF2B5EF4-FFF2-40B4-BE49-F238E27FC236}">
                <a16:creationId xmlns:a16="http://schemas.microsoft.com/office/drawing/2014/main" id="{78ED70AF-A897-426F-A5CB-30BD97119E8F}"/>
              </a:ext>
            </a:extLst>
          </p:cNvPr>
          <p:cNvSpPr>
            <a:spLocks xmlns:a="http://schemas.openxmlformats.org/drawingml/2006/main" noGrp="1"/>
          </p:cNvSpPr>
          <p:nvPr/>
        </p:nvSpPr>
        <p:spPr>
          <a:xfrm xmlns:a="http://schemas.openxmlformats.org/drawingml/2006/main">
            <a:off x="6648450" y="3800475"/>
            <a:ext cx="46291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203449"/>
                </a:solidFill>
              </a:defRPr>
            </a:defPPr>
            <a:lvl1pPr algn="l">
              <a:defRPr sz="1575" b="0">
                <a:solidFill>
                  <a:srgbClr val="203449"/>
                </a:solidFill>
              </a:defRPr>
            </a:lvl1pPr>
            <a:lvl2pPr algn="l">
              <a:defRPr sz="1575" b="0">
                <a:solidFill>
                  <a:srgbClr val="203449"/>
                </a:solidFill>
              </a:defRPr>
            </a:lvl2pPr>
            <a:lvl3pPr algn="l">
              <a:defRPr sz="1575" b="0">
                <a:solidFill>
                  <a:srgbClr val="203449"/>
                </a:solidFill>
              </a:defRPr>
            </a:lvl3pPr>
            <a:lvl4pPr algn="l">
              <a:defRPr sz="1575" b="0">
                <a:solidFill>
                  <a:srgbClr val="203449"/>
                </a:solidFill>
              </a:defRPr>
            </a:lvl4pPr>
            <a:lvl5pPr algn="l">
              <a:defRPr sz="1575" b="0">
                <a:solidFill>
                  <a:srgbClr val="203449"/>
                </a:solidFill>
              </a:defRPr>
            </a:lvl5pPr>
            <a:lvl6pPr algn="l">
              <a:defRPr sz="1575" b="0">
                <a:solidFill>
                  <a:srgbClr val="203449"/>
                </a:solidFill>
              </a:defRPr>
            </a:lvl6pPr>
            <a:lvl7pPr algn="l">
              <a:defRPr sz="1575" b="0">
                <a:solidFill>
                  <a:srgbClr val="203449"/>
                </a:solidFill>
              </a:defRPr>
            </a:lvl7pPr>
            <a:lvl8pPr algn="l">
              <a:defRPr sz="1575" b="0">
                <a:solidFill>
                  <a:srgbClr val="203449"/>
                </a:solidFill>
              </a:defRPr>
            </a:lvl8pPr>
            <a:lvl9pPr algn="l">
              <a:defRPr sz="1575" b="0">
                <a:solidFill>
                  <a:srgbClr val="203449"/>
                </a:solidFill>
              </a:defRPr>
            </a:lvl9pPr>
          </a:lstStyle>
          <a:p xmlns:a="http://schemas.openxmlformats.org/drawingml/2006/main">
            <a:pPr algn="l">
              <a:defRPr sz="1575" b="0">
                <a:solidFill>
                  <a:srgbClr val="203449"/>
                </a:solidFill>
              </a:defRPr>
            </a:pPr>
            <a:r>
              <a:rPr sz="1575" b="0">
                <a:solidFill>
                  <a:srgbClr val="203449"/>
                </a:solidFill>
              </a:rPr>
              <a:t>Validate in ns-3, Mininet, or a QUIC testbed before real-network claims.</a:t>
            </a:r>
          </a:p>
        </p:txBody>
      </p:sp>
    </p:spTree>
    <p:extLst>
      <p:ext uri="{BB962C8B-B14F-4D97-AF65-F5344CB8AC3E}">
        <p14:creationId xmlns:p14="http://schemas.microsoft.com/office/powerpoint/2010/main" val="759522995"/>
      </p:ext>
    </p:extLst>
  </p:cSld>
</p:sld>
</file>

<file path=ppt/slides/slide11.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C6F897A-ACC3-4DE1-A1BD-7C5D33541716}"/>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prstDash val="solid"/>
          </a:ln>
        </p:spPr>
      </p:sp>
      <p:sp>
        <p:nvSpPr>
          <p:cNvPr id="2" name="">
            <a:extLst xmlns:a="http://schemas.openxmlformats.org/drawingml/2006/main">
              <a:ext uri="{FF2B5EF4-FFF2-40B4-BE49-F238E27FC236}">
                <a16:creationId xmlns:a16="http://schemas.microsoft.com/office/drawing/2014/main" id="{813D0B1A-F4C0-4B94-8F5D-37FF293566CF}"/>
              </a:ext>
            </a:extLst>
          </p:cNvPr>
          <p:cNvSpPr>
            <a:spLocks xmlns:a="http://schemas.openxmlformats.org/drawingml/2006/main" noGrp="1"/>
          </p:cNvSpPr>
          <p:nvPr/>
        </p:nvSpPr>
        <p:spPr>
          <a:xfrm xmlns:a="http://schemas.openxmlformats.org/drawingml/2006/main">
            <a:off x="685800" y="3810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7324D"/>
                </a:solidFill>
              </a:defRPr>
            </a:defPPr>
            <a:lvl1pPr algn="l">
              <a:defRPr sz="3300" b="1">
                <a:solidFill>
                  <a:srgbClr val="17324D"/>
                </a:solidFill>
              </a:defRPr>
            </a:lvl1pPr>
            <a:lvl2pPr algn="l">
              <a:defRPr sz="3300" b="1">
                <a:solidFill>
                  <a:srgbClr val="17324D"/>
                </a:solidFill>
              </a:defRPr>
            </a:lvl2pPr>
            <a:lvl3pPr algn="l">
              <a:defRPr sz="3300" b="1">
                <a:solidFill>
                  <a:srgbClr val="17324D"/>
                </a:solidFill>
              </a:defRPr>
            </a:lvl3pPr>
            <a:lvl4pPr algn="l">
              <a:defRPr sz="3300" b="1">
                <a:solidFill>
                  <a:srgbClr val="17324D"/>
                </a:solidFill>
              </a:defRPr>
            </a:lvl4pPr>
            <a:lvl5pPr algn="l">
              <a:defRPr sz="3300" b="1">
                <a:solidFill>
                  <a:srgbClr val="17324D"/>
                </a:solidFill>
              </a:defRPr>
            </a:lvl5pPr>
            <a:lvl6pPr algn="l">
              <a:defRPr sz="3300" b="1">
                <a:solidFill>
                  <a:srgbClr val="17324D"/>
                </a:solidFill>
              </a:defRPr>
            </a:lvl6pPr>
            <a:lvl7pPr algn="l">
              <a:defRPr sz="3300" b="1">
                <a:solidFill>
                  <a:srgbClr val="17324D"/>
                </a:solidFill>
              </a:defRPr>
            </a:lvl7pPr>
            <a:lvl8pPr algn="l">
              <a:defRPr sz="3300" b="1">
                <a:solidFill>
                  <a:srgbClr val="17324D"/>
                </a:solidFill>
              </a:defRPr>
            </a:lvl8pPr>
            <a:lvl9pPr algn="l">
              <a:defRPr sz="3300" b="1">
                <a:solidFill>
                  <a:srgbClr val="17324D"/>
                </a:solidFill>
              </a:defRPr>
            </a:lvl9pPr>
          </a:lstStyle>
          <a:p xmlns:a="http://schemas.openxmlformats.org/drawingml/2006/main">
            <a:pPr algn="l">
              <a:defRPr sz="3300" b="1">
                <a:solidFill>
                  <a:srgbClr val="17324D"/>
                </a:solidFill>
              </a:defRPr>
            </a:pPr>
            <a:r>
              <a:rPr sz="3300" b="1">
                <a:solidFill>
                  <a:srgbClr val="17324D"/>
                </a:solidFill>
              </a:rPr>
              <a:t>Faculty references 1</a:t>
            </a:r>
          </a:p>
        </p:txBody>
      </p:sp>
      <p:sp>
        <p:nvSpPr>
          <p:cNvPr id="3" name="">
            <a:extLst xmlns:a="http://schemas.openxmlformats.org/drawingml/2006/main">
              <a:ext uri="{FF2B5EF4-FFF2-40B4-BE49-F238E27FC236}">
                <a16:creationId xmlns:a16="http://schemas.microsoft.com/office/drawing/2014/main" id="{0BD3A2A0-3049-480D-936C-4B4362A8E332}"/>
              </a:ext>
            </a:extLst>
          </p:cNvPr>
          <p:cNvSpPr>
            <a:spLocks xmlns:a="http://schemas.openxmlformats.org/drawingml/2006/main" noGrp="1"/>
          </p:cNvSpPr>
          <p:nvPr/>
        </p:nvSpPr>
        <p:spPr>
          <a:xfrm xmlns:a="http://schemas.openxmlformats.org/drawingml/2006/main">
            <a:off x="704850" y="10096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C6B7A"/>
                </a:solidFill>
              </a:defRPr>
            </a:defPPr>
            <a:lvl1pPr algn="l">
              <a:defRPr sz="1575" b="0">
                <a:solidFill>
                  <a:srgbClr val="5C6B7A"/>
                </a:solidFill>
              </a:defRPr>
            </a:lvl1pPr>
            <a:lvl2pPr algn="l">
              <a:defRPr sz="1575" b="0">
                <a:solidFill>
                  <a:srgbClr val="5C6B7A"/>
                </a:solidFill>
              </a:defRPr>
            </a:lvl2pPr>
            <a:lvl3pPr algn="l">
              <a:defRPr sz="1575" b="0">
                <a:solidFill>
                  <a:srgbClr val="5C6B7A"/>
                </a:solidFill>
              </a:defRPr>
            </a:lvl3pPr>
            <a:lvl4pPr algn="l">
              <a:defRPr sz="1575" b="0">
                <a:solidFill>
                  <a:srgbClr val="5C6B7A"/>
                </a:solidFill>
              </a:defRPr>
            </a:lvl4pPr>
            <a:lvl5pPr algn="l">
              <a:defRPr sz="1575" b="0">
                <a:solidFill>
                  <a:srgbClr val="5C6B7A"/>
                </a:solidFill>
              </a:defRPr>
            </a:lvl5pPr>
            <a:lvl6pPr algn="l">
              <a:defRPr sz="1575" b="0">
                <a:solidFill>
                  <a:srgbClr val="5C6B7A"/>
                </a:solidFill>
              </a:defRPr>
            </a:lvl6pPr>
            <a:lvl7pPr algn="l">
              <a:defRPr sz="1575" b="0">
                <a:solidFill>
                  <a:srgbClr val="5C6B7A"/>
                </a:solidFill>
              </a:defRPr>
            </a:lvl7pPr>
            <a:lvl8pPr algn="l">
              <a:defRPr sz="1575" b="0">
                <a:solidFill>
                  <a:srgbClr val="5C6B7A"/>
                </a:solidFill>
              </a:defRPr>
            </a:lvl8pPr>
            <a:lvl9pPr algn="l">
              <a:defRPr sz="1575" b="0">
                <a:solidFill>
                  <a:srgbClr val="5C6B7A"/>
                </a:solidFill>
              </a:defRPr>
            </a:lvl9pPr>
          </a:lstStyle>
          <a:p xmlns:a="http://schemas.openxmlformats.org/drawingml/2006/main">
            <a:pPr algn="l">
              <a:defRPr sz="1575" b="0">
                <a:solidFill>
                  <a:srgbClr val="5C6B7A"/>
                </a:solidFill>
              </a:defRPr>
            </a:pPr>
            <a:r>
              <a:rPr sz="1575" b="0">
                <a:solidFill>
                  <a:srgbClr val="5C6B7A"/>
                </a:solidFill>
              </a:rPr>
              <a:t>Publication details and DOI links are in the project report</a:t>
            </a:r>
          </a:p>
        </p:txBody>
      </p:sp>
      <p:sp>
        <p:nvSpPr>
          <p:cNvPr id="4" name="">
            <a:extLst xmlns:a="http://schemas.openxmlformats.org/drawingml/2006/main">
              <a:ext uri="{FF2B5EF4-FFF2-40B4-BE49-F238E27FC236}">
                <a16:creationId xmlns:a16="http://schemas.microsoft.com/office/drawing/2014/main" id="{EE3F8F29-8042-4C3A-BCFC-DF691F60BB97}"/>
              </a:ext>
            </a:extLst>
          </p:cNvPr>
          <p:cNvSpPr>
            <a:spLocks xmlns:a="http://schemas.openxmlformats.org/drawingml/2006/main" noGrp="1"/>
          </p:cNvSpPr>
          <p:nvPr/>
        </p:nvSpPr>
        <p:spPr>
          <a:xfrm xmlns:a="http://schemas.openxmlformats.org/drawingml/2006/main">
            <a:off x="762000" y="16002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324D"/>
                </a:solidFill>
              </a:defRPr>
            </a:defPPr>
            <a:lvl1pPr algn="l">
              <a:defRPr sz="1650" b="1">
                <a:solidFill>
                  <a:srgbClr val="17324D"/>
                </a:solidFill>
              </a:defRPr>
            </a:lvl1pPr>
            <a:lvl2pPr algn="l">
              <a:defRPr sz="1650" b="1">
                <a:solidFill>
                  <a:srgbClr val="17324D"/>
                </a:solidFill>
              </a:defRPr>
            </a:lvl2pPr>
            <a:lvl3pPr algn="l">
              <a:defRPr sz="1650" b="1">
                <a:solidFill>
                  <a:srgbClr val="17324D"/>
                </a:solidFill>
              </a:defRPr>
            </a:lvl3pPr>
            <a:lvl4pPr algn="l">
              <a:defRPr sz="1650" b="1">
                <a:solidFill>
                  <a:srgbClr val="17324D"/>
                </a:solidFill>
              </a:defRPr>
            </a:lvl4pPr>
            <a:lvl5pPr algn="l">
              <a:defRPr sz="1650" b="1">
                <a:solidFill>
                  <a:srgbClr val="17324D"/>
                </a:solidFill>
              </a:defRPr>
            </a:lvl5pPr>
            <a:lvl6pPr algn="l">
              <a:defRPr sz="1650" b="1">
                <a:solidFill>
                  <a:srgbClr val="17324D"/>
                </a:solidFill>
              </a:defRPr>
            </a:lvl6pPr>
            <a:lvl7pPr algn="l">
              <a:defRPr sz="1650" b="1">
                <a:solidFill>
                  <a:srgbClr val="17324D"/>
                </a:solidFill>
              </a:defRPr>
            </a:lvl7pPr>
            <a:lvl8pPr algn="l">
              <a:defRPr sz="1650" b="1">
                <a:solidFill>
                  <a:srgbClr val="17324D"/>
                </a:solidFill>
              </a:defRPr>
            </a:lvl8pPr>
            <a:lvl9pPr algn="l">
              <a:defRPr sz="1650" b="1">
                <a:solidFill>
                  <a:srgbClr val="17324D"/>
                </a:solidFill>
              </a:defRPr>
            </a:lvl9pPr>
          </a:lstStyle>
          <a:p xmlns:a="http://schemas.openxmlformats.org/drawingml/2006/main">
            <a:pPr algn="l">
              <a:defRPr sz="1650" b="1">
                <a:solidFill>
                  <a:srgbClr val="17324D"/>
                </a:solidFill>
              </a:defRPr>
            </a:pPr>
            <a:r>
              <a:rPr sz="1650" b="1">
                <a:solidFill>
                  <a:srgbClr val="17324D"/>
                </a:solidFill>
              </a:rPr>
              <a:t>1. DNCCQ-PPO: DRL congestion control for XQUIC</a:t>
            </a:r>
          </a:p>
        </p:txBody>
      </p:sp>
      <p:sp>
        <p:nvSpPr>
          <p:cNvPr id="5" name="">
            <a:extLst xmlns:a="http://schemas.openxmlformats.org/drawingml/2006/main">
              <a:ext uri="{FF2B5EF4-FFF2-40B4-BE49-F238E27FC236}">
                <a16:creationId xmlns:a16="http://schemas.microsoft.com/office/drawing/2014/main" id="{C72AB49C-CB67-4260-927E-24D430540504}"/>
              </a:ext>
            </a:extLst>
          </p:cNvPr>
          <p:cNvSpPr>
            <a:spLocks xmlns:a="http://schemas.openxmlformats.org/drawingml/2006/main" noGrp="1"/>
          </p:cNvSpPr>
          <p:nvPr/>
        </p:nvSpPr>
        <p:spPr>
          <a:xfrm xmlns:a="http://schemas.openxmlformats.org/drawingml/2006/main">
            <a:off x="1066800" y="1943100"/>
            <a:ext cx="1026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C6B7A"/>
                </a:solidFill>
              </a:defRPr>
            </a:defPPr>
            <a:lvl1pPr algn="l">
              <a:defRPr sz="1350" b="0">
                <a:solidFill>
                  <a:srgbClr val="5C6B7A"/>
                </a:solidFill>
              </a:defRPr>
            </a:lvl1pPr>
            <a:lvl2pPr algn="l">
              <a:defRPr sz="1350" b="0">
                <a:solidFill>
                  <a:srgbClr val="5C6B7A"/>
                </a:solidFill>
              </a:defRPr>
            </a:lvl2pPr>
            <a:lvl3pPr algn="l">
              <a:defRPr sz="1350" b="0">
                <a:solidFill>
                  <a:srgbClr val="5C6B7A"/>
                </a:solidFill>
              </a:defRPr>
            </a:lvl3pPr>
            <a:lvl4pPr algn="l">
              <a:defRPr sz="1350" b="0">
                <a:solidFill>
                  <a:srgbClr val="5C6B7A"/>
                </a:solidFill>
              </a:defRPr>
            </a:lvl4pPr>
            <a:lvl5pPr algn="l">
              <a:defRPr sz="1350" b="0">
                <a:solidFill>
                  <a:srgbClr val="5C6B7A"/>
                </a:solidFill>
              </a:defRPr>
            </a:lvl5pPr>
            <a:lvl6pPr algn="l">
              <a:defRPr sz="1350" b="0">
                <a:solidFill>
                  <a:srgbClr val="5C6B7A"/>
                </a:solidFill>
              </a:defRPr>
            </a:lvl6pPr>
            <a:lvl7pPr algn="l">
              <a:defRPr sz="1350" b="0">
                <a:solidFill>
                  <a:srgbClr val="5C6B7A"/>
                </a:solidFill>
              </a:defRPr>
            </a:lvl7pPr>
            <a:lvl8pPr algn="l">
              <a:defRPr sz="1350" b="0">
                <a:solidFill>
                  <a:srgbClr val="5C6B7A"/>
                </a:solidFill>
              </a:defRPr>
            </a:lvl8pPr>
            <a:lvl9pPr algn="l">
              <a:defRPr sz="1350" b="0">
                <a:solidFill>
                  <a:srgbClr val="5C6B7A"/>
                </a:solidFill>
              </a:defRPr>
            </a:lvl9pPr>
          </a:lstStyle>
          <a:p xmlns:a="http://schemas.openxmlformats.org/drawingml/2006/main">
            <a:pPr algn="l">
              <a:defRPr sz="1350" b="0">
                <a:solidFill>
                  <a:srgbClr val="5C6B7A"/>
                </a:solidFill>
              </a:defRPr>
            </a:pPr>
            <a:r>
              <a:rPr sz="1350" b="0">
                <a:solidFill>
                  <a:srgbClr val="5C6B7A"/>
                </a:solidFill>
              </a:rPr>
              <a:t>Journal of Network and Computer Applications 245 (2026), 104371  ·  DOI 10.1016/j.jnca.2025.104371</a:t>
            </a:r>
          </a:p>
        </p:txBody>
      </p:sp>
      <p:sp>
        <p:nvSpPr>
          <p:cNvPr id="6" name="">
            <a:extLst xmlns:a="http://schemas.openxmlformats.org/drawingml/2006/main">
              <a:ext uri="{FF2B5EF4-FFF2-40B4-BE49-F238E27FC236}">
                <a16:creationId xmlns:a16="http://schemas.microsoft.com/office/drawing/2014/main" id="{D5717EF8-63CB-48F5-94A0-3EDD8FAA2A82}"/>
              </a:ext>
            </a:extLst>
          </p:cNvPr>
          <p:cNvSpPr>
            <a:spLocks xmlns:a="http://schemas.openxmlformats.org/drawingml/2006/main" noGrp="1"/>
          </p:cNvSpPr>
          <p:nvPr/>
        </p:nvSpPr>
        <p:spPr>
          <a:xfrm xmlns:a="http://schemas.openxmlformats.org/drawingml/2006/main">
            <a:off x="762000" y="246697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324D"/>
                </a:solidFill>
              </a:defRPr>
            </a:defPPr>
            <a:lvl1pPr algn="l">
              <a:defRPr sz="1650" b="1">
                <a:solidFill>
                  <a:srgbClr val="17324D"/>
                </a:solidFill>
              </a:defRPr>
            </a:lvl1pPr>
            <a:lvl2pPr algn="l">
              <a:defRPr sz="1650" b="1">
                <a:solidFill>
                  <a:srgbClr val="17324D"/>
                </a:solidFill>
              </a:defRPr>
            </a:lvl2pPr>
            <a:lvl3pPr algn="l">
              <a:defRPr sz="1650" b="1">
                <a:solidFill>
                  <a:srgbClr val="17324D"/>
                </a:solidFill>
              </a:defRPr>
            </a:lvl3pPr>
            <a:lvl4pPr algn="l">
              <a:defRPr sz="1650" b="1">
                <a:solidFill>
                  <a:srgbClr val="17324D"/>
                </a:solidFill>
              </a:defRPr>
            </a:lvl4pPr>
            <a:lvl5pPr algn="l">
              <a:defRPr sz="1650" b="1">
                <a:solidFill>
                  <a:srgbClr val="17324D"/>
                </a:solidFill>
              </a:defRPr>
            </a:lvl5pPr>
            <a:lvl6pPr algn="l">
              <a:defRPr sz="1650" b="1">
                <a:solidFill>
                  <a:srgbClr val="17324D"/>
                </a:solidFill>
              </a:defRPr>
            </a:lvl6pPr>
            <a:lvl7pPr algn="l">
              <a:defRPr sz="1650" b="1">
                <a:solidFill>
                  <a:srgbClr val="17324D"/>
                </a:solidFill>
              </a:defRPr>
            </a:lvl7pPr>
            <a:lvl8pPr algn="l">
              <a:defRPr sz="1650" b="1">
                <a:solidFill>
                  <a:srgbClr val="17324D"/>
                </a:solidFill>
              </a:defRPr>
            </a:lvl8pPr>
            <a:lvl9pPr algn="l">
              <a:defRPr sz="1650" b="1">
                <a:solidFill>
                  <a:srgbClr val="17324D"/>
                </a:solidFill>
              </a:defRPr>
            </a:lvl9pPr>
          </a:lstStyle>
          <a:p xmlns:a="http://schemas.openxmlformats.org/drawingml/2006/main">
            <a:pPr algn="l">
              <a:defRPr sz="1650" b="1">
                <a:solidFill>
                  <a:srgbClr val="17324D"/>
                </a:solidFill>
              </a:defRPr>
            </a:pPr>
            <a:r>
              <a:rPr sz="1650" b="1">
                <a:solidFill>
                  <a:srgbClr val="17324D"/>
                </a:solidFill>
              </a:rPr>
              <a:t>2. Congestion control algorithm-aware queue management</a:t>
            </a:r>
          </a:p>
        </p:txBody>
      </p:sp>
      <p:sp>
        <p:nvSpPr>
          <p:cNvPr id="7" name="">
            <a:extLst xmlns:a="http://schemas.openxmlformats.org/drawingml/2006/main">
              <a:ext uri="{FF2B5EF4-FFF2-40B4-BE49-F238E27FC236}">
                <a16:creationId xmlns:a16="http://schemas.microsoft.com/office/drawing/2014/main" id="{ABC99F15-17EE-4E42-86C1-E6DA75583F56}"/>
              </a:ext>
            </a:extLst>
          </p:cNvPr>
          <p:cNvSpPr>
            <a:spLocks xmlns:a="http://schemas.openxmlformats.org/drawingml/2006/main" noGrp="1"/>
          </p:cNvSpPr>
          <p:nvPr/>
        </p:nvSpPr>
        <p:spPr>
          <a:xfrm xmlns:a="http://schemas.openxmlformats.org/drawingml/2006/main">
            <a:off x="1066800" y="2809875"/>
            <a:ext cx="1026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C6B7A"/>
                </a:solidFill>
              </a:defRPr>
            </a:defPPr>
            <a:lvl1pPr algn="l">
              <a:defRPr sz="1350" b="0">
                <a:solidFill>
                  <a:srgbClr val="5C6B7A"/>
                </a:solidFill>
              </a:defRPr>
            </a:lvl1pPr>
            <a:lvl2pPr algn="l">
              <a:defRPr sz="1350" b="0">
                <a:solidFill>
                  <a:srgbClr val="5C6B7A"/>
                </a:solidFill>
              </a:defRPr>
            </a:lvl2pPr>
            <a:lvl3pPr algn="l">
              <a:defRPr sz="1350" b="0">
                <a:solidFill>
                  <a:srgbClr val="5C6B7A"/>
                </a:solidFill>
              </a:defRPr>
            </a:lvl3pPr>
            <a:lvl4pPr algn="l">
              <a:defRPr sz="1350" b="0">
                <a:solidFill>
                  <a:srgbClr val="5C6B7A"/>
                </a:solidFill>
              </a:defRPr>
            </a:lvl4pPr>
            <a:lvl5pPr algn="l">
              <a:defRPr sz="1350" b="0">
                <a:solidFill>
                  <a:srgbClr val="5C6B7A"/>
                </a:solidFill>
              </a:defRPr>
            </a:lvl5pPr>
            <a:lvl6pPr algn="l">
              <a:defRPr sz="1350" b="0">
                <a:solidFill>
                  <a:srgbClr val="5C6B7A"/>
                </a:solidFill>
              </a:defRPr>
            </a:lvl6pPr>
            <a:lvl7pPr algn="l">
              <a:defRPr sz="1350" b="0">
                <a:solidFill>
                  <a:srgbClr val="5C6B7A"/>
                </a:solidFill>
              </a:defRPr>
            </a:lvl7pPr>
            <a:lvl8pPr algn="l">
              <a:defRPr sz="1350" b="0">
                <a:solidFill>
                  <a:srgbClr val="5C6B7A"/>
                </a:solidFill>
              </a:defRPr>
            </a:lvl8pPr>
            <a:lvl9pPr algn="l">
              <a:defRPr sz="1350" b="0">
                <a:solidFill>
                  <a:srgbClr val="5C6B7A"/>
                </a:solidFill>
              </a:defRPr>
            </a:lvl9pPr>
          </a:lstStyle>
          <a:p xmlns:a="http://schemas.openxmlformats.org/drawingml/2006/main">
            <a:pPr algn="l">
              <a:defRPr sz="1350" b="0">
                <a:solidFill>
                  <a:srgbClr val="5C6B7A"/>
                </a:solidFill>
              </a:defRPr>
            </a:pPr>
            <a:r>
              <a:rPr sz="1350" b="0">
                <a:solidFill>
                  <a:srgbClr val="5C6B7A"/>
                </a:solidFill>
              </a:rPr>
              <a:t>Computer Networks 276 (2026), 111975  ·  DOI 10.1016/j.comnet.2025.111975</a:t>
            </a:r>
          </a:p>
        </p:txBody>
      </p:sp>
      <p:sp>
        <p:nvSpPr>
          <p:cNvPr id="8" name="">
            <a:extLst xmlns:a="http://schemas.openxmlformats.org/drawingml/2006/main">
              <a:ext uri="{FF2B5EF4-FFF2-40B4-BE49-F238E27FC236}">
                <a16:creationId xmlns:a16="http://schemas.microsoft.com/office/drawing/2014/main" id="{82BD709C-9825-49A8-A816-A8CB058BD650}"/>
              </a:ext>
            </a:extLst>
          </p:cNvPr>
          <p:cNvSpPr>
            <a:spLocks xmlns:a="http://schemas.openxmlformats.org/drawingml/2006/main" noGrp="1"/>
          </p:cNvSpPr>
          <p:nvPr/>
        </p:nvSpPr>
        <p:spPr>
          <a:xfrm xmlns:a="http://schemas.openxmlformats.org/drawingml/2006/main">
            <a:off x="762000" y="33337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324D"/>
                </a:solidFill>
              </a:defRPr>
            </a:defPPr>
            <a:lvl1pPr algn="l">
              <a:defRPr sz="1650" b="1">
                <a:solidFill>
                  <a:srgbClr val="17324D"/>
                </a:solidFill>
              </a:defRPr>
            </a:lvl1pPr>
            <a:lvl2pPr algn="l">
              <a:defRPr sz="1650" b="1">
                <a:solidFill>
                  <a:srgbClr val="17324D"/>
                </a:solidFill>
              </a:defRPr>
            </a:lvl2pPr>
            <a:lvl3pPr algn="l">
              <a:defRPr sz="1650" b="1">
                <a:solidFill>
                  <a:srgbClr val="17324D"/>
                </a:solidFill>
              </a:defRPr>
            </a:lvl3pPr>
            <a:lvl4pPr algn="l">
              <a:defRPr sz="1650" b="1">
                <a:solidFill>
                  <a:srgbClr val="17324D"/>
                </a:solidFill>
              </a:defRPr>
            </a:lvl4pPr>
            <a:lvl5pPr algn="l">
              <a:defRPr sz="1650" b="1">
                <a:solidFill>
                  <a:srgbClr val="17324D"/>
                </a:solidFill>
              </a:defRPr>
            </a:lvl5pPr>
            <a:lvl6pPr algn="l">
              <a:defRPr sz="1650" b="1">
                <a:solidFill>
                  <a:srgbClr val="17324D"/>
                </a:solidFill>
              </a:defRPr>
            </a:lvl6pPr>
            <a:lvl7pPr algn="l">
              <a:defRPr sz="1650" b="1">
                <a:solidFill>
                  <a:srgbClr val="17324D"/>
                </a:solidFill>
              </a:defRPr>
            </a:lvl7pPr>
            <a:lvl8pPr algn="l">
              <a:defRPr sz="1650" b="1">
                <a:solidFill>
                  <a:srgbClr val="17324D"/>
                </a:solidFill>
              </a:defRPr>
            </a:lvl8pPr>
            <a:lvl9pPr algn="l">
              <a:defRPr sz="1650" b="1">
                <a:solidFill>
                  <a:srgbClr val="17324D"/>
                </a:solidFill>
              </a:defRPr>
            </a:lvl9pPr>
          </a:lstStyle>
          <a:p xmlns:a="http://schemas.openxmlformats.org/drawingml/2006/main">
            <a:pPr algn="l">
              <a:defRPr sz="1650" b="1">
                <a:solidFill>
                  <a:srgbClr val="17324D"/>
                </a:solidFill>
              </a:defRPr>
            </a:pPr>
            <a:r>
              <a:rPr sz="1650" b="1">
                <a:solidFill>
                  <a:srgbClr val="17324D"/>
                </a:solidFill>
              </a:rPr>
              <a:t>3. Active queue management based on fuzzy logic and reinforcement learning</a:t>
            </a:r>
          </a:p>
        </p:txBody>
      </p:sp>
      <p:sp>
        <p:nvSpPr>
          <p:cNvPr id="9" name="">
            <a:extLst xmlns:a="http://schemas.openxmlformats.org/drawingml/2006/main">
              <a:ext uri="{FF2B5EF4-FFF2-40B4-BE49-F238E27FC236}">
                <a16:creationId xmlns:a16="http://schemas.microsoft.com/office/drawing/2014/main" id="{077384A5-2F8E-445A-9EC6-BCEA0D1808FC}"/>
              </a:ext>
            </a:extLst>
          </p:cNvPr>
          <p:cNvSpPr>
            <a:spLocks xmlns:a="http://schemas.openxmlformats.org/drawingml/2006/main" noGrp="1"/>
          </p:cNvSpPr>
          <p:nvPr/>
        </p:nvSpPr>
        <p:spPr>
          <a:xfrm xmlns:a="http://schemas.openxmlformats.org/drawingml/2006/main">
            <a:off x="1066800" y="3676650"/>
            <a:ext cx="1026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C6B7A"/>
                </a:solidFill>
              </a:defRPr>
            </a:defPPr>
            <a:lvl1pPr algn="l">
              <a:defRPr sz="1350" b="0">
                <a:solidFill>
                  <a:srgbClr val="5C6B7A"/>
                </a:solidFill>
              </a:defRPr>
            </a:lvl1pPr>
            <a:lvl2pPr algn="l">
              <a:defRPr sz="1350" b="0">
                <a:solidFill>
                  <a:srgbClr val="5C6B7A"/>
                </a:solidFill>
              </a:defRPr>
            </a:lvl2pPr>
            <a:lvl3pPr algn="l">
              <a:defRPr sz="1350" b="0">
                <a:solidFill>
                  <a:srgbClr val="5C6B7A"/>
                </a:solidFill>
              </a:defRPr>
            </a:lvl3pPr>
            <a:lvl4pPr algn="l">
              <a:defRPr sz="1350" b="0">
                <a:solidFill>
                  <a:srgbClr val="5C6B7A"/>
                </a:solidFill>
              </a:defRPr>
            </a:lvl4pPr>
            <a:lvl5pPr algn="l">
              <a:defRPr sz="1350" b="0">
                <a:solidFill>
                  <a:srgbClr val="5C6B7A"/>
                </a:solidFill>
              </a:defRPr>
            </a:lvl5pPr>
            <a:lvl6pPr algn="l">
              <a:defRPr sz="1350" b="0">
                <a:solidFill>
                  <a:srgbClr val="5C6B7A"/>
                </a:solidFill>
              </a:defRPr>
            </a:lvl6pPr>
            <a:lvl7pPr algn="l">
              <a:defRPr sz="1350" b="0">
                <a:solidFill>
                  <a:srgbClr val="5C6B7A"/>
                </a:solidFill>
              </a:defRPr>
            </a:lvl7pPr>
            <a:lvl8pPr algn="l">
              <a:defRPr sz="1350" b="0">
                <a:solidFill>
                  <a:srgbClr val="5C6B7A"/>
                </a:solidFill>
              </a:defRPr>
            </a:lvl8pPr>
            <a:lvl9pPr algn="l">
              <a:defRPr sz="1350" b="0">
                <a:solidFill>
                  <a:srgbClr val="5C6B7A"/>
                </a:solidFill>
              </a:defRPr>
            </a:lvl9pPr>
          </a:lstStyle>
          <a:p xmlns:a="http://schemas.openxmlformats.org/drawingml/2006/main">
            <a:pPr algn="l">
              <a:defRPr sz="1350" b="0">
                <a:solidFill>
                  <a:srgbClr val="5C6B7A"/>
                </a:solidFill>
              </a:defRPr>
            </a:pPr>
            <a:r>
              <a:rPr sz="1350" b="0">
                <a:solidFill>
                  <a:srgbClr val="5C6B7A"/>
                </a:solidFill>
              </a:rPr>
              <a:t>Computer Networks 282 (2026), 112272  ·  DOI 10.1016/j.comnet.2026.112272</a:t>
            </a:r>
          </a:p>
        </p:txBody>
      </p:sp>
      <p:sp>
        <p:nvSpPr>
          <p:cNvPr id="10" name="">
            <a:extLst xmlns:a="http://schemas.openxmlformats.org/drawingml/2006/main">
              <a:ext uri="{FF2B5EF4-FFF2-40B4-BE49-F238E27FC236}">
                <a16:creationId xmlns:a16="http://schemas.microsoft.com/office/drawing/2014/main" id="{DC2B3C8D-7BE8-464D-A644-C1E9BF04ECBC}"/>
              </a:ext>
            </a:extLst>
          </p:cNvPr>
          <p:cNvSpPr>
            <a:spLocks xmlns:a="http://schemas.openxmlformats.org/drawingml/2006/main" noGrp="1"/>
          </p:cNvSpPr>
          <p:nvPr/>
        </p:nvSpPr>
        <p:spPr>
          <a:xfrm xmlns:a="http://schemas.openxmlformats.org/drawingml/2006/main">
            <a:off x="762000" y="42005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324D"/>
                </a:solidFill>
              </a:defRPr>
            </a:defPPr>
            <a:lvl1pPr algn="l">
              <a:defRPr sz="1650" b="1">
                <a:solidFill>
                  <a:srgbClr val="17324D"/>
                </a:solidFill>
              </a:defRPr>
            </a:lvl1pPr>
            <a:lvl2pPr algn="l">
              <a:defRPr sz="1650" b="1">
                <a:solidFill>
                  <a:srgbClr val="17324D"/>
                </a:solidFill>
              </a:defRPr>
            </a:lvl2pPr>
            <a:lvl3pPr algn="l">
              <a:defRPr sz="1650" b="1">
                <a:solidFill>
                  <a:srgbClr val="17324D"/>
                </a:solidFill>
              </a:defRPr>
            </a:lvl3pPr>
            <a:lvl4pPr algn="l">
              <a:defRPr sz="1650" b="1">
                <a:solidFill>
                  <a:srgbClr val="17324D"/>
                </a:solidFill>
              </a:defRPr>
            </a:lvl4pPr>
            <a:lvl5pPr algn="l">
              <a:defRPr sz="1650" b="1">
                <a:solidFill>
                  <a:srgbClr val="17324D"/>
                </a:solidFill>
              </a:defRPr>
            </a:lvl5pPr>
            <a:lvl6pPr algn="l">
              <a:defRPr sz="1650" b="1">
                <a:solidFill>
                  <a:srgbClr val="17324D"/>
                </a:solidFill>
              </a:defRPr>
            </a:lvl6pPr>
            <a:lvl7pPr algn="l">
              <a:defRPr sz="1650" b="1">
                <a:solidFill>
                  <a:srgbClr val="17324D"/>
                </a:solidFill>
              </a:defRPr>
            </a:lvl7pPr>
            <a:lvl8pPr algn="l">
              <a:defRPr sz="1650" b="1">
                <a:solidFill>
                  <a:srgbClr val="17324D"/>
                </a:solidFill>
              </a:defRPr>
            </a:lvl8pPr>
            <a:lvl9pPr algn="l">
              <a:defRPr sz="1650" b="1">
                <a:solidFill>
                  <a:srgbClr val="17324D"/>
                </a:solidFill>
              </a:defRPr>
            </a:lvl9pPr>
          </a:lstStyle>
          <a:p xmlns:a="http://schemas.openxmlformats.org/drawingml/2006/main">
            <a:pPr algn="l">
              <a:defRPr sz="1650" b="1">
                <a:solidFill>
                  <a:srgbClr val="17324D"/>
                </a:solidFill>
              </a:defRPr>
            </a:pPr>
            <a:r>
              <a:rPr sz="1650" b="1">
                <a:solidFill>
                  <a:srgbClr val="17324D"/>
                </a:solidFill>
              </a:rPr>
              <a:t>4. ML approaches for AQM: survey, taxonomy, and future directions</a:t>
            </a:r>
          </a:p>
        </p:txBody>
      </p:sp>
      <p:sp>
        <p:nvSpPr>
          <p:cNvPr id="11" name="">
            <a:extLst xmlns:a="http://schemas.openxmlformats.org/drawingml/2006/main">
              <a:ext uri="{FF2B5EF4-FFF2-40B4-BE49-F238E27FC236}">
                <a16:creationId xmlns:a16="http://schemas.microsoft.com/office/drawing/2014/main" id="{5A2CD9F8-7EEF-4586-A0DA-0107E6239DD4}"/>
              </a:ext>
            </a:extLst>
          </p:cNvPr>
          <p:cNvSpPr>
            <a:spLocks xmlns:a="http://schemas.openxmlformats.org/drawingml/2006/main" noGrp="1"/>
          </p:cNvSpPr>
          <p:nvPr/>
        </p:nvSpPr>
        <p:spPr>
          <a:xfrm xmlns:a="http://schemas.openxmlformats.org/drawingml/2006/main">
            <a:off x="1066800" y="4543425"/>
            <a:ext cx="1026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C6B7A"/>
                </a:solidFill>
              </a:defRPr>
            </a:defPPr>
            <a:lvl1pPr algn="l">
              <a:defRPr sz="1350" b="0">
                <a:solidFill>
                  <a:srgbClr val="5C6B7A"/>
                </a:solidFill>
              </a:defRPr>
            </a:lvl1pPr>
            <a:lvl2pPr algn="l">
              <a:defRPr sz="1350" b="0">
                <a:solidFill>
                  <a:srgbClr val="5C6B7A"/>
                </a:solidFill>
              </a:defRPr>
            </a:lvl2pPr>
            <a:lvl3pPr algn="l">
              <a:defRPr sz="1350" b="0">
                <a:solidFill>
                  <a:srgbClr val="5C6B7A"/>
                </a:solidFill>
              </a:defRPr>
            </a:lvl3pPr>
            <a:lvl4pPr algn="l">
              <a:defRPr sz="1350" b="0">
                <a:solidFill>
                  <a:srgbClr val="5C6B7A"/>
                </a:solidFill>
              </a:defRPr>
            </a:lvl4pPr>
            <a:lvl5pPr algn="l">
              <a:defRPr sz="1350" b="0">
                <a:solidFill>
                  <a:srgbClr val="5C6B7A"/>
                </a:solidFill>
              </a:defRPr>
            </a:lvl5pPr>
            <a:lvl6pPr algn="l">
              <a:defRPr sz="1350" b="0">
                <a:solidFill>
                  <a:srgbClr val="5C6B7A"/>
                </a:solidFill>
              </a:defRPr>
            </a:lvl6pPr>
            <a:lvl7pPr algn="l">
              <a:defRPr sz="1350" b="0">
                <a:solidFill>
                  <a:srgbClr val="5C6B7A"/>
                </a:solidFill>
              </a:defRPr>
            </a:lvl7pPr>
            <a:lvl8pPr algn="l">
              <a:defRPr sz="1350" b="0">
                <a:solidFill>
                  <a:srgbClr val="5C6B7A"/>
                </a:solidFill>
              </a:defRPr>
            </a:lvl8pPr>
            <a:lvl9pPr algn="l">
              <a:defRPr sz="1350" b="0">
                <a:solidFill>
                  <a:srgbClr val="5C6B7A"/>
                </a:solidFill>
              </a:defRPr>
            </a:lvl9pPr>
          </a:lstStyle>
          <a:p xmlns:a="http://schemas.openxmlformats.org/drawingml/2006/main">
            <a:pPr algn="l">
              <a:defRPr sz="1350" b="0">
                <a:solidFill>
                  <a:srgbClr val="5C6B7A"/>
                </a:solidFill>
              </a:defRPr>
            </a:pPr>
            <a:r>
              <a:rPr sz="1350" b="0">
                <a:solidFill>
                  <a:srgbClr val="5C6B7A"/>
                </a:solidFill>
              </a:rPr>
              <a:t>Computer Networks 262 (2025), 111174  ·  DOI 10.1016/j.comnet.2025.111174</a:t>
            </a:r>
          </a:p>
        </p:txBody>
      </p:sp>
      <p:sp>
        <p:nvSpPr>
          <p:cNvPr id="12" name="">
            <a:extLst xmlns:a="http://schemas.openxmlformats.org/drawingml/2006/main">
              <a:ext uri="{FF2B5EF4-FFF2-40B4-BE49-F238E27FC236}">
                <a16:creationId xmlns:a16="http://schemas.microsoft.com/office/drawing/2014/main" id="{209C25D0-E236-4D6F-9594-4BBBDCEFC49D}"/>
              </a:ext>
            </a:extLst>
          </p:cNvPr>
          <p:cNvSpPr>
            <a:spLocks xmlns:a="http://schemas.openxmlformats.org/drawingml/2006/main" noGrp="1"/>
          </p:cNvSpPr>
          <p:nvPr/>
        </p:nvSpPr>
        <p:spPr>
          <a:xfrm xmlns:a="http://schemas.openxmlformats.org/drawingml/2006/main">
            <a:off x="762000" y="50673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324D"/>
                </a:solidFill>
              </a:defRPr>
            </a:defPPr>
            <a:lvl1pPr algn="l">
              <a:defRPr sz="1650" b="1">
                <a:solidFill>
                  <a:srgbClr val="17324D"/>
                </a:solidFill>
              </a:defRPr>
            </a:lvl1pPr>
            <a:lvl2pPr algn="l">
              <a:defRPr sz="1650" b="1">
                <a:solidFill>
                  <a:srgbClr val="17324D"/>
                </a:solidFill>
              </a:defRPr>
            </a:lvl2pPr>
            <a:lvl3pPr algn="l">
              <a:defRPr sz="1650" b="1">
                <a:solidFill>
                  <a:srgbClr val="17324D"/>
                </a:solidFill>
              </a:defRPr>
            </a:lvl3pPr>
            <a:lvl4pPr algn="l">
              <a:defRPr sz="1650" b="1">
                <a:solidFill>
                  <a:srgbClr val="17324D"/>
                </a:solidFill>
              </a:defRPr>
            </a:lvl4pPr>
            <a:lvl5pPr algn="l">
              <a:defRPr sz="1650" b="1">
                <a:solidFill>
                  <a:srgbClr val="17324D"/>
                </a:solidFill>
              </a:defRPr>
            </a:lvl5pPr>
            <a:lvl6pPr algn="l">
              <a:defRPr sz="1650" b="1">
                <a:solidFill>
                  <a:srgbClr val="17324D"/>
                </a:solidFill>
              </a:defRPr>
            </a:lvl6pPr>
            <a:lvl7pPr algn="l">
              <a:defRPr sz="1650" b="1">
                <a:solidFill>
                  <a:srgbClr val="17324D"/>
                </a:solidFill>
              </a:defRPr>
            </a:lvl7pPr>
            <a:lvl8pPr algn="l">
              <a:defRPr sz="1650" b="1">
                <a:solidFill>
                  <a:srgbClr val="17324D"/>
                </a:solidFill>
              </a:defRPr>
            </a:lvl8pPr>
            <a:lvl9pPr algn="l">
              <a:defRPr sz="1650" b="1">
                <a:solidFill>
                  <a:srgbClr val="17324D"/>
                </a:solidFill>
              </a:defRPr>
            </a:lvl9pPr>
          </a:lstStyle>
          <a:p xmlns:a="http://schemas.openxmlformats.org/drawingml/2006/main">
            <a:pPr algn="l">
              <a:defRPr sz="1650" b="1">
                <a:solidFill>
                  <a:srgbClr val="17324D"/>
                </a:solidFill>
              </a:defRPr>
            </a:pPr>
            <a:r>
              <a:rPr sz="1650" b="1">
                <a:solidFill>
                  <a:srgbClr val="17324D"/>
                </a:solidFill>
              </a:rPr>
              <a:t>5. PRISM: PPO scheduling in multipath QUIC</a:t>
            </a:r>
          </a:p>
        </p:txBody>
      </p:sp>
      <p:sp>
        <p:nvSpPr>
          <p:cNvPr id="13" name="">
            <a:extLst xmlns:a="http://schemas.openxmlformats.org/drawingml/2006/main">
              <a:ext uri="{FF2B5EF4-FFF2-40B4-BE49-F238E27FC236}">
                <a16:creationId xmlns:a16="http://schemas.microsoft.com/office/drawing/2014/main" id="{5385B4E0-7A97-40AD-B666-0EEBBFB6E49F}"/>
              </a:ext>
            </a:extLst>
          </p:cNvPr>
          <p:cNvSpPr>
            <a:spLocks xmlns:a="http://schemas.openxmlformats.org/drawingml/2006/main" noGrp="1"/>
          </p:cNvSpPr>
          <p:nvPr/>
        </p:nvSpPr>
        <p:spPr>
          <a:xfrm xmlns:a="http://schemas.openxmlformats.org/drawingml/2006/main">
            <a:off x="1066800" y="5410200"/>
            <a:ext cx="1026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C6B7A"/>
                </a:solidFill>
              </a:defRPr>
            </a:defPPr>
            <a:lvl1pPr algn="l">
              <a:defRPr sz="1350" b="0">
                <a:solidFill>
                  <a:srgbClr val="5C6B7A"/>
                </a:solidFill>
              </a:defRPr>
            </a:lvl1pPr>
            <a:lvl2pPr algn="l">
              <a:defRPr sz="1350" b="0">
                <a:solidFill>
                  <a:srgbClr val="5C6B7A"/>
                </a:solidFill>
              </a:defRPr>
            </a:lvl2pPr>
            <a:lvl3pPr algn="l">
              <a:defRPr sz="1350" b="0">
                <a:solidFill>
                  <a:srgbClr val="5C6B7A"/>
                </a:solidFill>
              </a:defRPr>
            </a:lvl3pPr>
            <a:lvl4pPr algn="l">
              <a:defRPr sz="1350" b="0">
                <a:solidFill>
                  <a:srgbClr val="5C6B7A"/>
                </a:solidFill>
              </a:defRPr>
            </a:lvl4pPr>
            <a:lvl5pPr algn="l">
              <a:defRPr sz="1350" b="0">
                <a:solidFill>
                  <a:srgbClr val="5C6B7A"/>
                </a:solidFill>
              </a:defRPr>
            </a:lvl5pPr>
            <a:lvl6pPr algn="l">
              <a:defRPr sz="1350" b="0">
                <a:solidFill>
                  <a:srgbClr val="5C6B7A"/>
                </a:solidFill>
              </a:defRPr>
            </a:lvl6pPr>
            <a:lvl7pPr algn="l">
              <a:defRPr sz="1350" b="0">
                <a:solidFill>
                  <a:srgbClr val="5C6B7A"/>
                </a:solidFill>
              </a:defRPr>
            </a:lvl7pPr>
            <a:lvl8pPr algn="l">
              <a:defRPr sz="1350" b="0">
                <a:solidFill>
                  <a:srgbClr val="5C6B7A"/>
                </a:solidFill>
              </a:defRPr>
            </a:lvl8pPr>
            <a:lvl9pPr algn="l">
              <a:defRPr sz="1350" b="0">
                <a:solidFill>
                  <a:srgbClr val="5C6B7A"/>
                </a:solidFill>
              </a:defRPr>
            </a:lvl9pPr>
          </a:lstStyle>
          <a:p xmlns:a="http://schemas.openxmlformats.org/drawingml/2006/main">
            <a:pPr algn="l">
              <a:defRPr sz="1350" b="0">
                <a:solidFill>
                  <a:srgbClr val="5C6B7A"/>
                </a:solidFill>
              </a:defRPr>
            </a:pPr>
            <a:r>
              <a:rPr sz="1350" b="0">
                <a:solidFill>
                  <a:srgbClr val="5C6B7A"/>
                </a:solidFill>
              </a:rPr>
              <a:t>Computer Communications 252 (2026), 108523  ·  DOI 10.1016/j.comcom.2026.108523</a:t>
            </a:r>
          </a:p>
        </p:txBody>
      </p:sp>
    </p:spTree>
    <p:extLst>
      <p:ext uri="{BB962C8B-B14F-4D97-AF65-F5344CB8AC3E}">
        <p14:creationId xmlns:p14="http://schemas.microsoft.com/office/powerpoint/2010/main" val="1471776716"/>
      </p:ext>
    </p:extLst>
  </p:cSld>
</p:sld>
</file>

<file path=ppt/slides/slide12.xml><?xml version="1.0" encoding="utf-8"?>
<p:sld xmlns:p="http://schemas.openxmlformats.org/presentationml/2006/main">
  <p:cSld>
    <p:bg>
      <p:bgPr>
        <a:solidFill xmlns:a="http://schemas.openxmlformats.org/drawingml/2006/main">
          <a:srgbClr val="F5F8FB"/>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174525F1-2D62-4954-873B-3AD26CF0E88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F9D8A"/>
          </a:solidFill>
          <a:ln xmlns:a="http://schemas.openxmlformats.org/drawingml/2006/main" w="9525">
            <a:solidFill>
              <a:srgbClr val="0F9D8A"/>
            </a:solidFill>
            <a:prstDash val="solid"/>
          </a:ln>
        </p:spPr>
      </p:sp>
      <p:sp>
        <p:nvSpPr>
          <p:cNvPr id="2" name="">
            <a:extLst xmlns:a="http://schemas.openxmlformats.org/drawingml/2006/main">
              <a:ext uri="{FF2B5EF4-FFF2-40B4-BE49-F238E27FC236}">
                <a16:creationId xmlns:a16="http://schemas.microsoft.com/office/drawing/2014/main" id="{ABAC71E7-DEE0-4F51-9787-DCA87281A846}"/>
              </a:ext>
            </a:extLst>
          </p:cNvPr>
          <p:cNvSpPr>
            <a:spLocks xmlns:a="http://schemas.openxmlformats.org/drawingml/2006/main" noGrp="1"/>
          </p:cNvSpPr>
          <p:nvPr/>
        </p:nvSpPr>
        <p:spPr>
          <a:xfrm xmlns:a="http://schemas.openxmlformats.org/drawingml/2006/main">
            <a:off x="685800" y="381000"/>
            <a:ext cx="1082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3300" b="1">
                <a:solidFill>
                  <a:srgbClr val="17324D"/>
                </a:solidFill>
              </a:defRPr>
            </a:defPPr>
            <a:lvl1pPr algn="l">
              <a:defRPr sz="3300" b="1">
                <a:solidFill>
                  <a:srgbClr val="17324D"/>
                </a:solidFill>
              </a:defRPr>
            </a:lvl1pPr>
            <a:lvl2pPr algn="l">
              <a:defRPr sz="3300" b="1">
                <a:solidFill>
                  <a:srgbClr val="17324D"/>
                </a:solidFill>
              </a:defRPr>
            </a:lvl2pPr>
            <a:lvl3pPr algn="l">
              <a:defRPr sz="3300" b="1">
                <a:solidFill>
                  <a:srgbClr val="17324D"/>
                </a:solidFill>
              </a:defRPr>
            </a:lvl3pPr>
            <a:lvl4pPr algn="l">
              <a:defRPr sz="3300" b="1">
                <a:solidFill>
                  <a:srgbClr val="17324D"/>
                </a:solidFill>
              </a:defRPr>
            </a:lvl4pPr>
            <a:lvl5pPr algn="l">
              <a:defRPr sz="3300" b="1">
                <a:solidFill>
                  <a:srgbClr val="17324D"/>
                </a:solidFill>
              </a:defRPr>
            </a:lvl5pPr>
            <a:lvl6pPr algn="l">
              <a:defRPr sz="3300" b="1">
                <a:solidFill>
                  <a:srgbClr val="17324D"/>
                </a:solidFill>
              </a:defRPr>
            </a:lvl6pPr>
            <a:lvl7pPr algn="l">
              <a:defRPr sz="3300" b="1">
                <a:solidFill>
                  <a:srgbClr val="17324D"/>
                </a:solidFill>
              </a:defRPr>
            </a:lvl7pPr>
            <a:lvl8pPr algn="l">
              <a:defRPr sz="3300" b="1">
                <a:solidFill>
                  <a:srgbClr val="17324D"/>
                </a:solidFill>
              </a:defRPr>
            </a:lvl8pPr>
            <a:lvl9pPr algn="l">
              <a:defRPr sz="3300" b="1">
                <a:solidFill>
                  <a:srgbClr val="17324D"/>
                </a:solidFill>
              </a:defRPr>
            </a:lvl9pPr>
          </a:lstStyle>
          <a:p xmlns:a="http://schemas.openxmlformats.org/drawingml/2006/main">
            <a:pPr algn="l">
              <a:defRPr sz="3300" b="1">
                <a:solidFill>
                  <a:srgbClr val="17324D"/>
                </a:solidFill>
              </a:defRPr>
            </a:pPr>
            <a:r>
              <a:rPr sz="3300" b="1">
                <a:solidFill>
                  <a:srgbClr val="17324D"/>
                </a:solidFill>
              </a:rPr>
              <a:t>Faculty references 2</a:t>
            </a:r>
          </a:p>
        </p:txBody>
      </p:sp>
      <p:sp>
        <p:nvSpPr>
          <p:cNvPr id="3" name="">
            <a:extLst xmlns:a="http://schemas.openxmlformats.org/drawingml/2006/main">
              <a:ext uri="{FF2B5EF4-FFF2-40B4-BE49-F238E27FC236}">
                <a16:creationId xmlns:a16="http://schemas.microsoft.com/office/drawing/2014/main" id="{79AF8E51-3FC5-45A6-A19F-C74752449A62}"/>
              </a:ext>
            </a:extLst>
          </p:cNvPr>
          <p:cNvSpPr>
            <a:spLocks xmlns:a="http://schemas.openxmlformats.org/drawingml/2006/main" noGrp="1"/>
          </p:cNvSpPr>
          <p:nvPr/>
        </p:nvSpPr>
        <p:spPr>
          <a:xfrm xmlns:a="http://schemas.openxmlformats.org/drawingml/2006/main">
            <a:off x="704850" y="100965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5C6B7A"/>
                </a:solidFill>
              </a:defRPr>
            </a:defPPr>
            <a:lvl1pPr algn="l">
              <a:defRPr sz="1575" b="0">
                <a:solidFill>
                  <a:srgbClr val="5C6B7A"/>
                </a:solidFill>
              </a:defRPr>
            </a:lvl1pPr>
            <a:lvl2pPr algn="l">
              <a:defRPr sz="1575" b="0">
                <a:solidFill>
                  <a:srgbClr val="5C6B7A"/>
                </a:solidFill>
              </a:defRPr>
            </a:lvl2pPr>
            <a:lvl3pPr algn="l">
              <a:defRPr sz="1575" b="0">
                <a:solidFill>
                  <a:srgbClr val="5C6B7A"/>
                </a:solidFill>
              </a:defRPr>
            </a:lvl3pPr>
            <a:lvl4pPr algn="l">
              <a:defRPr sz="1575" b="0">
                <a:solidFill>
                  <a:srgbClr val="5C6B7A"/>
                </a:solidFill>
              </a:defRPr>
            </a:lvl4pPr>
            <a:lvl5pPr algn="l">
              <a:defRPr sz="1575" b="0">
                <a:solidFill>
                  <a:srgbClr val="5C6B7A"/>
                </a:solidFill>
              </a:defRPr>
            </a:lvl5pPr>
            <a:lvl6pPr algn="l">
              <a:defRPr sz="1575" b="0">
                <a:solidFill>
                  <a:srgbClr val="5C6B7A"/>
                </a:solidFill>
              </a:defRPr>
            </a:lvl6pPr>
            <a:lvl7pPr algn="l">
              <a:defRPr sz="1575" b="0">
                <a:solidFill>
                  <a:srgbClr val="5C6B7A"/>
                </a:solidFill>
              </a:defRPr>
            </a:lvl7pPr>
            <a:lvl8pPr algn="l">
              <a:defRPr sz="1575" b="0">
                <a:solidFill>
                  <a:srgbClr val="5C6B7A"/>
                </a:solidFill>
              </a:defRPr>
            </a:lvl8pPr>
            <a:lvl9pPr algn="l">
              <a:defRPr sz="1575" b="0">
                <a:solidFill>
                  <a:srgbClr val="5C6B7A"/>
                </a:solidFill>
              </a:defRPr>
            </a:lvl9pPr>
          </a:lstStyle>
          <a:p xmlns:a="http://schemas.openxmlformats.org/drawingml/2006/main">
            <a:pPr algn="l">
              <a:defRPr sz="1575" b="0">
                <a:solidFill>
                  <a:srgbClr val="5C6B7A"/>
                </a:solidFill>
              </a:defRPr>
            </a:pPr>
            <a:r>
              <a:rPr sz="1575" b="0">
                <a:solidFill>
                  <a:srgbClr val="5C6B7A"/>
                </a:solidFill>
              </a:rPr>
              <a:t>Publication details and DOI links are in the project report</a:t>
            </a:r>
          </a:p>
        </p:txBody>
      </p:sp>
      <p:sp>
        <p:nvSpPr>
          <p:cNvPr id="4" name="">
            <a:extLst xmlns:a="http://schemas.openxmlformats.org/drawingml/2006/main">
              <a:ext uri="{FF2B5EF4-FFF2-40B4-BE49-F238E27FC236}">
                <a16:creationId xmlns:a16="http://schemas.microsoft.com/office/drawing/2014/main" id="{F15CD99D-85CE-458E-9E8E-42C6988AEF22}"/>
              </a:ext>
            </a:extLst>
          </p:cNvPr>
          <p:cNvSpPr>
            <a:spLocks xmlns:a="http://schemas.openxmlformats.org/drawingml/2006/main" noGrp="1"/>
          </p:cNvSpPr>
          <p:nvPr/>
        </p:nvSpPr>
        <p:spPr>
          <a:xfrm xmlns:a="http://schemas.openxmlformats.org/drawingml/2006/main">
            <a:off x="762000" y="16002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324D"/>
                </a:solidFill>
              </a:defRPr>
            </a:defPPr>
            <a:lvl1pPr algn="l">
              <a:defRPr sz="1650" b="1">
                <a:solidFill>
                  <a:srgbClr val="17324D"/>
                </a:solidFill>
              </a:defRPr>
            </a:lvl1pPr>
            <a:lvl2pPr algn="l">
              <a:defRPr sz="1650" b="1">
                <a:solidFill>
                  <a:srgbClr val="17324D"/>
                </a:solidFill>
              </a:defRPr>
            </a:lvl2pPr>
            <a:lvl3pPr algn="l">
              <a:defRPr sz="1650" b="1">
                <a:solidFill>
                  <a:srgbClr val="17324D"/>
                </a:solidFill>
              </a:defRPr>
            </a:lvl3pPr>
            <a:lvl4pPr algn="l">
              <a:defRPr sz="1650" b="1">
                <a:solidFill>
                  <a:srgbClr val="17324D"/>
                </a:solidFill>
              </a:defRPr>
            </a:lvl4pPr>
            <a:lvl5pPr algn="l">
              <a:defRPr sz="1650" b="1">
                <a:solidFill>
                  <a:srgbClr val="17324D"/>
                </a:solidFill>
              </a:defRPr>
            </a:lvl5pPr>
            <a:lvl6pPr algn="l">
              <a:defRPr sz="1650" b="1">
                <a:solidFill>
                  <a:srgbClr val="17324D"/>
                </a:solidFill>
              </a:defRPr>
            </a:lvl6pPr>
            <a:lvl7pPr algn="l">
              <a:defRPr sz="1650" b="1">
                <a:solidFill>
                  <a:srgbClr val="17324D"/>
                </a:solidFill>
              </a:defRPr>
            </a:lvl7pPr>
            <a:lvl8pPr algn="l">
              <a:defRPr sz="1650" b="1">
                <a:solidFill>
                  <a:srgbClr val="17324D"/>
                </a:solidFill>
              </a:defRPr>
            </a:lvl8pPr>
            <a:lvl9pPr algn="l">
              <a:defRPr sz="1650" b="1">
                <a:solidFill>
                  <a:srgbClr val="17324D"/>
                </a:solidFill>
              </a:defRPr>
            </a:lvl9pPr>
          </a:lstStyle>
          <a:p xmlns:a="http://schemas.openxmlformats.org/drawingml/2006/main">
            <a:pPr algn="l">
              <a:defRPr sz="1650" b="1">
                <a:solidFill>
                  <a:srgbClr val="17324D"/>
                </a:solidFill>
              </a:defRPr>
            </a:pPr>
            <a:r>
              <a:rPr sz="1650" b="1">
                <a:solidFill>
                  <a:srgbClr val="17324D"/>
                </a:solidFill>
              </a:rPr>
              <a:t>6. QUIC Wave: application-level bursts</a:t>
            </a:r>
          </a:p>
        </p:txBody>
      </p:sp>
      <p:sp>
        <p:nvSpPr>
          <p:cNvPr id="5" name="">
            <a:extLst xmlns:a="http://schemas.openxmlformats.org/drawingml/2006/main">
              <a:ext uri="{FF2B5EF4-FFF2-40B4-BE49-F238E27FC236}">
                <a16:creationId xmlns:a16="http://schemas.microsoft.com/office/drawing/2014/main" id="{6F36EED0-44D3-423E-A3B0-B4CBDE2B559D}"/>
              </a:ext>
            </a:extLst>
          </p:cNvPr>
          <p:cNvSpPr>
            <a:spLocks xmlns:a="http://schemas.openxmlformats.org/drawingml/2006/main" noGrp="1"/>
          </p:cNvSpPr>
          <p:nvPr/>
        </p:nvSpPr>
        <p:spPr>
          <a:xfrm xmlns:a="http://schemas.openxmlformats.org/drawingml/2006/main">
            <a:off x="1066800" y="1943100"/>
            <a:ext cx="1026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C6B7A"/>
                </a:solidFill>
              </a:defRPr>
            </a:defPPr>
            <a:lvl1pPr algn="l">
              <a:defRPr sz="1350" b="0">
                <a:solidFill>
                  <a:srgbClr val="5C6B7A"/>
                </a:solidFill>
              </a:defRPr>
            </a:lvl1pPr>
            <a:lvl2pPr algn="l">
              <a:defRPr sz="1350" b="0">
                <a:solidFill>
                  <a:srgbClr val="5C6B7A"/>
                </a:solidFill>
              </a:defRPr>
            </a:lvl2pPr>
            <a:lvl3pPr algn="l">
              <a:defRPr sz="1350" b="0">
                <a:solidFill>
                  <a:srgbClr val="5C6B7A"/>
                </a:solidFill>
              </a:defRPr>
            </a:lvl3pPr>
            <a:lvl4pPr algn="l">
              <a:defRPr sz="1350" b="0">
                <a:solidFill>
                  <a:srgbClr val="5C6B7A"/>
                </a:solidFill>
              </a:defRPr>
            </a:lvl4pPr>
            <a:lvl5pPr algn="l">
              <a:defRPr sz="1350" b="0">
                <a:solidFill>
                  <a:srgbClr val="5C6B7A"/>
                </a:solidFill>
              </a:defRPr>
            </a:lvl5pPr>
            <a:lvl6pPr algn="l">
              <a:defRPr sz="1350" b="0">
                <a:solidFill>
                  <a:srgbClr val="5C6B7A"/>
                </a:solidFill>
              </a:defRPr>
            </a:lvl6pPr>
            <a:lvl7pPr algn="l">
              <a:defRPr sz="1350" b="0">
                <a:solidFill>
                  <a:srgbClr val="5C6B7A"/>
                </a:solidFill>
              </a:defRPr>
            </a:lvl7pPr>
            <a:lvl8pPr algn="l">
              <a:defRPr sz="1350" b="0">
                <a:solidFill>
                  <a:srgbClr val="5C6B7A"/>
                </a:solidFill>
              </a:defRPr>
            </a:lvl8pPr>
            <a:lvl9pPr algn="l">
              <a:defRPr sz="1350" b="0">
                <a:solidFill>
                  <a:srgbClr val="5C6B7A"/>
                </a:solidFill>
              </a:defRPr>
            </a:lvl9pPr>
          </a:lstStyle>
          <a:p xmlns:a="http://schemas.openxmlformats.org/drawingml/2006/main">
            <a:pPr algn="l">
              <a:defRPr sz="1350" b="0">
                <a:solidFill>
                  <a:srgbClr val="5C6B7A"/>
                </a:solidFill>
              </a:defRPr>
            </a:pPr>
            <a:r>
              <a:rPr sz="1350" b="0">
                <a:solidFill>
                  <a:srgbClr val="5C6B7A"/>
                </a:solidFill>
              </a:rPr>
              <a:t>Computer Networks 281 (2026), 112185  ·  DOI 10.1016/j.comnet.2026.112185</a:t>
            </a:r>
          </a:p>
        </p:txBody>
      </p:sp>
      <p:sp>
        <p:nvSpPr>
          <p:cNvPr id="6" name="">
            <a:extLst xmlns:a="http://schemas.openxmlformats.org/drawingml/2006/main">
              <a:ext uri="{FF2B5EF4-FFF2-40B4-BE49-F238E27FC236}">
                <a16:creationId xmlns:a16="http://schemas.microsoft.com/office/drawing/2014/main" id="{5C816163-7D3A-47F7-ABE7-ED5AF52B3B75}"/>
              </a:ext>
            </a:extLst>
          </p:cNvPr>
          <p:cNvSpPr>
            <a:spLocks xmlns:a="http://schemas.openxmlformats.org/drawingml/2006/main" noGrp="1"/>
          </p:cNvSpPr>
          <p:nvPr/>
        </p:nvSpPr>
        <p:spPr>
          <a:xfrm xmlns:a="http://schemas.openxmlformats.org/drawingml/2006/main">
            <a:off x="762000" y="246697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324D"/>
                </a:solidFill>
              </a:defRPr>
            </a:defPPr>
            <a:lvl1pPr algn="l">
              <a:defRPr sz="1650" b="1">
                <a:solidFill>
                  <a:srgbClr val="17324D"/>
                </a:solidFill>
              </a:defRPr>
            </a:lvl1pPr>
            <a:lvl2pPr algn="l">
              <a:defRPr sz="1650" b="1">
                <a:solidFill>
                  <a:srgbClr val="17324D"/>
                </a:solidFill>
              </a:defRPr>
            </a:lvl2pPr>
            <a:lvl3pPr algn="l">
              <a:defRPr sz="1650" b="1">
                <a:solidFill>
                  <a:srgbClr val="17324D"/>
                </a:solidFill>
              </a:defRPr>
            </a:lvl3pPr>
            <a:lvl4pPr algn="l">
              <a:defRPr sz="1650" b="1">
                <a:solidFill>
                  <a:srgbClr val="17324D"/>
                </a:solidFill>
              </a:defRPr>
            </a:lvl4pPr>
            <a:lvl5pPr algn="l">
              <a:defRPr sz="1650" b="1">
                <a:solidFill>
                  <a:srgbClr val="17324D"/>
                </a:solidFill>
              </a:defRPr>
            </a:lvl5pPr>
            <a:lvl6pPr algn="l">
              <a:defRPr sz="1650" b="1">
                <a:solidFill>
                  <a:srgbClr val="17324D"/>
                </a:solidFill>
              </a:defRPr>
            </a:lvl6pPr>
            <a:lvl7pPr algn="l">
              <a:defRPr sz="1650" b="1">
                <a:solidFill>
                  <a:srgbClr val="17324D"/>
                </a:solidFill>
              </a:defRPr>
            </a:lvl7pPr>
            <a:lvl8pPr algn="l">
              <a:defRPr sz="1650" b="1">
                <a:solidFill>
                  <a:srgbClr val="17324D"/>
                </a:solidFill>
              </a:defRPr>
            </a:lvl8pPr>
            <a:lvl9pPr algn="l">
              <a:defRPr sz="1650" b="1">
                <a:solidFill>
                  <a:srgbClr val="17324D"/>
                </a:solidFill>
              </a:defRPr>
            </a:lvl9pPr>
          </a:lstStyle>
          <a:p xmlns:a="http://schemas.openxmlformats.org/drawingml/2006/main">
            <a:pPr algn="l">
              <a:defRPr sz="1650" b="1">
                <a:solidFill>
                  <a:srgbClr val="17324D"/>
                </a:solidFill>
              </a:defRPr>
            </a:pPr>
            <a:r>
              <a:rPr sz="1650" b="1">
                <a:solidFill>
                  <a:srgbClr val="17324D"/>
                </a:solidFill>
              </a:rPr>
              <a:t>7. LCA: DRL congestion-avoidance routing in SDN</a:t>
            </a:r>
          </a:p>
        </p:txBody>
      </p:sp>
      <p:sp>
        <p:nvSpPr>
          <p:cNvPr id="7" name="">
            <a:extLst xmlns:a="http://schemas.openxmlformats.org/drawingml/2006/main">
              <a:ext uri="{FF2B5EF4-FFF2-40B4-BE49-F238E27FC236}">
                <a16:creationId xmlns:a16="http://schemas.microsoft.com/office/drawing/2014/main" id="{386D6580-855C-4233-A0CB-AAE6BECC9744}"/>
              </a:ext>
            </a:extLst>
          </p:cNvPr>
          <p:cNvSpPr>
            <a:spLocks xmlns:a="http://schemas.openxmlformats.org/drawingml/2006/main" noGrp="1"/>
          </p:cNvSpPr>
          <p:nvPr/>
        </p:nvSpPr>
        <p:spPr>
          <a:xfrm xmlns:a="http://schemas.openxmlformats.org/drawingml/2006/main">
            <a:off x="1066800" y="2809875"/>
            <a:ext cx="1026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C6B7A"/>
                </a:solidFill>
              </a:defRPr>
            </a:defPPr>
            <a:lvl1pPr algn="l">
              <a:defRPr sz="1350" b="0">
                <a:solidFill>
                  <a:srgbClr val="5C6B7A"/>
                </a:solidFill>
              </a:defRPr>
            </a:lvl1pPr>
            <a:lvl2pPr algn="l">
              <a:defRPr sz="1350" b="0">
                <a:solidFill>
                  <a:srgbClr val="5C6B7A"/>
                </a:solidFill>
              </a:defRPr>
            </a:lvl2pPr>
            <a:lvl3pPr algn="l">
              <a:defRPr sz="1350" b="0">
                <a:solidFill>
                  <a:srgbClr val="5C6B7A"/>
                </a:solidFill>
              </a:defRPr>
            </a:lvl3pPr>
            <a:lvl4pPr algn="l">
              <a:defRPr sz="1350" b="0">
                <a:solidFill>
                  <a:srgbClr val="5C6B7A"/>
                </a:solidFill>
              </a:defRPr>
            </a:lvl4pPr>
            <a:lvl5pPr algn="l">
              <a:defRPr sz="1350" b="0">
                <a:solidFill>
                  <a:srgbClr val="5C6B7A"/>
                </a:solidFill>
              </a:defRPr>
            </a:lvl5pPr>
            <a:lvl6pPr algn="l">
              <a:defRPr sz="1350" b="0">
                <a:solidFill>
                  <a:srgbClr val="5C6B7A"/>
                </a:solidFill>
              </a:defRPr>
            </a:lvl6pPr>
            <a:lvl7pPr algn="l">
              <a:defRPr sz="1350" b="0">
                <a:solidFill>
                  <a:srgbClr val="5C6B7A"/>
                </a:solidFill>
              </a:defRPr>
            </a:lvl7pPr>
            <a:lvl8pPr algn="l">
              <a:defRPr sz="1350" b="0">
                <a:solidFill>
                  <a:srgbClr val="5C6B7A"/>
                </a:solidFill>
              </a:defRPr>
            </a:lvl8pPr>
            <a:lvl9pPr algn="l">
              <a:defRPr sz="1350" b="0">
                <a:solidFill>
                  <a:srgbClr val="5C6B7A"/>
                </a:solidFill>
              </a:defRPr>
            </a:lvl9pPr>
          </a:lstStyle>
          <a:p xmlns:a="http://schemas.openxmlformats.org/drawingml/2006/main">
            <a:pPr algn="l">
              <a:defRPr sz="1350" b="0">
                <a:solidFill>
                  <a:srgbClr val="5C6B7A"/>
                </a:solidFill>
              </a:defRPr>
            </a:pPr>
            <a:r>
              <a:rPr sz="1350" b="0">
                <a:solidFill>
                  <a:srgbClr val="5C6B7A"/>
                </a:solidFill>
              </a:rPr>
              <a:t>Computer Networks 268 (2025), 111371  ·  DOI 10.1016/j.comnet.2025.111371</a:t>
            </a:r>
          </a:p>
        </p:txBody>
      </p:sp>
      <p:sp>
        <p:nvSpPr>
          <p:cNvPr id="8" name="">
            <a:extLst xmlns:a="http://schemas.openxmlformats.org/drawingml/2006/main">
              <a:ext uri="{FF2B5EF4-FFF2-40B4-BE49-F238E27FC236}">
                <a16:creationId xmlns:a16="http://schemas.microsoft.com/office/drawing/2014/main" id="{78196EA3-3D92-45FF-BE62-FD09639E8576}"/>
              </a:ext>
            </a:extLst>
          </p:cNvPr>
          <p:cNvSpPr>
            <a:spLocks xmlns:a="http://schemas.openxmlformats.org/drawingml/2006/main" noGrp="1"/>
          </p:cNvSpPr>
          <p:nvPr/>
        </p:nvSpPr>
        <p:spPr>
          <a:xfrm xmlns:a="http://schemas.openxmlformats.org/drawingml/2006/main">
            <a:off x="762000" y="333375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324D"/>
                </a:solidFill>
              </a:defRPr>
            </a:defPPr>
            <a:lvl1pPr algn="l">
              <a:defRPr sz="1650" b="1">
                <a:solidFill>
                  <a:srgbClr val="17324D"/>
                </a:solidFill>
              </a:defRPr>
            </a:lvl1pPr>
            <a:lvl2pPr algn="l">
              <a:defRPr sz="1650" b="1">
                <a:solidFill>
                  <a:srgbClr val="17324D"/>
                </a:solidFill>
              </a:defRPr>
            </a:lvl2pPr>
            <a:lvl3pPr algn="l">
              <a:defRPr sz="1650" b="1">
                <a:solidFill>
                  <a:srgbClr val="17324D"/>
                </a:solidFill>
              </a:defRPr>
            </a:lvl3pPr>
            <a:lvl4pPr algn="l">
              <a:defRPr sz="1650" b="1">
                <a:solidFill>
                  <a:srgbClr val="17324D"/>
                </a:solidFill>
              </a:defRPr>
            </a:lvl4pPr>
            <a:lvl5pPr algn="l">
              <a:defRPr sz="1650" b="1">
                <a:solidFill>
                  <a:srgbClr val="17324D"/>
                </a:solidFill>
              </a:defRPr>
            </a:lvl5pPr>
            <a:lvl6pPr algn="l">
              <a:defRPr sz="1650" b="1">
                <a:solidFill>
                  <a:srgbClr val="17324D"/>
                </a:solidFill>
              </a:defRPr>
            </a:lvl6pPr>
            <a:lvl7pPr algn="l">
              <a:defRPr sz="1650" b="1">
                <a:solidFill>
                  <a:srgbClr val="17324D"/>
                </a:solidFill>
              </a:defRPr>
            </a:lvl7pPr>
            <a:lvl8pPr algn="l">
              <a:defRPr sz="1650" b="1">
                <a:solidFill>
                  <a:srgbClr val="17324D"/>
                </a:solidFill>
              </a:defRPr>
            </a:lvl8pPr>
            <a:lvl9pPr algn="l">
              <a:defRPr sz="1650" b="1">
                <a:solidFill>
                  <a:srgbClr val="17324D"/>
                </a:solidFill>
              </a:defRPr>
            </a:lvl9pPr>
          </a:lstStyle>
          <a:p xmlns:a="http://schemas.openxmlformats.org/drawingml/2006/main">
            <a:pPr algn="l">
              <a:defRPr sz="1650" b="1">
                <a:solidFill>
                  <a:srgbClr val="17324D"/>
                </a:solidFill>
              </a:defRPr>
            </a:pPr>
            <a:r>
              <a:rPr sz="1650" b="1">
                <a:solidFill>
                  <a:srgbClr val="17324D"/>
                </a:solidFill>
              </a:rPr>
              <a:t>8. MTEAL: multidimensional QoS traffic engineering</a:t>
            </a:r>
          </a:p>
        </p:txBody>
      </p:sp>
      <p:sp>
        <p:nvSpPr>
          <p:cNvPr id="9" name="">
            <a:extLst xmlns:a="http://schemas.openxmlformats.org/drawingml/2006/main">
              <a:ext uri="{FF2B5EF4-FFF2-40B4-BE49-F238E27FC236}">
                <a16:creationId xmlns:a16="http://schemas.microsoft.com/office/drawing/2014/main" id="{F71DF2ED-91B0-47AE-9AA8-4F782E370E85}"/>
              </a:ext>
            </a:extLst>
          </p:cNvPr>
          <p:cNvSpPr>
            <a:spLocks xmlns:a="http://schemas.openxmlformats.org/drawingml/2006/main" noGrp="1"/>
          </p:cNvSpPr>
          <p:nvPr/>
        </p:nvSpPr>
        <p:spPr>
          <a:xfrm xmlns:a="http://schemas.openxmlformats.org/drawingml/2006/main">
            <a:off x="1066800" y="3676650"/>
            <a:ext cx="1026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C6B7A"/>
                </a:solidFill>
              </a:defRPr>
            </a:defPPr>
            <a:lvl1pPr algn="l">
              <a:defRPr sz="1350" b="0">
                <a:solidFill>
                  <a:srgbClr val="5C6B7A"/>
                </a:solidFill>
              </a:defRPr>
            </a:lvl1pPr>
            <a:lvl2pPr algn="l">
              <a:defRPr sz="1350" b="0">
                <a:solidFill>
                  <a:srgbClr val="5C6B7A"/>
                </a:solidFill>
              </a:defRPr>
            </a:lvl2pPr>
            <a:lvl3pPr algn="l">
              <a:defRPr sz="1350" b="0">
                <a:solidFill>
                  <a:srgbClr val="5C6B7A"/>
                </a:solidFill>
              </a:defRPr>
            </a:lvl3pPr>
            <a:lvl4pPr algn="l">
              <a:defRPr sz="1350" b="0">
                <a:solidFill>
                  <a:srgbClr val="5C6B7A"/>
                </a:solidFill>
              </a:defRPr>
            </a:lvl4pPr>
            <a:lvl5pPr algn="l">
              <a:defRPr sz="1350" b="0">
                <a:solidFill>
                  <a:srgbClr val="5C6B7A"/>
                </a:solidFill>
              </a:defRPr>
            </a:lvl5pPr>
            <a:lvl6pPr algn="l">
              <a:defRPr sz="1350" b="0">
                <a:solidFill>
                  <a:srgbClr val="5C6B7A"/>
                </a:solidFill>
              </a:defRPr>
            </a:lvl6pPr>
            <a:lvl7pPr algn="l">
              <a:defRPr sz="1350" b="0">
                <a:solidFill>
                  <a:srgbClr val="5C6B7A"/>
                </a:solidFill>
              </a:defRPr>
            </a:lvl7pPr>
            <a:lvl8pPr algn="l">
              <a:defRPr sz="1350" b="0">
                <a:solidFill>
                  <a:srgbClr val="5C6B7A"/>
                </a:solidFill>
              </a:defRPr>
            </a:lvl8pPr>
            <a:lvl9pPr algn="l">
              <a:defRPr sz="1350" b="0">
                <a:solidFill>
                  <a:srgbClr val="5C6B7A"/>
                </a:solidFill>
              </a:defRPr>
            </a:lvl9pPr>
          </a:lstStyle>
          <a:p xmlns:a="http://schemas.openxmlformats.org/drawingml/2006/main">
            <a:pPr algn="l">
              <a:defRPr sz="1350" b="0">
                <a:solidFill>
                  <a:srgbClr val="5C6B7A"/>
                </a:solidFill>
              </a:defRPr>
            </a:pPr>
            <a:r>
              <a:rPr sz="1350" b="0">
                <a:solidFill>
                  <a:srgbClr val="5C6B7A"/>
                </a:solidFill>
              </a:rPr>
              <a:t>Journal of Network and Computer Applications 242 (2025), 104272  ·  DOI 10.1016/j.jnca.2025.104272</a:t>
            </a:r>
          </a:p>
        </p:txBody>
      </p:sp>
      <p:sp>
        <p:nvSpPr>
          <p:cNvPr id="10" name="">
            <a:extLst xmlns:a="http://schemas.openxmlformats.org/drawingml/2006/main">
              <a:ext uri="{FF2B5EF4-FFF2-40B4-BE49-F238E27FC236}">
                <a16:creationId xmlns:a16="http://schemas.microsoft.com/office/drawing/2014/main" id="{E029264B-9D8F-44F0-A306-875C5BD4A071}"/>
              </a:ext>
            </a:extLst>
          </p:cNvPr>
          <p:cNvSpPr>
            <a:spLocks xmlns:a="http://schemas.openxmlformats.org/drawingml/2006/main" noGrp="1"/>
          </p:cNvSpPr>
          <p:nvPr/>
        </p:nvSpPr>
        <p:spPr>
          <a:xfrm xmlns:a="http://schemas.openxmlformats.org/drawingml/2006/main">
            <a:off x="762000" y="42005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324D"/>
                </a:solidFill>
              </a:defRPr>
            </a:defPPr>
            <a:lvl1pPr algn="l">
              <a:defRPr sz="1650" b="1">
                <a:solidFill>
                  <a:srgbClr val="17324D"/>
                </a:solidFill>
              </a:defRPr>
            </a:lvl1pPr>
            <a:lvl2pPr algn="l">
              <a:defRPr sz="1650" b="1">
                <a:solidFill>
                  <a:srgbClr val="17324D"/>
                </a:solidFill>
              </a:defRPr>
            </a:lvl2pPr>
            <a:lvl3pPr algn="l">
              <a:defRPr sz="1650" b="1">
                <a:solidFill>
                  <a:srgbClr val="17324D"/>
                </a:solidFill>
              </a:defRPr>
            </a:lvl3pPr>
            <a:lvl4pPr algn="l">
              <a:defRPr sz="1650" b="1">
                <a:solidFill>
                  <a:srgbClr val="17324D"/>
                </a:solidFill>
              </a:defRPr>
            </a:lvl4pPr>
            <a:lvl5pPr algn="l">
              <a:defRPr sz="1650" b="1">
                <a:solidFill>
                  <a:srgbClr val="17324D"/>
                </a:solidFill>
              </a:defRPr>
            </a:lvl5pPr>
            <a:lvl6pPr algn="l">
              <a:defRPr sz="1650" b="1">
                <a:solidFill>
                  <a:srgbClr val="17324D"/>
                </a:solidFill>
              </a:defRPr>
            </a:lvl6pPr>
            <a:lvl7pPr algn="l">
              <a:defRPr sz="1650" b="1">
                <a:solidFill>
                  <a:srgbClr val="17324D"/>
                </a:solidFill>
              </a:defRPr>
            </a:lvl7pPr>
            <a:lvl8pPr algn="l">
              <a:defRPr sz="1650" b="1">
                <a:solidFill>
                  <a:srgbClr val="17324D"/>
                </a:solidFill>
              </a:defRPr>
            </a:lvl8pPr>
            <a:lvl9pPr algn="l">
              <a:defRPr sz="1650" b="1">
                <a:solidFill>
                  <a:srgbClr val="17324D"/>
                </a:solidFill>
              </a:defRPr>
            </a:lvl9pPr>
          </a:lstStyle>
          <a:p xmlns:a="http://schemas.openxmlformats.org/drawingml/2006/main">
            <a:pPr algn="l">
              <a:defRPr sz="1650" b="1">
                <a:solidFill>
                  <a:srgbClr val="17324D"/>
                </a:solidFill>
              </a:defRPr>
            </a:pPr>
            <a:r>
              <a:rPr sz="1650" b="1">
                <a:solidFill>
                  <a:srgbClr val="17324D"/>
                </a:solidFill>
              </a:rPr>
              <a:t>9. Traffic prediction and mitigation in 6G SDN with PPO</a:t>
            </a:r>
          </a:p>
        </p:txBody>
      </p:sp>
      <p:sp>
        <p:nvSpPr>
          <p:cNvPr id="11" name="">
            <a:extLst xmlns:a="http://schemas.openxmlformats.org/drawingml/2006/main">
              <a:ext uri="{FF2B5EF4-FFF2-40B4-BE49-F238E27FC236}">
                <a16:creationId xmlns:a16="http://schemas.microsoft.com/office/drawing/2014/main" id="{C9015E3E-6709-4C04-AE4E-4B4F7BE9F4E9}"/>
              </a:ext>
            </a:extLst>
          </p:cNvPr>
          <p:cNvSpPr>
            <a:spLocks xmlns:a="http://schemas.openxmlformats.org/drawingml/2006/main" noGrp="1"/>
          </p:cNvSpPr>
          <p:nvPr/>
        </p:nvSpPr>
        <p:spPr>
          <a:xfrm xmlns:a="http://schemas.openxmlformats.org/drawingml/2006/main">
            <a:off x="1066800" y="4543425"/>
            <a:ext cx="1026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C6B7A"/>
                </a:solidFill>
              </a:defRPr>
            </a:defPPr>
            <a:lvl1pPr algn="l">
              <a:defRPr sz="1350" b="0">
                <a:solidFill>
                  <a:srgbClr val="5C6B7A"/>
                </a:solidFill>
              </a:defRPr>
            </a:lvl1pPr>
            <a:lvl2pPr algn="l">
              <a:defRPr sz="1350" b="0">
                <a:solidFill>
                  <a:srgbClr val="5C6B7A"/>
                </a:solidFill>
              </a:defRPr>
            </a:lvl2pPr>
            <a:lvl3pPr algn="l">
              <a:defRPr sz="1350" b="0">
                <a:solidFill>
                  <a:srgbClr val="5C6B7A"/>
                </a:solidFill>
              </a:defRPr>
            </a:lvl3pPr>
            <a:lvl4pPr algn="l">
              <a:defRPr sz="1350" b="0">
                <a:solidFill>
                  <a:srgbClr val="5C6B7A"/>
                </a:solidFill>
              </a:defRPr>
            </a:lvl4pPr>
            <a:lvl5pPr algn="l">
              <a:defRPr sz="1350" b="0">
                <a:solidFill>
                  <a:srgbClr val="5C6B7A"/>
                </a:solidFill>
              </a:defRPr>
            </a:lvl5pPr>
            <a:lvl6pPr algn="l">
              <a:defRPr sz="1350" b="0">
                <a:solidFill>
                  <a:srgbClr val="5C6B7A"/>
                </a:solidFill>
              </a:defRPr>
            </a:lvl6pPr>
            <a:lvl7pPr algn="l">
              <a:defRPr sz="1350" b="0">
                <a:solidFill>
                  <a:srgbClr val="5C6B7A"/>
                </a:solidFill>
              </a:defRPr>
            </a:lvl7pPr>
            <a:lvl8pPr algn="l">
              <a:defRPr sz="1350" b="0">
                <a:solidFill>
                  <a:srgbClr val="5C6B7A"/>
                </a:solidFill>
              </a:defRPr>
            </a:lvl8pPr>
            <a:lvl9pPr algn="l">
              <a:defRPr sz="1350" b="0">
                <a:solidFill>
                  <a:srgbClr val="5C6B7A"/>
                </a:solidFill>
              </a:defRPr>
            </a:lvl9pPr>
          </a:lstStyle>
          <a:p xmlns:a="http://schemas.openxmlformats.org/drawingml/2006/main">
            <a:pPr algn="l">
              <a:defRPr sz="1350" b="0">
                <a:solidFill>
                  <a:srgbClr val="5C6B7A"/>
                </a:solidFill>
              </a:defRPr>
            </a:pPr>
            <a:r>
              <a:rPr sz="1350" b="0">
                <a:solidFill>
                  <a:srgbClr val="5C6B7A"/>
                </a:solidFill>
              </a:rPr>
              <a:t>Knowledge-Based Systems 328 (2025), 114243  ·  DOI 10.1016/j.knosys.2025.114243</a:t>
            </a:r>
          </a:p>
        </p:txBody>
      </p:sp>
      <p:sp>
        <p:nvSpPr>
          <p:cNvPr id="12" name="">
            <a:extLst xmlns:a="http://schemas.openxmlformats.org/drawingml/2006/main">
              <a:ext uri="{FF2B5EF4-FFF2-40B4-BE49-F238E27FC236}">
                <a16:creationId xmlns:a16="http://schemas.microsoft.com/office/drawing/2014/main" id="{48148B5D-6E80-41A4-8C10-BDCF085D3EC0}"/>
              </a:ext>
            </a:extLst>
          </p:cNvPr>
          <p:cNvSpPr>
            <a:spLocks xmlns:a="http://schemas.openxmlformats.org/drawingml/2006/main" noGrp="1"/>
          </p:cNvSpPr>
          <p:nvPr/>
        </p:nvSpPr>
        <p:spPr>
          <a:xfrm xmlns:a="http://schemas.openxmlformats.org/drawingml/2006/main">
            <a:off x="762000" y="5067300"/>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650" b="1">
                <a:solidFill>
                  <a:srgbClr val="17324D"/>
                </a:solidFill>
              </a:defRPr>
            </a:defPPr>
            <a:lvl1pPr algn="l">
              <a:defRPr sz="1650" b="1">
                <a:solidFill>
                  <a:srgbClr val="17324D"/>
                </a:solidFill>
              </a:defRPr>
            </a:lvl1pPr>
            <a:lvl2pPr algn="l">
              <a:defRPr sz="1650" b="1">
                <a:solidFill>
                  <a:srgbClr val="17324D"/>
                </a:solidFill>
              </a:defRPr>
            </a:lvl2pPr>
            <a:lvl3pPr algn="l">
              <a:defRPr sz="1650" b="1">
                <a:solidFill>
                  <a:srgbClr val="17324D"/>
                </a:solidFill>
              </a:defRPr>
            </a:lvl3pPr>
            <a:lvl4pPr algn="l">
              <a:defRPr sz="1650" b="1">
                <a:solidFill>
                  <a:srgbClr val="17324D"/>
                </a:solidFill>
              </a:defRPr>
            </a:lvl4pPr>
            <a:lvl5pPr algn="l">
              <a:defRPr sz="1650" b="1">
                <a:solidFill>
                  <a:srgbClr val="17324D"/>
                </a:solidFill>
              </a:defRPr>
            </a:lvl5pPr>
            <a:lvl6pPr algn="l">
              <a:defRPr sz="1650" b="1">
                <a:solidFill>
                  <a:srgbClr val="17324D"/>
                </a:solidFill>
              </a:defRPr>
            </a:lvl6pPr>
            <a:lvl7pPr algn="l">
              <a:defRPr sz="1650" b="1">
                <a:solidFill>
                  <a:srgbClr val="17324D"/>
                </a:solidFill>
              </a:defRPr>
            </a:lvl7pPr>
            <a:lvl8pPr algn="l">
              <a:defRPr sz="1650" b="1">
                <a:solidFill>
                  <a:srgbClr val="17324D"/>
                </a:solidFill>
              </a:defRPr>
            </a:lvl8pPr>
            <a:lvl9pPr algn="l">
              <a:defRPr sz="1650" b="1">
                <a:solidFill>
                  <a:srgbClr val="17324D"/>
                </a:solidFill>
              </a:defRPr>
            </a:lvl9pPr>
          </a:lstStyle>
          <a:p xmlns:a="http://schemas.openxmlformats.org/drawingml/2006/main">
            <a:pPr algn="l">
              <a:defRPr sz="1650" b="1">
                <a:solidFill>
                  <a:srgbClr val="17324D"/>
                </a:solidFill>
              </a:defRPr>
            </a:pPr>
            <a:r>
              <a:rPr sz="1650" b="1">
                <a:solidFill>
                  <a:srgbClr val="17324D"/>
                </a:solidFill>
              </a:rPr>
              <a:t>10. Multi-policy RL for network resource allocation</a:t>
            </a:r>
          </a:p>
        </p:txBody>
      </p:sp>
      <p:sp>
        <p:nvSpPr>
          <p:cNvPr id="13" name="">
            <a:extLst xmlns:a="http://schemas.openxmlformats.org/drawingml/2006/main">
              <a:ext uri="{FF2B5EF4-FFF2-40B4-BE49-F238E27FC236}">
                <a16:creationId xmlns:a16="http://schemas.microsoft.com/office/drawing/2014/main" id="{8BB03572-7A4D-4187-A1A0-78952EEC2B4F}"/>
              </a:ext>
            </a:extLst>
          </p:cNvPr>
          <p:cNvSpPr>
            <a:spLocks xmlns:a="http://schemas.openxmlformats.org/drawingml/2006/main" noGrp="1"/>
          </p:cNvSpPr>
          <p:nvPr/>
        </p:nvSpPr>
        <p:spPr>
          <a:xfrm xmlns:a="http://schemas.openxmlformats.org/drawingml/2006/main">
            <a:off x="1066800" y="5410200"/>
            <a:ext cx="102679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350" b="0">
                <a:solidFill>
                  <a:srgbClr val="5C6B7A"/>
                </a:solidFill>
              </a:defRPr>
            </a:defPPr>
            <a:lvl1pPr algn="l">
              <a:defRPr sz="1350" b="0">
                <a:solidFill>
                  <a:srgbClr val="5C6B7A"/>
                </a:solidFill>
              </a:defRPr>
            </a:lvl1pPr>
            <a:lvl2pPr algn="l">
              <a:defRPr sz="1350" b="0">
                <a:solidFill>
                  <a:srgbClr val="5C6B7A"/>
                </a:solidFill>
              </a:defRPr>
            </a:lvl2pPr>
            <a:lvl3pPr algn="l">
              <a:defRPr sz="1350" b="0">
                <a:solidFill>
                  <a:srgbClr val="5C6B7A"/>
                </a:solidFill>
              </a:defRPr>
            </a:lvl3pPr>
            <a:lvl4pPr algn="l">
              <a:defRPr sz="1350" b="0">
                <a:solidFill>
                  <a:srgbClr val="5C6B7A"/>
                </a:solidFill>
              </a:defRPr>
            </a:lvl4pPr>
            <a:lvl5pPr algn="l">
              <a:defRPr sz="1350" b="0">
                <a:solidFill>
                  <a:srgbClr val="5C6B7A"/>
                </a:solidFill>
              </a:defRPr>
            </a:lvl5pPr>
            <a:lvl6pPr algn="l">
              <a:defRPr sz="1350" b="0">
                <a:solidFill>
                  <a:srgbClr val="5C6B7A"/>
                </a:solidFill>
              </a:defRPr>
            </a:lvl6pPr>
            <a:lvl7pPr algn="l">
              <a:defRPr sz="1350" b="0">
                <a:solidFill>
                  <a:srgbClr val="5C6B7A"/>
                </a:solidFill>
              </a:defRPr>
            </a:lvl7pPr>
            <a:lvl8pPr algn="l">
              <a:defRPr sz="1350" b="0">
                <a:solidFill>
                  <a:srgbClr val="5C6B7A"/>
                </a:solidFill>
              </a:defRPr>
            </a:lvl8pPr>
            <a:lvl9pPr algn="l">
              <a:defRPr sz="1350" b="0">
                <a:solidFill>
                  <a:srgbClr val="5C6B7A"/>
                </a:solidFill>
              </a:defRPr>
            </a:lvl9pPr>
          </a:lstStyle>
          <a:p xmlns:a="http://schemas.openxmlformats.org/drawingml/2006/main">
            <a:pPr algn="l">
              <a:defRPr sz="1350" b="0">
                <a:solidFill>
                  <a:srgbClr val="5C6B7A"/>
                </a:solidFill>
              </a:defRPr>
            </a:pPr>
            <a:r>
              <a:rPr sz="1350" b="0">
                <a:solidFill>
                  <a:srgbClr val="5C6B7A"/>
                </a:solidFill>
              </a:rPr>
              <a:t>Computer Networks 272 (2025), 111645  ·  DOI 10.1016/j.comnet.2025.111645</a:t>
            </a:r>
          </a:p>
        </p:txBody>
      </p:sp>
    </p:spTree>
    <p:extLst>
      <p:ext uri="{BB962C8B-B14F-4D97-AF65-F5344CB8AC3E}">
        <p14:creationId xmlns:p14="http://schemas.microsoft.com/office/powerpoint/2010/main" val="17817212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2026-10-21T17:49:27.4230000Z</dcterms:created>
  <dcterms:modified xsi:type="dcterms:W3CDTF">2026-10-21T17:49:27.4230000Z</dcterms:modified>
</coreProperties>
</file>